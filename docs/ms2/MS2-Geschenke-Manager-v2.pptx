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869" autoAdjust="0"/>
  </p:normalViewPr>
  <p:slideViewPr>
    <p:cSldViewPr snapToGrid="0" snapToObjects="1">
      <p:cViewPr varScale="1">
        <p:scale>
          <a:sx n="122" d="100"/>
          <a:sy n="122" d="100"/>
        </p:scale>
        <p:origin x="175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Wir </a:t>
            </a:r>
            <a:r>
              <a:rPr dirty="0" err="1"/>
              <a:t>stellen</a:t>
            </a:r>
            <a:r>
              <a:rPr dirty="0"/>
              <a:t> </a:t>
            </a:r>
            <a:r>
              <a:rPr dirty="0" err="1"/>
              <a:t>unseren</a:t>
            </a:r>
            <a:r>
              <a:rPr dirty="0"/>
              <a:t> </a:t>
            </a:r>
            <a:r>
              <a:rPr dirty="0" err="1"/>
              <a:t>Geschenke</a:t>
            </a:r>
            <a:r>
              <a:rPr dirty="0"/>
              <a:t>-Manager </a:t>
            </a:r>
            <a:r>
              <a:rPr dirty="0" err="1"/>
              <a:t>vor</a:t>
            </a:r>
            <a:r>
              <a:rPr dirty="0"/>
              <a:t>: </a:t>
            </a:r>
            <a:r>
              <a:rPr dirty="0" err="1"/>
              <a:t>eine</a:t>
            </a:r>
            <a:r>
              <a:rPr dirty="0"/>
              <a:t> </a:t>
            </a:r>
            <a:r>
              <a:rPr dirty="0" err="1"/>
              <a:t>geplante</a:t>
            </a:r>
            <a:r>
              <a:rPr dirty="0"/>
              <a:t> </a:t>
            </a:r>
            <a:r>
              <a:rPr dirty="0" err="1"/>
              <a:t>Webanwendung</a:t>
            </a:r>
            <a:r>
              <a:rPr dirty="0"/>
              <a:t>, die </a:t>
            </a:r>
            <a:r>
              <a:rPr dirty="0" err="1"/>
              <a:t>Geschenkideen</a:t>
            </a:r>
            <a:r>
              <a:rPr dirty="0"/>
              <a:t>, </a:t>
            </a:r>
            <a:r>
              <a:rPr dirty="0" err="1"/>
              <a:t>Anlässe</a:t>
            </a:r>
            <a:r>
              <a:rPr dirty="0"/>
              <a:t> und die </a:t>
            </a:r>
            <a:r>
              <a:rPr dirty="0" err="1"/>
              <a:t>Vorbereitung</a:t>
            </a:r>
            <a:r>
              <a:rPr dirty="0"/>
              <a:t> </a:t>
            </a:r>
            <a:r>
              <a:rPr dirty="0" err="1"/>
              <a:t>zusammenbringt</a:t>
            </a:r>
            <a:r>
              <a:rPr dirty="0"/>
              <a:t>. </a:t>
            </a:r>
            <a:r>
              <a:rPr dirty="0" err="1"/>
              <a:t>Beginnen</a:t>
            </a:r>
            <a:r>
              <a:rPr dirty="0"/>
              <a:t> </a:t>
            </a:r>
            <a:r>
              <a:rPr dirty="0" err="1"/>
              <a:t>wir</a:t>
            </a:r>
            <a:r>
              <a:rPr dirty="0"/>
              <a:t> </a:t>
            </a:r>
            <a:r>
              <a:rPr dirty="0" err="1"/>
              <a:t>mit</a:t>
            </a:r>
            <a:r>
              <a:rPr dirty="0"/>
              <a:t> Mia.</a:t>
            </a:r>
          </a:p>
          <a:p>
            <a:endParaRPr dirty="0"/>
          </a:p>
          <a:p>
            <a:r>
              <a:rPr dirty="0" err="1"/>
              <a:t>Quellen</a:t>
            </a:r>
            <a:r>
              <a:rPr dirty="0"/>
              <a:t> und </a:t>
            </a:r>
            <a:r>
              <a:rPr dirty="0" err="1"/>
              <a:t>Grundlagen</a:t>
            </a:r>
            <a:r>
              <a:rPr dirty="0"/>
              <a:t> (nicht </a:t>
            </a:r>
            <a:r>
              <a:rPr dirty="0" err="1"/>
              <a:t>vorlesen</a:t>
            </a:r>
            <a:r>
              <a:rPr dirty="0"/>
              <a:t>): </a:t>
            </a:r>
            <a:r>
              <a:rPr dirty="0" err="1"/>
              <a:t>Projektkonfiguration</a:t>
            </a:r>
            <a:r>
              <a:rPr dirty="0"/>
              <a:t> MS1, </a:t>
            </a:r>
            <a:r>
              <a:rPr dirty="0" err="1"/>
              <a:t>Abschnitt</a:t>
            </a:r>
            <a:r>
              <a:rPr dirty="0"/>
              <a:t>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 ist Anfang Dezember. Weihnachten steht bevor, und zusätzlich haben Mias Bruder und eine Freundin Geburtstag. Ein Geschenk hat sie bereits besorgt. Ein anderes ist noch nicht fertig, und für ihre Freundin fehlt die passende Idee. Gleichzeitig fragt sie sich: Was hat sie ihrem Bruder eigentlich letztes Jahr geschenkt? Ihre Notizen und Links liegen verstreut. Dadurch verliert sie den Überblick über Ideen, vergangene Geschenke und offene Aufgaben. Mia ist zwar fiktiv, ihr Problem aber real. Genau hier setzt unser Geschenke-Manager an.</a:t>
            </a:r>
          </a:p>
          <a:p>
            <a:endParaRPr/>
          </a:p>
          <a:p>
            <a:r>
              <a:t>Quellen und Grundlagen (nicht vorlesen): Fiktives Nutzungsszenario auf Basis des Themenblatts, Thema E. Mia-Illustration mit ImageGen erstellt.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Die </a:t>
            </a:r>
            <a:r>
              <a:rPr dirty="0" err="1"/>
              <a:t>geplante</a:t>
            </a:r>
            <a:r>
              <a:rPr dirty="0"/>
              <a:t> </a:t>
            </a:r>
            <a:r>
              <a:rPr dirty="0" err="1"/>
              <a:t>Anwendung</a:t>
            </a:r>
            <a:r>
              <a:rPr dirty="0"/>
              <a:t> </a:t>
            </a:r>
            <a:r>
              <a:rPr dirty="0" err="1"/>
              <a:t>beruht</a:t>
            </a:r>
            <a:r>
              <a:rPr dirty="0"/>
              <a:t> auf </a:t>
            </a:r>
            <a:r>
              <a:rPr dirty="0" err="1"/>
              <a:t>drei</a:t>
            </a:r>
            <a:r>
              <a:rPr dirty="0"/>
              <a:t> </a:t>
            </a:r>
            <a:r>
              <a:rPr dirty="0" err="1"/>
              <a:t>getrennten</a:t>
            </a:r>
            <a:r>
              <a:rPr dirty="0"/>
              <a:t> </a:t>
            </a:r>
            <a:r>
              <a:rPr dirty="0" err="1"/>
              <a:t>Bereichen</a:t>
            </a:r>
            <a:r>
              <a:rPr dirty="0"/>
              <a:t>: Person, </a:t>
            </a:r>
            <a:r>
              <a:rPr dirty="0" err="1"/>
              <a:t>Anlass</a:t>
            </a:r>
            <a:r>
              <a:rPr dirty="0"/>
              <a:t> und </a:t>
            </a:r>
            <a:r>
              <a:rPr dirty="0" err="1"/>
              <a:t>Geschenk</a:t>
            </a:r>
            <a:r>
              <a:rPr dirty="0"/>
              <a:t> </a:t>
            </a:r>
            <a:r>
              <a:rPr dirty="0" err="1"/>
              <a:t>oder</a:t>
            </a:r>
            <a:r>
              <a:rPr dirty="0"/>
              <a:t> Idee. Mia </a:t>
            </a:r>
            <a:r>
              <a:rPr dirty="0" err="1"/>
              <a:t>kann</a:t>
            </a:r>
            <a:r>
              <a:rPr dirty="0"/>
              <a:t> </a:t>
            </a:r>
            <a:r>
              <a:rPr dirty="0" err="1"/>
              <a:t>eine</a:t>
            </a:r>
            <a:r>
              <a:rPr dirty="0"/>
              <a:t> Idee </a:t>
            </a:r>
            <a:r>
              <a:rPr dirty="0" err="1"/>
              <a:t>sofort</a:t>
            </a:r>
            <a:r>
              <a:rPr dirty="0"/>
              <a:t> </a:t>
            </a:r>
            <a:r>
              <a:rPr dirty="0" err="1"/>
              <a:t>als</a:t>
            </a:r>
            <a:r>
              <a:rPr dirty="0"/>
              <a:t> Text, Link </a:t>
            </a:r>
            <a:r>
              <a:rPr dirty="0" err="1"/>
              <a:t>oder</a:t>
            </a:r>
            <a:r>
              <a:rPr dirty="0"/>
              <a:t> Bild </a:t>
            </a:r>
            <a:r>
              <a:rPr dirty="0" err="1"/>
              <a:t>speichern</a:t>
            </a:r>
            <a:r>
              <a:rPr dirty="0"/>
              <a:t>, </a:t>
            </a:r>
            <a:r>
              <a:rPr dirty="0" err="1"/>
              <a:t>auch</a:t>
            </a:r>
            <a:r>
              <a:rPr dirty="0"/>
              <a:t> </a:t>
            </a:r>
            <a:r>
              <a:rPr dirty="0" err="1"/>
              <a:t>wenn</a:t>
            </a:r>
            <a:r>
              <a:rPr dirty="0"/>
              <a:t> </a:t>
            </a:r>
            <a:r>
              <a:rPr dirty="0" err="1"/>
              <a:t>noch</a:t>
            </a:r>
            <a:r>
              <a:rPr dirty="0"/>
              <a:t> nicht </a:t>
            </a:r>
            <a:r>
              <a:rPr dirty="0" err="1"/>
              <a:t>feststeht</a:t>
            </a:r>
            <a:r>
              <a:rPr dirty="0"/>
              <a:t>, für wen </a:t>
            </a:r>
            <a:r>
              <a:rPr dirty="0" err="1"/>
              <a:t>oder</a:t>
            </a:r>
            <a:r>
              <a:rPr dirty="0"/>
              <a:t> </a:t>
            </a:r>
            <a:r>
              <a:rPr dirty="0" err="1"/>
              <a:t>zu</a:t>
            </a:r>
            <a:r>
              <a:rPr dirty="0"/>
              <a:t> </a:t>
            </a:r>
            <a:r>
              <a:rPr dirty="0" err="1"/>
              <a:t>welchem</a:t>
            </a:r>
            <a:r>
              <a:rPr dirty="0"/>
              <a:t> </a:t>
            </a:r>
            <a:r>
              <a:rPr dirty="0" err="1"/>
              <a:t>Anlass</a:t>
            </a:r>
            <a:r>
              <a:rPr dirty="0"/>
              <a:t> </a:t>
            </a:r>
            <a:r>
              <a:rPr dirty="0" err="1"/>
              <a:t>sie</a:t>
            </a:r>
            <a:r>
              <a:rPr dirty="0"/>
              <a:t> </a:t>
            </a:r>
            <a:r>
              <a:rPr dirty="0" err="1"/>
              <a:t>gedacht</a:t>
            </a:r>
            <a:r>
              <a:rPr dirty="0"/>
              <a:t> </a:t>
            </a:r>
            <a:r>
              <a:rPr dirty="0" err="1"/>
              <a:t>ist</a:t>
            </a:r>
            <a:r>
              <a:rPr dirty="0"/>
              <a:t>. </a:t>
            </a:r>
            <a:r>
              <a:rPr dirty="0" err="1"/>
              <a:t>Später</a:t>
            </a:r>
            <a:r>
              <a:rPr dirty="0"/>
              <a:t> </a:t>
            </a:r>
            <a:r>
              <a:rPr dirty="0" err="1"/>
              <a:t>verknüpft</a:t>
            </a:r>
            <a:r>
              <a:rPr dirty="0"/>
              <a:t> </a:t>
            </a:r>
            <a:r>
              <a:rPr dirty="0" err="1"/>
              <a:t>sie</a:t>
            </a:r>
            <a:r>
              <a:rPr dirty="0"/>
              <a:t> die </a:t>
            </a:r>
            <a:r>
              <a:rPr dirty="0" err="1"/>
              <a:t>passenden</a:t>
            </a:r>
            <a:r>
              <a:rPr dirty="0"/>
              <a:t> </a:t>
            </a:r>
            <a:r>
              <a:rPr dirty="0" err="1"/>
              <a:t>Einträge</a:t>
            </a:r>
            <a:r>
              <a:rPr dirty="0"/>
              <a:t>. </a:t>
            </a:r>
            <a:r>
              <a:rPr lang="de-DE" dirty="0"/>
              <a:t>Eine konkrete Verwendung einer Idee nennen wir Beschenkung. Jede Beschenkung erhält einen eigenen Status und eigene Aufgaben.</a:t>
            </a:r>
            <a:r>
              <a:rPr dirty="0"/>
              <a:t> </a:t>
            </a:r>
            <a:r>
              <a:rPr dirty="0" err="1"/>
              <a:t>Dieselbe</a:t>
            </a:r>
            <a:r>
              <a:rPr dirty="0"/>
              <a:t> Idee </a:t>
            </a:r>
            <a:r>
              <a:rPr dirty="0" err="1"/>
              <a:t>kann</a:t>
            </a:r>
            <a:r>
              <a:rPr dirty="0"/>
              <a:t> </a:t>
            </a:r>
            <a:r>
              <a:rPr dirty="0" err="1"/>
              <a:t>dadurch</a:t>
            </a:r>
            <a:r>
              <a:rPr dirty="0"/>
              <a:t> </a:t>
            </a:r>
            <a:r>
              <a:rPr dirty="0" err="1"/>
              <a:t>mehrfach</a:t>
            </a:r>
            <a:r>
              <a:rPr dirty="0"/>
              <a:t> </a:t>
            </a:r>
            <a:r>
              <a:rPr dirty="0" err="1"/>
              <a:t>verwendet</a:t>
            </a:r>
            <a:r>
              <a:rPr dirty="0"/>
              <a:t> </a:t>
            </a:r>
            <a:r>
              <a:rPr dirty="0" err="1"/>
              <a:t>werden</a:t>
            </a:r>
            <a:r>
              <a:rPr dirty="0"/>
              <a:t>, </a:t>
            </a:r>
            <a:r>
              <a:rPr dirty="0" err="1"/>
              <a:t>während</a:t>
            </a:r>
            <a:r>
              <a:rPr dirty="0"/>
              <a:t> die </a:t>
            </a:r>
            <a:r>
              <a:rPr dirty="0" err="1"/>
              <a:t>jeweiligen</a:t>
            </a:r>
            <a:r>
              <a:rPr dirty="0"/>
              <a:t> </a:t>
            </a:r>
            <a:r>
              <a:rPr dirty="0" err="1"/>
              <a:t>Bearbeitungsstände</a:t>
            </a:r>
            <a:r>
              <a:rPr dirty="0"/>
              <a:t> </a:t>
            </a:r>
            <a:r>
              <a:rPr dirty="0" err="1"/>
              <a:t>getrennt</a:t>
            </a:r>
            <a:r>
              <a:rPr dirty="0"/>
              <a:t> </a:t>
            </a:r>
            <a:r>
              <a:rPr dirty="0" err="1"/>
              <a:t>bleiben</a:t>
            </a:r>
            <a:r>
              <a:rPr dirty="0"/>
              <a:t>. In der </a:t>
            </a:r>
            <a:r>
              <a:rPr dirty="0" err="1"/>
              <a:t>Personenansicht</a:t>
            </a:r>
            <a:r>
              <a:rPr dirty="0"/>
              <a:t> </a:t>
            </a:r>
            <a:r>
              <a:rPr dirty="0" err="1"/>
              <a:t>stehen</a:t>
            </a:r>
            <a:r>
              <a:rPr dirty="0"/>
              <a:t> </a:t>
            </a:r>
            <a:r>
              <a:rPr dirty="0" err="1"/>
              <a:t>frühere</a:t>
            </a:r>
            <a:r>
              <a:rPr dirty="0"/>
              <a:t> </a:t>
            </a:r>
            <a:r>
              <a:rPr dirty="0" err="1"/>
              <a:t>Geschenke</a:t>
            </a:r>
            <a:r>
              <a:rPr dirty="0"/>
              <a:t> und </a:t>
            </a:r>
            <a:r>
              <a:rPr dirty="0" err="1"/>
              <a:t>aktuelle</a:t>
            </a:r>
            <a:r>
              <a:rPr dirty="0"/>
              <a:t> Ideen </a:t>
            </a:r>
            <a:r>
              <a:rPr dirty="0" err="1"/>
              <a:t>nebeneinander</a:t>
            </a:r>
            <a:r>
              <a:rPr dirty="0"/>
              <a:t>. </a:t>
            </a:r>
            <a:r>
              <a:rPr dirty="0" err="1"/>
              <a:t>Geburtstagsbenachrichtigungen</a:t>
            </a:r>
            <a:r>
              <a:rPr dirty="0"/>
              <a:t> für den </a:t>
            </a:r>
            <a:r>
              <a:rPr dirty="0" err="1"/>
              <a:t>folgenden</a:t>
            </a:r>
            <a:r>
              <a:rPr dirty="0"/>
              <a:t> Monat </a:t>
            </a:r>
            <a:r>
              <a:rPr dirty="0" err="1"/>
              <a:t>enthalten</a:t>
            </a:r>
            <a:r>
              <a:rPr dirty="0"/>
              <a:t> </a:t>
            </a:r>
            <a:r>
              <a:rPr dirty="0" err="1"/>
              <a:t>bereits</a:t>
            </a:r>
            <a:r>
              <a:rPr dirty="0"/>
              <a:t> </a:t>
            </a:r>
            <a:r>
              <a:rPr dirty="0" err="1"/>
              <a:t>bekannte</a:t>
            </a:r>
            <a:r>
              <a:rPr dirty="0"/>
              <a:t> Ideen. Vor </a:t>
            </a:r>
            <a:r>
              <a:rPr dirty="0" err="1"/>
              <a:t>Weihnachten</a:t>
            </a:r>
            <a:r>
              <a:rPr dirty="0"/>
              <a:t> </a:t>
            </a:r>
            <a:r>
              <a:rPr dirty="0" err="1"/>
              <a:t>zeigen</a:t>
            </a:r>
            <a:r>
              <a:rPr dirty="0"/>
              <a:t> </a:t>
            </a:r>
            <a:r>
              <a:rPr dirty="0" err="1"/>
              <a:t>regelmäßige</a:t>
            </a:r>
            <a:r>
              <a:rPr dirty="0"/>
              <a:t> </a:t>
            </a:r>
            <a:r>
              <a:rPr dirty="0" err="1"/>
              <a:t>Erinnerungen</a:t>
            </a:r>
            <a:r>
              <a:rPr dirty="0"/>
              <a:t> den </a:t>
            </a:r>
            <a:r>
              <a:rPr dirty="0" err="1"/>
              <a:t>Beschaffungsstand</a:t>
            </a:r>
            <a:r>
              <a:rPr dirty="0"/>
              <a:t>. </a:t>
            </a:r>
            <a:r>
              <a:rPr dirty="0" err="1"/>
              <a:t>Ausgewählte</a:t>
            </a:r>
            <a:r>
              <a:rPr dirty="0"/>
              <a:t> Ideen </a:t>
            </a:r>
            <a:r>
              <a:rPr dirty="0" err="1"/>
              <a:t>lassen</a:t>
            </a:r>
            <a:r>
              <a:rPr dirty="0"/>
              <a:t> </a:t>
            </a:r>
            <a:r>
              <a:rPr dirty="0" err="1"/>
              <a:t>sich</a:t>
            </a:r>
            <a:r>
              <a:rPr dirty="0"/>
              <a:t> </a:t>
            </a:r>
            <a:r>
              <a:rPr dirty="0" err="1"/>
              <a:t>über</a:t>
            </a:r>
            <a:r>
              <a:rPr dirty="0"/>
              <a:t> </a:t>
            </a:r>
            <a:r>
              <a:rPr dirty="0" err="1"/>
              <a:t>widerrufbare</a:t>
            </a:r>
            <a:r>
              <a:rPr dirty="0"/>
              <a:t> Nur-Lese-Links </a:t>
            </a:r>
            <a:r>
              <a:rPr dirty="0" err="1"/>
              <a:t>teilen</a:t>
            </a:r>
            <a:r>
              <a:rPr dirty="0"/>
              <a:t>. </a:t>
            </a:r>
            <a:r>
              <a:rPr dirty="0" err="1"/>
              <a:t>Weitere</a:t>
            </a:r>
            <a:r>
              <a:rPr dirty="0"/>
              <a:t> </a:t>
            </a:r>
            <a:r>
              <a:rPr dirty="0" err="1"/>
              <a:t>Vorschläge</a:t>
            </a:r>
            <a:r>
              <a:rPr dirty="0"/>
              <a:t> </a:t>
            </a:r>
            <a:r>
              <a:rPr dirty="0" err="1"/>
              <a:t>entstehen</a:t>
            </a:r>
            <a:r>
              <a:rPr dirty="0"/>
              <a:t> </a:t>
            </a:r>
            <a:r>
              <a:rPr dirty="0" err="1"/>
              <a:t>aus</a:t>
            </a:r>
            <a:r>
              <a:rPr dirty="0"/>
              <a:t> </a:t>
            </a:r>
            <a:r>
              <a:rPr dirty="0" err="1"/>
              <a:t>anonymisierten</a:t>
            </a:r>
            <a:r>
              <a:rPr dirty="0"/>
              <a:t> und </a:t>
            </a:r>
            <a:r>
              <a:rPr dirty="0" err="1"/>
              <a:t>zusammengefassten</a:t>
            </a:r>
            <a:r>
              <a:rPr dirty="0"/>
              <a:t> </a:t>
            </a:r>
            <a:r>
              <a:rPr dirty="0" err="1"/>
              <a:t>Merkmalen</a:t>
            </a:r>
            <a:r>
              <a:rPr dirty="0"/>
              <a:t> </a:t>
            </a:r>
            <a:r>
              <a:rPr dirty="0" err="1"/>
              <a:t>früherer</a:t>
            </a:r>
            <a:r>
              <a:rPr dirty="0"/>
              <a:t> </a:t>
            </a:r>
            <a:r>
              <a:rPr dirty="0" err="1"/>
              <a:t>Geschenke</a:t>
            </a:r>
            <a:r>
              <a:rPr dirty="0"/>
              <a:t> und </a:t>
            </a:r>
            <a:r>
              <a:rPr dirty="0" err="1"/>
              <a:t>vorhandener</a:t>
            </a:r>
            <a:r>
              <a:rPr dirty="0"/>
              <a:t> Ideen. </a:t>
            </a:r>
            <a:r>
              <a:rPr dirty="0" err="1"/>
              <a:t>Personenbezogene</a:t>
            </a:r>
            <a:r>
              <a:rPr dirty="0"/>
              <a:t> </a:t>
            </a:r>
            <a:r>
              <a:rPr dirty="0" err="1"/>
              <a:t>Inhalte</a:t>
            </a:r>
            <a:r>
              <a:rPr dirty="0"/>
              <a:t> </a:t>
            </a:r>
            <a:r>
              <a:rPr dirty="0" err="1"/>
              <a:t>anderer</a:t>
            </a:r>
            <a:r>
              <a:rPr dirty="0"/>
              <a:t> </a:t>
            </a:r>
            <a:r>
              <a:rPr dirty="0" err="1"/>
              <a:t>Konten</a:t>
            </a:r>
            <a:r>
              <a:rPr dirty="0"/>
              <a:t> </a:t>
            </a:r>
            <a:r>
              <a:rPr dirty="0" err="1"/>
              <a:t>bleiben</a:t>
            </a:r>
            <a:r>
              <a:rPr dirty="0"/>
              <a:t> </a:t>
            </a:r>
            <a:r>
              <a:rPr dirty="0" err="1"/>
              <a:t>geschützt</a:t>
            </a:r>
            <a:r>
              <a:rPr dirty="0"/>
              <a:t>.</a:t>
            </a:r>
          </a:p>
          <a:p>
            <a:endParaRPr dirty="0"/>
          </a:p>
          <a:p>
            <a:r>
              <a:rPr dirty="0" err="1"/>
              <a:t>Quellen</a:t>
            </a:r>
            <a:r>
              <a:rPr dirty="0"/>
              <a:t> und </a:t>
            </a:r>
            <a:r>
              <a:rPr dirty="0" err="1"/>
              <a:t>Grundlagen</a:t>
            </a:r>
            <a:r>
              <a:rPr dirty="0"/>
              <a:t> (nicht </a:t>
            </a:r>
            <a:r>
              <a:rPr dirty="0" err="1"/>
              <a:t>vorlesen</a:t>
            </a:r>
            <a:r>
              <a:rPr dirty="0"/>
              <a:t>): </a:t>
            </a:r>
            <a:r>
              <a:rPr dirty="0" err="1"/>
              <a:t>Projektkonfiguration</a:t>
            </a:r>
            <a:r>
              <a:rPr dirty="0"/>
              <a:t> MS1, </a:t>
            </a:r>
            <a:r>
              <a:rPr dirty="0" err="1"/>
              <a:t>Abschnitte</a:t>
            </a:r>
            <a:r>
              <a:rPr dirty="0"/>
              <a:t> 1, 3.1 und 4. </a:t>
            </a:r>
            <a:r>
              <a:rPr dirty="0" err="1"/>
              <a:t>Themenblatt</a:t>
            </a:r>
            <a:r>
              <a:rPr dirty="0"/>
              <a:t>, Thema 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Vereinfacht unterscheiden wir drei Kernbereiche</a:t>
            </a:r>
            <a:r>
              <a:rPr dirty="0"/>
              <a:t>. Das Frontend </a:t>
            </a:r>
            <a:r>
              <a:rPr dirty="0" err="1"/>
              <a:t>ist</a:t>
            </a:r>
            <a:r>
              <a:rPr dirty="0"/>
              <a:t> die </a:t>
            </a:r>
            <a:r>
              <a:rPr dirty="0" err="1"/>
              <a:t>Oberfläche</a:t>
            </a:r>
            <a:r>
              <a:rPr dirty="0"/>
              <a:t>, die Mia </a:t>
            </a:r>
            <a:r>
              <a:rPr dirty="0" err="1"/>
              <a:t>im</a:t>
            </a:r>
            <a:r>
              <a:rPr dirty="0"/>
              <a:t> Browser </a:t>
            </a:r>
            <a:r>
              <a:rPr dirty="0" err="1"/>
              <a:t>bedient</a:t>
            </a:r>
            <a:r>
              <a:rPr dirty="0"/>
              <a:t>. Das Backend </a:t>
            </a:r>
            <a:r>
              <a:rPr dirty="0" err="1"/>
              <a:t>verarbeitet</a:t>
            </a:r>
            <a:r>
              <a:rPr dirty="0"/>
              <a:t> </a:t>
            </a:r>
            <a:r>
              <a:rPr dirty="0" err="1"/>
              <a:t>ihre</a:t>
            </a:r>
            <a:r>
              <a:rPr dirty="0"/>
              <a:t> </a:t>
            </a:r>
            <a:r>
              <a:rPr dirty="0" err="1"/>
              <a:t>Anfragen</a:t>
            </a:r>
            <a:r>
              <a:rPr dirty="0"/>
              <a:t>, </a:t>
            </a:r>
            <a:r>
              <a:rPr dirty="0" err="1"/>
              <a:t>prüft</a:t>
            </a:r>
            <a:r>
              <a:rPr dirty="0"/>
              <a:t> </a:t>
            </a:r>
            <a:r>
              <a:rPr dirty="0" err="1"/>
              <a:t>Zugriffsrechte</a:t>
            </a:r>
            <a:r>
              <a:rPr dirty="0"/>
              <a:t> und </a:t>
            </a:r>
            <a:r>
              <a:rPr dirty="0" err="1"/>
              <a:t>setzt</a:t>
            </a:r>
            <a:r>
              <a:rPr dirty="0"/>
              <a:t> die </a:t>
            </a:r>
            <a:r>
              <a:rPr dirty="0" err="1"/>
              <a:t>fachlichen</a:t>
            </a:r>
            <a:r>
              <a:rPr dirty="0"/>
              <a:t> </a:t>
            </a:r>
            <a:r>
              <a:rPr dirty="0" err="1"/>
              <a:t>Regeln</a:t>
            </a:r>
            <a:r>
              <a:rPr dirty="0"/>
              <a:t> um. Die </a:t>
            </a:r>
            <a:r>
              <a:rPr dirty="0" err="1"/>
              <a:t>relationale</a:t>
            </a:r>
            <a:r>
              <a:rPr dirty="0"/>
              <a:t> </a:t>
            </a:r>
            <a:r>
              <a:rPr dirty="0" err="1"/>
              <a:t>Datenbank</a:t>
            </a:r>
            <a:r>
              <a:rPr dirty="0"/>
              <a:t> </a:t>
            </a:r>
            <a:r>
              <a:rPr dirty="0" err="1"/>
              <a:t>speichert</a:t>
            </a:r>
            <a:r>
              <a:rPr dirty="0"/>
              <a:t> </a:t>
            </a:r>
            <a:r>
              <a:rPr dirty="0" err="1"/>
              <a:t>Informationen</a:t>
            </a:r>
            <a:r>
              <a:rPr dirty="0"/>
              <a:t> und </a:t>
            </a:r>
            <a:r>
              <a:rPr dirty="0" err="1"/>
              <a:t>ihre</a:t>
            </a:r>
            <a:r>
              <a:rPr dirty="0"/>
              <a:t> </a:t>
            </a:r>
            <a:r>
              <a:rPr dirty="0" err="1"/>
              <a:t>Beziehungen</a:t>
            </a:r>
            <a:r>
              <a:rPr dirty="0"/>
              <a:t> </a:t>
            </a:r>
            <a:r>
              <a:rPr dirty="0" err="1"/>
              <a:t>dauerhaft</a:t>
            </a:r>
            <a:r>
              <a:rPr dirty="0"/>
              <a:t>. </a:t>
            </a:r>
            <a:r>
              <a:rPr dirty="0" err="1"/>
              <a:t>Markiert</a:t>
            </a:r>
            <a:r>
              <a:rPr dirty="0"/>
              <a:t> Mia </a:t>
            </a:r>
            <a:r>
              <a:rPr dirty="0" err="1"/>
              <a:t>ein</a:t>
            </a:r>
            <a:r>
              <a:rPr dirty="0"/>
              <a:t> </a:t>
            </a:r>
            <a:r>
              <a:rPr dirty="0" err="1"/>
              <a:t>Geschenk</a:t>
            </a:r>
            <a:r>
              <a:rPr dirty="0"/>
              <a:t> </a:t>
            </a:r>
            <a:r>
              <a:rPr dirty="0" err="1"/>
              <a:t>als</a:t>
            </a:r>
            <a:r>
              <a:rPr dirty="0"/>
              <a:t> </a:t>
            </a:r>
            <a:r>
              <a:rPr dirty="0" err="1"/>
              <a:t>besorgt</a:t>
            </a:r>
            <a:r>
              <a:rPr dirty="0"/>
              <a:t>, </a:t>
            </a:r>
            <a:r>
              <a:rPr dirty="0" err="1"/>
              <a:t>übermittelt</a:t>
            </a:r>
            <a:r>
              <a:rPr dirty="0"/>
              <a:t> die </a:t>
            </a:r>
            <a:r>
              <a:rPr dirty="0" err="1"/>
              <a:t>Oberfläche</a:t>
            </a:r>
            <a:r>
              <a:rPr dirty="0"/>
              <a:t> die </a:t>
            </a:r>
            <a:r>
              <a:rPr dirty="0" err="1"/>
              <a:t>Änderung</a:t>
            </a:r>
            <a:r>
              <a:rPr dirty="0"/>
              <a:t> an das Backend. Dieses </a:t>
            </a:r>
            <a:r>
              <a:rPr dirty="0" err="1"/>
              <a:t>prüft</a:t>
            </a:r>
            <a:r>
              <a:rPr dirty="0"/>
              <a:t> </a:t>
            </a:r>
            <a:r>
              <a:rPr dirty="0" err="1"/>
              <a:t>sie</a:t>
            </a:r>
            <a:r>
              <a:rPr dirty="0"/>
              <a:t> und </a:t>
            </a:r>
            <a:r>
              <a:rPr dirty="0" err="1"/>
              <a:t>speichert</a:t>
            </a:r>
            <a:r>
              <a:rPr dirty="0"/>
              <a:t> den </a:t>
            </a:r>
            <a:r>
              <a:rPr dirty="0" err="1"/>
              <a:t>neuen</a:t>
            </a:r>
            <a:r>
              <a:rPr dirty="0"/>
              <a:t> Status. </a:t>
            </a:r>
            <a:r>
              <a:rPr dirty="0" err="1"/>
              <a:t>Anschließend</a:t>
            </a:r>
            <a:r>
              <a:rPr dirty="0"/>
              <a:t> </a:t>
            </a:r>
            <a:r>
              <a:rPr dirty="0" err="1"/>
              <a:t>erscheint</a:t>
            </a:r>
            <a:r>
              <a:rPr dirty="0"/>
              <a:t> der </a:t>
            </a:r>
            <a:r>
              <a:rPr dirty="0" err="1"/>
              <a:t>aktualisierte</a:t>
            </a:r>
            <a:r>
              <a:rPr dirty="0"/>
              <a:t> Stand </a:t>
            </a:r>
            <a:r>
              <a:rPr dirty="0" err="1"/>
              <a:t>im</a:t>
            </a:r>
            <a:r>
              <a:rPr dirty="0"/>
              <a:t> Frontend. Ein </a:t>
            </a:r>
            <a:r>
              <a:rPr dirty="0" err="1"/>
              <a:t>separater</a:t>
            </a:r>
            <a:r>
              <a:rPr dirty="0"/>
              <a:t> </a:t>
            </a:r>
            <a:r>
              <a:rPr dirty="0" err="1"/>
              <a:t>Hintergrunddienst</a:t>
            </a:r>
            <a:r>
              <a:rPr dirty="0"/>
              <a:t> plant die </a:t>
            </a:r>
            <a:r>
              <a:rPr dirty="0" err="1"/>
              <a:t>Erinnerungen</a:t>
            </a:r>
            <a:r>
              <a:rPr dirty="0"/>
              <a:t>. Die </a:t>
            </a:r>
            <a:r>
              <a:rPr dirty="0" err="1"/>
              <a:t>konkrete</a:t>
            </a:r>
            <a:r>
              <a:rPr dirty="0"/>
              <a:t> </a:t>
            </a:r>
            <a:r>
              <a:rPr dirty="0" err="1"/>
              <a:t>technische</a:t>
            </a:r>
            <a:r>
              <a:rPr dirty="0"/>
              <a:t> </a:t>
            </a:r>
            <a:r>
              <a:rPr dirty="0" err="1"/>
              <a:t>Konfiguration</a:t>
            </a:r>
            <a:r>
              <a:rPr dirty="0"/>
              <a:t> </a:t>
            </a:r>
            <a:r>
              <a:rPr dirty="0" err="1"/>
              <a:t>arbeiten</a:t>
            </a:r>
            <a:r>
              <a:rPr dirty="0"/>
              <a:t> </a:t>
            </a:r>
            <a:r>
              <a:rPr dirty="0" err="1"/>
              <a:t>wir</a:t>
            </a:r>
            <a:r>
              <a:rPr dirty="0"/>
              <a:t> in MS3 </a:t>
            </a:r>
            <a:r>
              <a:rPr dirty="0" err="1"/>
              <a:t>weiter</a:t>
            </a:r>
            <a:r>
              <a:rPr dirty="0"/>
              <a:t> </a:t>
            </a:r>
            <a:r>
              <a:rPr dirty="0" err="1"/>
              <a:t>aus.</a:t>
            </a:r>
            <a:r>
              <a:rPr lang="de-DE" dirty="0"/>
              <a:t> Für das Frontend ist JavaScript vorgesehen, für das Backend Python.</a:t>
            </a:r>
            <a:endParaRPr dirty="0"/>
          </a:p>
          <a:p>
            <a:endParaRPr dirty="0"/>
          </a:p>
          <a:p>
            <a:r>
              <a:rPr dirty="0" err="1"/>
              <a:t>Quellen</a:t>
            </a:r>
            <a:r>
              <a:rPr dirty="0"/>
              <a:t> und </a:t>
            </a:r>
            <a:r>
              <a:rPr dirty="0" err="1"/>
              <a:t>Grundlagen</a:t>
            </a:r>
            <a:r>
              <a:rPr dirty="0"/>
              <a:t> (nicht </a:t>
            </a:r>
            <a:r>
              <a:rPr dirty="0" err="1"/>
              <a:t>vorlesen</a:t>
            </a:r>
            <a:r>
              <a:rPr dirty="0"/>
              <a:t>): </a:t>
            </a:r>
            <a:r>
              <a:rPr dirty="0" err="1"/>
              <a:t>Projektkonfiguration</a:t>
            </a:r>
            <a:r>
              <a:rPr dirty="0"/>
              <a:t> MS1, </a:t>
            </a:r>
            <a:r>
              <a:rPr dirty="0" err="1"/>
              <a:t>Abschnitte</a:t>
            </a:r>
            <a:r>
              <a:rPr dirty="0"/>
              <a:t> 3.3, 4.3 und 12. </a:t>
            </a:r>
            <a:r>
              <a:rPr dirty="0" err="1"/>
              <a:t>Vereinfachte</a:t>
            </a:r>
            <a:r>
              <a:rPr dirty="0"/>
              <a:t> </a:t>
            </a:r>
            <a:r>
              <a:rPr dirty="0" err="1"/>
              <a:t>Komponentenübersicht</a:t>
            </a:r>
            <a:r>
              <a:rPr dirty="0"/>
              <a:t>; der Scheduler </a:t>
            </a:r>
            <a:r>
              <a:rPr dirty="0" err="1"/>
              <a:t>bleibt</a:t>
            </a:r>
            <a:r>
              <a:rPr dirty="0"/>
              <a:t> </a:t>
            </a:r>
            <a:r>
              <a:rPr dirty="0" err="1"/>
              <a:t>als</a:t>
            </a:r>
            <a:r>
              <a:rPr dirty="0"/>
              <a:t> </a:t>
            </a:r>
            <a:r>
              <a:rPr dirty="0" err="1"/>
              <a:t>separater</a:t>
            </a:r>
            <a:r>
              <a:rPr dirty="0"/>
              <a:t> Dienst </a:t>
            </a:r>
            <a:r>
              <a:rPr dirty="0" err="1"/>
              <a:t>vorgesehen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Wir </a:t>
            </a:r>
            <a:r>
              <a:rPr dirty="0" err="1"/>
              <a:t>befinden</a:t>
            </a:r>
            <a:r>
              <a:rPr dirty="0"/>
              <a:t> </a:t>
            </a:r>
            <a:r>
              <a:rPr dirty="0" err="1"/>
              <a:t>uns</a:t>
            </a:r>
            <a:r>
              <a:rPr dirty="0"/>
              <a:t> in der </a:t>
            </a:r>
            <a:r>
              <a:rPr dirty="0" err="1"/>
              <a:t>Planungsphase</a:t>
            </a:r>
            <a:r>
              <a:rPr dirty="0"/>
              <a:t>. Mit MS0 und MS1 </a:t>
            </a:r>
            <a:r>
              <a:rPr dirty="0" err="1"/>
              <a:t>haben</a:t>
            </a:r>
            <a:r>
              <a:rPr dirty="0"/>
              <a:t> </a:t>
            </a:r>
            <a:r>
              <a:rPr dirty="0" err="1"/>
              <a:t>wir</a:t>
            </a:r>
            <a:r>
              <a:rPr dirty="0"/>
              <a:t> den </a:t>
            </a:r>
            <a:r>
              <a:rPr dirty="0" err="1"/>
              <a:t>Zeitplan</a:t>
            </a:r>
            <a:r>
              <a:rPr dirty="0"/>
              <a:t> </a:t>
            </a:r>
            <a:r>
              <a:rPr dirty="0" err="1"/>
              <a:t>sowie</a:t>
            </a:r>
            <a:r>
              <a:rPr dirty="0"/>
              <a:t> die </a:t>
            </a:r>
            <a:r>
              <a:rPr dirty="0" err="1"/>
              <a:t>Projektkonfiguration</a:t>
            </a:r>
            <a:r>
              <a:rPr dirty="0"/>
              <a:t> </a:t>
            </a:r>
            <a:r>
              <a:rPr dirty="0" err="1"/>
              <a:t>erarbeitet</a:t>
            </a:r>
            <a:r>
              <a:rPr dirty="0"/>
              <a:t>. </a:t>
            </a:r>
            <a:r>
              <a:rPr dirty="0" err="1"/>
              <a:t>Aktuell</a:t>
            </a:r>
            <a:r>
              <a:rPr dirty="0"/>
              <a:t> </a:t>
            </a:r>
            <a:r>
              <a:rPr dirty="0" err="1"/>
              <a:t>stellen</a:t>
            </a:r>
            <a:r>
              <a:rPr dirty="0"/>
              <a:t> </a:t>
            </a:r>
            <a:r>
              <a:rPr dirty="0" err="1"/>
              <a:t>wir</a:t>
            </a:r>
            <a:r>
              <a:rPr dirty="0"/>
              <a:t> in MS2 </a:t>
            </a:r>
            <a:r>
              <a:rPr dirty="0" err="1"/>
              <a:t>unsere</a:t>
            </a:r>
            <a:r>
              <a:rPr dirty="0"/>
              <a:t> </a:t>
            </a:r>
            <a:r>
              <a:rPr dirty="0" err="1"/>
              <a:t>Lösungsidee</a:t>
            </a:r>
            <a:r>
              <a:rPr dirty="0"/>
              <a:t> </a:t>
            </a:r>
            <a:r>
              <a:rPr dirty="0" err="1"/>
              <a:t>vor</a:t>
            </a:r>
            <a:r>
              <a:rPr dirty="0"/>
              <a:t>. Als </a:t>
            </a:r>
            <a:r>
              <a:rPr dirty="0" err="1"/>
              <a:t>Nächstes</a:t>
            </a:r>
            <a:r>
              <a:rPr dirty="0"/>
              <a:t> </a:t>
            </a:r>
            <a:r>
              <a:rPr dirty="0" err="1"/>
              <a:t>konkretisieren</a:t>
            </a:r>
            <a:r>
              <a:rPr dirty="0"/>
              <a:t> </a:t>
            </a:r>
            <a:r>
              <a:rPr dirty="0" err="1"/>
              <a:t>wir</a:t>
            </a:r>
            <a:r>
              <a:rPr dirty="0"/>
              <a:t> bis </a:t>
            </a:r>
            <a:r>
              <a:rPr dirty="0" err="1"/>
              <a:t>zum</a:t>
            </a:r>
            <a:r>
              <a:rPr dirty="0"/>
              <a:t> 27. September in MS3 den </a:t>
            </a:r>
            <a:r>
              <a:rPr dirty="0" err="1"/>
              <a:t>Entwicklungsprozess</a:t>
            </a:r>
            <a:r>
              <a:rPr dirty="0"/>
              <a:t>, </a:t>
            </a:r>
            <a:r>
              <a:rPr dirty="0" err="1"/>
              <a:t>technische</a:t>
            </a:r>
            <a:r>
              <a:rPr dirty="0"/>
              <a:t> </a:t>
            </a:r>
            <a:r>
              <a:rPr dirty="0" err="1"/>
              <a:t>Entscheidungen</a:t>
            </a:r>
            <a:r>
              <a:rPr dirty="0"/>
              <a:t> und die </a:t>
            </a:r>
            <a:r>
              <a:rPr dirty="0" err="1"/>
              <a:t>Qualitätsprüfung</a:t>
            </a:r>
            <a:r>
              <a:rPr dirty="0"/>
              <a:t>. </a:t>
            </a:r>
            <a:r>
              <a:rPr lang="de-DE" dirty="0"/>
              <a:t>Technische Vorbereitungen beginnen bereits in MS3. Bei der anschließenden Umsetzung begleiten Tests und Dokumentation die Entwicklung</a:t>
            </a:r>
            <a:r>
              <a:rPr dirty="0"/>
              <a:t>. Zu MS4 </a:t>
            </a:r>
            <a:r>
              <a:rPr dirty="0" err="1"/>
              <a:t>soll</a:t>
            </a:r>
            <a:r>
              <a:rPr dirty="0"/>
              <a:t> das System </a:t>
            </a:r>
            <a:r>
              <a:rPr dirty="0" err="1"/>
              <a:t>im</a:t>
            </a:r>
            <a:r>
              <a:rPr dirty="0"/>
              <a:t> Browser </a:t>
            </a:r>
            <a:r>
              <a:rPr dirty="0" err="1"/>
              <a:t>prüfbar</a:t>
            </a:r>
            <a:r>
              <a:rPr dirty="0"/>
              <a:t> </a:t>
            </a:r>
            <a:r>
              <a:rPr dirty="0" err="1"/>
              <a:t>bereitstehen</a:t>
            </a:r>
            <a:r>
              <a:rPr dirty="0"/>
              <a:t>. In MS5 </a:t>
            </a:r>
            <a:r>
              <a:rPr dirty="0" err="1"/>
              <a:t>präsentieren</a:t>
            </a:r>
            <a:r>
              <a:rPr dirty="0"/>
              <a:t> </a:t>
            </a:r>
            <a:r>
              <a:rPr dirty="0" err="1"/>
              <a:t>wir</a:t>
            </a:r>
            <a:r>
              <a:rPr dirty="0"/>
              <a:t> die </a:t>
            </a:r>
            <a:r>
              <a:rPr dirty="0" err="1"/>
              <a:t>Ergebnisse</a:t>
            </a:r>
            <a:r>
              <a:rPr dirty="0"/>
              <a:t> </a:t>
            </a:r>
            <a:r>
              <a:rPr dirty="0" err="1"/>
              <a:t>einschließlich</a:t>
            </a:r>
            <a:r>
              <a:rPr dirty="0"/>
              <a:t> </a:t>
            </a:r>
            <a:r>
              <a:rPr dirty="0" err="1"/>
              <a:t>einer</a:t>
            </a:r>
            <a:r>
              <a:rPr dirty="0"/>
              <a:t> Demo. MS6 </a:t>
            </a:r>
            <a:r>
              <a:rPr dirty="0" err="1"/>
              <a:t>schließt</a:t>
            </a:r>
            <a:r>
              <a:rPr dirty="0"/>
              <a:t> das Projekt </a:t>
            </a:r>
            <a:r>
              <a:rPr dirty="0" err="1"/>
              <a:t>mit</a:t>
            </a:r>
            <a:r>
              <a:rPr dirty="0"/>
              <a:t> dem </a:t>
            </a:r>
            <a:r>
              <a:rPr dirty="0" err="1"/>
              <a:t>Bericht</a:t>
            </a:r>
            <a:r>
              <a:rPr dirty="0"/>
              <a:t> ab. Die </a:t>
            </a:r>
            <a:r>
              <a:rPr dirty="0" err="1"/>
              <a:t>eingeblendeten</a:t>
            </a:r>
            <a:r>
              <a:rPr dirty="0"/>
              <a:t> Termine </a:t>
            </a:r>
            <a:r>
              <a:rPr dirty="0" err="1"/>
              <a:t>entsprechen</a:t>
            </a:r>
            <a:r>
              <a:rPr dirty="0"/>
              <a:t> </a:t>
            </a:r>
            <a:r>
              <a:rPr dirty="0" err="1"/>
              <a:t>unserem</a:t>
            </a:r>
            <a:r>
              <a:rPr dirty="0"/>
              <a:t> </a:t>
            </a:r>
            <a:r>
              <a:rPr dirty="0" err="1"/>
              <a:t>geplanten</a:t>
            </a:r>
            <a:r>
              <a:rPr dirty="0"/>
              <a:t> </a:t>
            </a:r>
            <a:r>
              <a:rPr dirty="0" err="1"/>
              <a:t>Ablauf</a:t>
            </a:r>
            <a:r>
              <a:rPr dirty="0"/>
              <a:t>.</a:t>
            </a:r>
          </a:p>
          <a:p>
            <a:endParaRPr dirty="0"/>
          </a:p>
          <a:p>
            <a:r>
              <a:rPr dirty="0" err="1"/>
              <a:t>Quellen</a:t>
            </a:r>
            <a:r>
              <a:rPr dirty="0"/>
              <a:t> und </a:t>
            </a:r>
            <a:r>
              <a:rPr dirty="0" err="1"/>
              <a:t>Grundlagen</a:t>
            </a:r>
            <a:r>
              <a:rPr dirty="0"/>
              <a:t> (nicht </a:t>
            </a:r>
            <a:r>
              <a:rPr dirty="0" err="1"/>
              <a:t>vorlesen</a:t>
            </a:r>
            <a:r>
              <a:rPr dirty="0"/>
              <a:t>): </a:t>
            </a:r>
            <a:r>
              <a:rPr dirty="0" err="1"/>
              <a:t>Aufgabenstellung</a:t>
            </a:r>
            <a:r>
              <a:rPr dirty="0"/>
              <a:t> ISEF01, </a:t>
            </a:r>
            <a:r>
              <a:rPr dirty="0" err="1"/>
              <a:t>Abschnitt</a:t>
            </a:r>
            <a:r>
              <a:rPr dirty="0"/>
              <a:t> 5. </a:t>
            </a:r>
            <a:r>
              <a:rPr dirty="0" err="1"/>
              <a:t>Projektkonfiguration</a:t>
            </a:r>
            <a:r>
              <a:rPr dirty="0"/>
              <a:t> MS1, </a:t>
            </a:r>
            <a:r>
              <a:rPr dirty="0" err="1"/>
              <a:t>Abschnitte</a:t>
            </a:r>
            <a:r>
              <a:rPr dirty="0"/>
              <a:t> 6 und 7; Termine </a:t>
            </a:r>
            <a:r>
              <a:rPr dirty="0" err="1"/>
              <a:t>sind</a:t>
            </a:r>
            <a:r>
              <a:rPr dirty="0"/>
              <a:t> </a:t>
            </a:r>
            <a:r>
              <a:rPr dirty="0" err="1"/>
              <a:t>geplante</a:t>
            </a:r>
            <a:r>
              <a:rPr dirty="0"/>
              <a:t> </a:t>
            </a:r>
            <a:r>
              <a:rPr dirty="0" err="1"/>
              <a:t>Abgaben</a:t>
            </a:r>
            <a:r>
              <a:rPr dirty="0"/>
              <a:t> </a:t>
            </a:r>
            <a:r>
              <a:rPr dirty="0" err="1"/>
              <a:t>gemäß</a:t>
            </a:r>
            <a:r>
              <a:rPr dirty="0"/>
              <a:t> Stand 10.09.2026.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Hinter dem Projekt stehen vier Teammitglieder. Kevin koordiniert die Projektarbeit und unterstützt die Datenanalyse. Julian verantwortet die technische Leitung und die Full-Stack-Entwicklung. Yin bringt Security und Frontendentwicklung ein. Anton übernimmt Anforderungen, Dokumentation und Testunterstützung. Wesentliche Entscheidungen treffen wir gemeinsam und prüfen wichtige Ergebnisse gegenseitig. Damit verbinden wir unsere unterschiedlichen Kenntnisse für ein gemeinsames Ziel.</a:t>
            </a:r>
          </a:p>
          <a:p>
            <a:endParaRPr/>
          </a:p>
          <a:p>
            <a:r>
              <a:t>Quellen und Grundlagen (nicht vorlesen): Projektkonfiguration MS1, Abschnitte 2 und 11. Teamfotos unverändert aus dem bereitgestellten Präsentationsentwurf.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Für Mia </a:t>
            </a:r>
            <a:r>
              <a:rPr dirty="0" err="1"/>
              <a:t>soll</a:t>
            </a:r>
            <a:r>
              <a:rPr dirty="0"/>
              <a:t> </a:t>
            </a:r>
            <a:r>
              <a:rPr dirty="0" err="1"/>
              <a:t>aus</a:t>
            </a:r>
            <a:r>
              <a:rPr dirty="0"/>
              <a:t> </a:t>
            </a:r>
            <a:r>
              <a:rPr dirty="0" err="1"/>
              <a:t>verstreuten</a:t>
            </a:r>
            <a:r>
              <a:rPr dirty="0"/>
              <a:t> </a:t>
            </a:r>
            <a:r>
              <a:rPr dirty="0" err="1"/>
              <a:t>Informationen</a:t>
            </a:r>
            <a:r>
              <a:rPr dirty="0"/>
              <a:t> </a:t>
            </a:r>
            <a:r>
              <a:rPr dirty="0" err="1"/>
              <a:t>ein</a:t>
            </a:r>
            <a:r>
              <a:rPr dirty="0"/>
              <a:t> </a:t>
            </a:r>
            <a:r>
              <a:rPr dirty="0" err="1"/>
              <a:t>klarer</a:t>
            </a:r>
            <a:r>
              <a:rPr dirty="0"/>
              <a:t> Plan </a:t>
            </a:r>
            <a:r>
              <a:rPr dirty="0" err="1"/>
              <a:t>werden</a:t>
            </a:r>
            <a:r>
              <a:rPr dirty="0"/>
              <a:t>. Sie </a:t>
            </a:r>
            <a:r>
              <a:rPr dirty="0" err="1"/>
              <a:t>behält</a:t>
            </a:r>
            <a:r>
              <a:rPr dirty="0"/>
              <a:t> Ideen, </a:t>
            </a:r>
            <a:r>
              <a:rPr dirty="0" err="1"/>
              <a:t>frühere</a:t>
            </a:r>
            <a:r>
              <a:rPr dirty="0"/>
              <a:t> </a:t>
            </a:r>
            <a:r>
              <a:rPr dirty="0" err="1"/>
              <a:t>Geschenke</a:t>
            </a:r>
            <a:r>
              <a:rPr dirty="0"/>
              <a:t> und </a:t>
            </a:r>
            <a:r>
              <a:rPr dirty="0" err="1"/>
              <a:t>offene</a:t>
            </a:r>
            <a:r>
              <a:rPr dirty="0"/>
              <a:t> </a:t>
            </a:r>
            <a:r>
              <a:rPr dirty="0" err="1"/>
              <a:t>Vorbereitungen</a:t>
            </a:r>
            <a:r>
              <a:rPr dirty="0"/>
              <a:t> </a:t>
            </a:r>
            <a:r>
              <a:rPr dirty="0" err="1"/>
              <a:t>im</a:t>
            </a:r>
            <a:r>
              <a:rPr dirty="0"/>
              <a:t> Blick und </a:t>
            </a:r>
            <a:r>
              <a:rPr dirty="0" err="1"/>
              <a:t>kann</a:t>
            </a:r>
            <a:r>
              <a:rPr dirty="0"/>
              <a:t> </a:t>
            </a:r>
            <a:r>
              <a:rPr dirty="0" err="1"/>
              <a:t>rechtzeitig</a:t>
            </a:r>
            <a:r>
              <a:rPr dirty="0"/>
              <a:t> </a:t>
            </a:r>
            <a:r>
              <a:rPr dirty="0" err="1"/>
              <a:t>handeln</a:t>
            </a:r>
            <a:r>
              <a:rPr dirty="0"/>
              <a:t>. </a:t>
            </a:r>
            <a:r>
              <a:rPr dirty="0" err="1"/>
              <a:t>Genau</a:t>
            </a:r>
            <a:r>
              <a:rPr dirty="0"/>
              <a:t> </a:t>
            </a:r>
            <a:r>
              <a:rPr dirty="0" err="1"/>
              <a:t>diesen</a:t>
            </a:r>
            <a:r>
              <a:rPr dirty="0"/>
              <a:t> </a:t>
            </a:r>
            <a:r>
              <a:rPr dirty="0" err="1"/>
              <a:t>Nutzen</a:t>
            </a:r>
            <a:r>
              <a:rPr dirty="0"/>
              <a:t> </a:t>
            </a:r>
            <a:r>
              <a:rPr dirty="0" err="1"/>
              <a:t>wollen</a:t>
            </a:r>
            <a:r>
              <a:rPr dirty="0"/>
              <a:t> </a:t>
            </a:r>
            <a:r>
              <a:rPr dirty="0" err="1"/>
              <a:t>wir</a:t>
            </a:r>
            <a:r>
              <a:rPr dirty="0"/>
              <a:t> </a:t>
            </a:r>
            <a:r>
              <a:rPr dirty="0" err="1"/>
              <a:t>mit</a:t>
            </a:r>
            <a:r>
              <a:rPr dirty="0"/>
              <a:t> </a:t>
            </a:r>
            <a:r>
              <a:rPr dirty="0" err="1"/>
              <a:t>unserem</a:t>
            </a:r>
            <a:r>
              <a:rPr dirty="0"/>
              <a:t> </a:t>
            </a:r>
            <a:r>
              <a:rPr dirty="0" err="1"/>
              <a:t>Prototyp</a:t>
            </a:r>
            <a:r>
              <a:rPr dirty="0"/>
              <a:t> </a:t>
            </a:r>
            <a:r>
              <a:rPr dirty="0" err="1"/>
              <a:t>zeigen</a:t>
            </a:r>
            <a:r>
              <a:rPr dirty="0"/>
              <a:t>. Das </a:t>
            </a:r>
            <a:r>
              <a:rPr dirty="0" err="1"/>
              <a:t>Ergebnis</a:t>
            </a:r>
            <a:r>
              <a:rPr dirty="0"/>
              <a:t> </a:t>
            </a:r>
            <a:r>
              <a:rPr dirty="0" err="1"/>
              <a:t>stellen</a:t>
            </a:r>
            <a:r>
              <a:rPr dirty="0"/>
              <a:t> </a:t>
            </a:r>
            <a:r>
              <a:rPr dirty="0" err="1"/>
              <a:t>wir</a:t>
            </a:r>
            <a:r>
              <a:rPr dirty="0"/>
              <a:t> in der </a:t>
            </a:r>
            <a:r>
              <a:rPr dirty="0" err="1"/>
              <a:t>späteren</a:t>
            </a:r>
            <a:r>
              <a:rPr dirty="0"/>
              <a:t> </a:t>
            </a:r>
            <a:r>
              <a:rPr dirty="0" err="1"/>
              <a:t>Ergebnispräsentation</a:t>
            </a:r>
            <a:r>
              <a:rPr dirty="0"/>
              <a:t> </a:t>
            </a:r>
            <a:r>
              <a:rPr dirty="0" err="1"/>
              <a:t>vor</a:t>
            </a:r>
            <a:r>
              <a:rPr dirty="0"/>
              <a:t>. </a:t>
            </a:r>
            <a:r>
              <a:rPr dirty="0" err="1"/>
              <a:t>Vielen</a:t>
            </a:r>
            <a:r>
              <a:rPr dirty="0"/>
              <a:t> Dank </a:t>
            </a:r>
            <a:r>
              <a:rPr dirty="0" err="1"/>
              <a:t>fürs</a:t>
            </a:r>
            <a:r>
              <a:rPr dirty="0"/>
              <a:t> </a:t>
            </a:r>
            <a:r>
              <a:rPr dirty="0" err="1"/>
              <a:t>Zuschauen</a:t>
            </a:r>
            <a:r>
              <a:rPr dirty="0"/>
              <a:t>.</a:t>
            </a:r>
          </a:p>
          <a:p>
            <a:endParaRPr dirty="0"/>
          </a:p>
          <a:p>
            <a:r>
              <a:rPr dirty="0" err="1"/>
              <a:t>Quellen</a:t>
            </a:r>
            <a:r>
              <a:rPr dirty="0"/>
              <a:t> und </a:t>
            </a:r>
            <a:r>
              <a:rPr dirty="0" err="1"/>
              <a:t>Grundlagen</a:t>
            </a:r>
            <a:r>
              <a:rPr dirty="0"/>
              <a:t> (nicht </a:t>
            </a:r>
            <a:r>
              <a:rPr dirty="0" err="1"/>
              <a:t>vorlesen</a:t>
            </a:r>
            <a:r>
              <a:rPr dirty="0"/>
              <a:t>): </a:t>
            </a:r>
            <a:r>
              <a:rPr dirty="0" err="1"/>
              <a:t>Projektkonfiguration</a:t>
            </a:r>
            <a:r>
              <a:rPr dirty="0"/>
              <a:t> MS1, </a:t>
            </a:r>
            <a:r>
              <a:rPr dirty="0" err="1"/>
              <a:t>Abschnitt</a:t>
            </a:r>
            <a:r>
              <a:rPr dirty="0"/>
              <a:t> 1. </a:t>
            </a:r>
            <a:r>
              <a:rPr dirty="0" err="1"/>
              <a:t>Fiktiver</a:t>
            </a:r>
            <a:r>
              <a:rPr dirty="0"/>
              <a:t> </a:t>
            </a:r>
            <a:r>
              <a:rPr dirty="0" err="1"/>
              <a:t>Ausblick</a:t>
            </a:r>
            <a:r>
              <a:rPr dirty="0"/>
              <a:t> auf den </a:t>
            </a:r>
            <a:r>
              <a:rPr dirty="0" err="1"/>
              <a:t>angestrebten</a:t>
            </a:r>
            <a:r>
              <a:rPr dirty="0"/>
              <a:t> </a:t>
            </a:r>
            <a:r>
              <a:rPr dirty="0" err="1"/>
              <a:t>Nutzen</a:t>
            </a:r>
            <a:r>
              <a:rPr dirty="0"/>
              <a:t>, </a:t>
            </a:r>
            <a:r>
              <a:rPr dirty="0" err="1"/>
              <a:t>keine</a:t>
            </a:r>
            <a:r>
              <a:rPr dirty="0"/>
              <a:t> </a:t>
            </a:r>
            <a:r>
              <a:rPr dirty="0" err="1"/>
              <a:t>Behauptung</a:t>
            </a:r>
            <a:r>
              <a:rPr dirty="0"/>
              <a:t> </a:t>
            </a:r>
            <a:r>
              <a:rPr dirty="0" err="1"/>
              <a:t>bereits</a:t>
            </a:r>
            <a:r>
              <a:rPr dirty="0"/>
              <a:t> </a:t>
            </a:r>
            <a:r>
              <a:rPr dirty="0" err="1"/>
              <a:t>umgesetzter</a:t>
            </a:r>
            <a:r>
              <a:rPr dirty="0"/>
              <a:t> </a:t>
            </a:r>
            <a:r>
              <a:rPr dirty="0" err="1"/>
              <a:t>Funktionen</a:t>
            </a:r>
            <a:r>
              <a:rPr dirty="0"/>
              <a:t>. Mia-Illustration </a:t>
            </a:r>
            <a:r>
              <a:rPr dirty="0" err="1"/>
              <a:t>mit</a:t>
            </a:r>
            <a:r>
              <a:rPr dirty="0"/>
              <a:t> </a:t>
            </a:r>
            <a:r>
              <a:rPr dirty="0" err="1"/>
              <a:t>ImageGen</a:t>
            </a:r>
            <a:r>
              <a:rPr dirty="0"/>
              <a:t> </a:t>
            </a:r>
            <a:r>
              <a:rPr dirty="0" err="1"/>
              <a:t>erstellt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E1B2C"/>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7C2E3DC-5A4E-41F8-BC96-834381FBA528}"/>
              </a:ext>
            </a:extLst>
          </p:cNvPr>
          <p:cNvSpPr>
            <a:spLocks noGrp="1"/>
          </p:cNvSpPr>
          <p:nvPr/>
        </p:nvSpPr>
        <p:spPr>
          <a:xfrm>
            <a:off x="8778240" y="-2103120"/>
            <a:ext cx="5943600" cy="5943600"/>
          </a:xfrm>
          <a:prstGeom prst="ellipse">
            <a:avLst/>
          </a:prstGeom>
          <a:solidFill>
            <a:srgbClr val="6D2E46">
              <a:alpha val="60000"/>
            </a:srgbClr>
          </a:solidFill>
        </p:spPr>
        <p:txBody>
          <a:bodyPr/>
          <a:lstStyle/>
          <a:p>
            <a:endParaRPr/>
          </a:p>
        </p:txBody>
      </p:sp>
      <p:sp>
        <p:nvSpPr>
          <p:cNvPr id="3" name="Shape 1">
            <a:extLst>
              <a:ext uri="{FF2B5EF4-FFF2-40B4-BE49-F238E27FC236}">
                <a16:creationId xmlns:a16="http://schemas.microsoft.com/office/drawing/2014/main" id="{669EE9CC-4D56-4B68-B5BA-F8A6D91543E8}"/>
              </a:ext>
            </a:extLst>
          </p:cNvPr>
          <p:cNvSpPr>
            <a:spLocks noGrp="1"/>
          </p:cNvSpPr>
          <p:nvPr/>
        </p:nvSpPr>
        <p:spPr>
          <a:xfrm>
            <a:off x="10241280" y="3566160"/>
            <a:ext cx="3840480" cy="3840480"/>
          </a:xfrm>
          <a:prstGeom prst="ellipse">
            <a:avLst/>
          </a:prstGeom>
          <a:solidFill>
            <a:srgbClr val="C9A227">
              <a:alpha val="18000"/>
            </a:srgbClr>
          </a:solidFill>
        </p:spPr>
        <p:txBody>
          <a:bodyPr/>
          <a:lstStyle/>
          <a:p>
            <a:endParaRPr/>
          </a:p>
        </p:txBody>
      </p:sp>
      <p:sp>
        <p:nvSpPr>
          <p:cNvPr id="4" name="Text 2">
            <a:extLst>
              <a:ext uri="{FF2B5EF4-FFF2-40B4-BE49-F238E27FC236}">
                <a16:creationId xmlns:a16="http://schemas.microsoft.com/office/drawing/2014/main" id="{819AA8BF-EEA3-4E11-8082-49B786E9E274}"/>
              </a:ext>
            </a:extLst>
          </p:cNvPr>
          <p:cNvSpPr>
            <a:spLocks noGrp="1"/>
          </p:cNvSpPr>
          <p:nvPr/>
        </p:nvSpPr>
        <p:spPr>
          <a:xfrm>
            <a:off x="777240" y="1371600"/>
            <a:ext cx="7315200" cy="320040"/>
          </a:xfrm>
          <a:prstGeom prst="rect">
            <a:avLst/>
          </a:prstGeom>
          <a:noFill/>
        </p:spPr>
        <p:txBody>
          <a:bodyPr wrap="square" lIns="0" tIns="0" rIns="0" bIns="0" anchor="ctr"/>
          <a:lstStyle/>
          <a:p>
            <a:pPr marL="0" indent="0" algn="l">
              <a:buNone/>
            </a:pPr>
            <a:r>
              <a:rPr sz="1200" b="1" spc="300">
                <a:solidFill>
                  <a:srgbClr val="C9A227"/>
                </a:solidFill>
                <a:latin typeface="Calibri"/>
                <a:ea typeface="Calibri"/>
                <a:cs typeface="Calibri"/>
              </a:rPr>
              <a:t>ISEF01 · PROJEKT SOFTWARE ENGINEERING</a:t>
            </a:r>
            <a:endParaRPr sz="1200"/>
          </a:p>
        </p:txBody>
      </p:sp>
      <p:sp>
        <p:nvSpPr>
          <p:cNvPr id="5" name="Text 3">
            <a:extLst>
              <a:ext uri="{FF2B5EF4-FFF2-40B4-BE49-F238E27FC236}">
                <a16:creationId xmlns:a16="http://schemas.microsoft.com/office/drawing/2014/main" id="{7A222FD5-553F-4436-B149-A86FFAD0132C}"/>
              </a:ext>
            </a:extLst>
          </p:cNvPr>
          <p:cNvSpPr>
            <a:spLocks noGrp="1"/>
          </p:cNvSpPr>
          <p:nvPr/>
        </p:nvSpPr>
        <p:spPr>
          <a:xfrm>
            <a:off x="731520" y="2148840"/>
            <a:ext cx="10607040" cy="1280160"/>
          </a:xfrm>
          <a:prstGeom prst="rect">
            <a:avLst/>
          </a:prstGeom>
          <a:noFill/>
        </p:spPr>
        <p:txBody>
          <a:bodyPr wrap="square" lIns="0" tIns="0" rIns="0" bIns="0" anchor="ctr"/>
          <a:lstStyle/>
          <a:p>
            <a:pPr marL="0" indent="0" algn="l">
              <a:buNone/>
            </a:pPr>
            <a:r>
              <a:rPr sz="6000" b="1">
                <a:solidFill>
                  <a:srgbClr val="C9A227"/>
                </a:solidFill>
                <a:latin typeface="Cambria"/>
                <a:ea typeface="Cambria"/>
                <a:cs typeface="Cambria"/>
              </a:rPr>
              <a:t>Geschenke</a:t>
            </a:r>
            <a:r>
              <a:rPr sz="6000" b="1">
                <a:solidFill>
                  <a:srgbClr val="FFFFFF"/>
                </a:solidFill>
                <a:latin typeface="Cambria"/>
                <a:ea typeface="Cambria"/>
                <a:cs typeface="Cambria"/>
              </a:rPr>
              <a:t>-Manager</a:t>
            </a:r>
            <a:endParaRPr sz="6000"/>
          </a:p>
        </p:txBody>
      </p:sp>
      <p:sp>
        <p:nvSpPr>
          <p:cNvPr id="6" name="Text 4">
            <a:extLst>
              <a:ext uri="{FF2B5EF4-FFF2-40B4-BE49-F238E27FC236}">
                <a16:creationId xmlns:a16="http://schemas.microsoft.com/office/drawing/2014/main" id="{64563F40-22D4-4879-A213-B60BFDA7AD90}"/>
              </a:ext>
            </a:extLst>
          </p:cNvPr>
          <p:cNvSpPr>
            <a:spLocks noGrp="1"/>
          </p:cNvSpPr>
          <p:nvPr/>
        </p:nvSpPr>
        <p:spPr>
          <a:xfrm>
            <a:off x="777240" y="3429000"/>
            <a:ext cx="9601200" cy="548640"/>
          </a:xfrm>
          <a:prstGeom prst="rect">
            <a:avLst/>
          </a:prstGeom>
          <a:noFill/>
        </p:spPr>
        <p:txBody>
          <a:bodyPr wrap="square" lIns="0" tIns="0" rIns="0" bIns="0" anchor="ctr"/>
          <a:lstStyle/>
          <a:p>
            <a:pPr marL="0" indent="0" algn="l">
              <a:buNone/>
            </a:pPr>
            <a:r>
              <a:rPr sz="2100" i="1">
                <a:solidFill>
                  <a:srgbClr val="EBDDE3"/>
                </a:solidFill>
                <a:latin typeface="Calibri"/>
                <a:ea typeface="Calibri"/>
                <a:cs typeface="Calibri"/>
              </a:rPr>
              <a:t>Geschenke planen. Den Überblick behalten.</a:t>
            </a:r>
            <a:endParaRPr sz="2100"/>
          </a:p>
        </p:txBody>
      </p:sp>
      <p:sp>
        <p:nvSpPr>
          <p:cNvPr id="7" name="Text 5">
            <a:extLst>
              <a:ext uri="{FF2B5EF4-FFF2-40B4-BE49-F238E27FC236}">
                <a16:creationId xmlns:a16="http://schemas.microsoft.com/office/drawing/2014/main" id="{1141A7BD-FE3A-4C89-82B0-8F5D12E884C2}"/>
              </a:ext>
            </a:extLst>
          </p:cNvPr>
          <p:cNvSpPr>
            <a:spLocks noGrp="1"/>
          </p:cNvSpPr>
          <p:nvPr/>
        </p:nvSpPr>
        <p:spPr>
          <a:xfrm>
            <a:off x="777240" y="4114800"/>
            <a:ext cx="8229600" cy="457200"/>
          </a:xfrm>
          <a:prstGeom prst="rect">
            <a:avLst/>
          </a:prstGeom>
          <a:noFill/>
        </p:spPr>
        <p:txBody>
          <a:bodyPr wrap="square" lIns="0" tIns="0" rIns="0" bIns="0" anchor="ctr"/>
          <a:lstStyle/>
          <a:p>
            <a:pPr marL="0" indent="0" algn="l">
              <a:buNone/>
            </a:pPr>
            <a:r>
              <a:rPr sz="1600" b="1">
                <a:solidFill>
                  <a:srgbClr val="EBDDE3"/>
                </a:solidFill>
                <a:latin typeface="Calibri"/>
                <a:ea typeface="Calibri"/>
                <a:cs typeface="Calibri"/>
              </a:rPr>
              <a:t>Projektvorstellung · Meilenstein 2</a:t>
            </a:r>
            <a:endParaRPr sz="1600"/>
          </a:p>
        </p:txBody>
      </p:sp>
      <p:sp>
        <p:nvSpPr>
          <p:cNvPr id="8" name="Text 6">
            <a:extLst>
              <a:ext uri="{FF2B5EF4-FFF2-40B4-BE49-F238E27FC236}">
                <a16:creationId xmlns:a16="http://schemas.microsoft.com/office/drawing/2014/main" id="{489EC40A-FB39-42E8-8171-7BB637A5EAA1}"/>
              </a:ext>
            </a:extLst>
          </p:cNvPr>
          <p:cNvSpPr>
            <a:spLocks noGrp="1"/>
          </p:cNvSpPr>
          <p:nvPr/>
        </p:nvSpPr>
        <p:spPr>
          <a:xfrm>
            <a:off x="777240" y="6172200"/>
            <a:ext cx="10515600" cy="365760"/>
          </a:xfrm>
          <a:prstGeom prst="rect">
            <a:avLst/>
          </a:prstGeom>
          <a:noFill/>
        </p:spPr>
        <p:txBody>
          <a:bodyPr wrap="square" lIns="0" tIns="0" rIns="0" bIns="0" anchor="ctr"/>
          <a:lstStyle/>
          <a:p>
            <a:pPr marL="0" indent="0" algn="l">
              <a:buNone/>
            </a:pPr>
            <a:r>
              <a:rPr sz="1300">
                <a:solidFill>
                  <a:srgbClr val="EBDDE3"/>
                </a:solidFill>
                <a:latin typeface="Calibri"/>
                <a:ea typeface="Calibri"/>
                <a:cs typeface="Calibri"/>
              </a:rPr>
              <a:t>Kevin Jordan Taghu  ·  Julian Ammann  ·  Yin Yin Wu-Hanke  ·  Anton Hirsch</a:t>
            </a:r>
            <a:endParaRPr sz="1300"/>
          </a:p>
        </p:txBody>
      </p:sp>
      <p:sp>
        <p:nvSpPr>
          <p:cNvPr id="9" name="page-number">
            <a:extLst>
              <a:ext uri="{FF2B5EF4-FFF2-40B4-BE49-F238E27FC236}">
                <a16:creationId xmlns:a16="http://schemas.microsoft.com/office/drawing/2014/main" id="{CCFD8BE9-3BCB-47DF-9794-105CE7F90E5E}"/>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EBDDE3"/>
                </a:solidFill>
                <a:latin typeface="Calibri"/>
                <a:ea typeface="Calibri"/>
                <a:cs typeface="Calibri"/>
              </a:defRPr>
            </a:pPr>
            <a:r>
              <a:rPr sz="1125" b="0">
                <a:solidFill>
                  <a:srgbClr val="EBDDE3"/>
                </a:solidFill>
                <a:latin typeface="Calibri"/>
                <a:ea typeface="Calibri"/>
                <a:cs typeface="Calibri"/>
              </a:rPr>
              <a:t>01</a:t>
            </a:r>
          </a:p>
        </p:txBody>
      </p:sp>
    </p:spTree>
    <p:extLst>
      <p:ext uri="{BB962C8B-B14F-4D97-AF65-F5344CB8AC3E}">
        <p14:creationId xmlns:p14="http://schemas.microsoft.com/office/powerpoint/2010/main" val="747779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D7614E63-87A6-B367-F49F-52538FB0DC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4542" y="1905001"/>
            <a:ext cx="6134059" cy="4089372"/>
          </a:xfrm>
          <a:prstGeom prst="rect">
            <a:avLst/>
          </a:prstGeom>
        </p:spPr>
      </p:pic>
      <p:sp>
        <p:nvSpPr>
          <p:cNvPr id="9" name="section-label">
            <a:extLst>
              <a:ext uri="{FF2B5EF4-FFF2-40B4-BE49-F238E27FC236}">
                <a16:creationId xmlns:a16="http://schemas.microsoft.com/office/drawing/2014/main" id="{D8117559-36BC-46C8-B8EE-CFE4CFF49269}"/>
              </a:ext>
            </a:extLst>
          </p:cNvPr>
          <p:cNvSpPr>
            <a:spLocks noGrp="1"/>
          </p:cNvSpPr>
          <p:nvPr/>
        </p:nvSpPr>
        <p:spPr>
          <a:xfrm>
            <a:off x="647700" y="476250"/>
            <a:ext cx="10896600" cy="285750"/>
          </a:xfrm>
          <a:prstGeom prst="rect">
            <a:avLst/>
          </a:prstGeom>
          <a:noFill/>
          <a:ln w="0">
            <a:noFill/>
          </a:ln>
        </p:spPr>
        <p:txBody>
          <a:bodyPr wrap="square" lIns="0" tIns="0" rIns="0" bIns="0" anchor="ctr">
            <a:noAutofit/>
          </a:bodyPr>
          <a:lstStyle/>
          <a:p>
            <a:pPr algn="l">
              <a:buNone/>
              <a:defRPr sz="1200" b="1">
                <a:solidFill>
                  <a:srgbClr val="C9A227"/>
                </a:solidFill>
                <a:latin typeface="Calibri"/>
                <a:ea typeface="Calibri"/>
                <a:cs typeface="Calibri"/>
              </a:defRPr>
            </a:pPr>
            <a:r>
              <a:rPr sz="1200" b="1">
                <a:solidFill>
                  <a:srgbClr val="C9A227"/>
                </a:solidFill>
                <a:latin typeface="Calibri"/>
                <a:ea typeface="Calibri"/>
                <a:cs typeface="Calibri"/>
              </a:rPr>
              <a:t>EIN BEISPIEL AUS DEM ALLTAG</a:t>
            </a:r>
          </a:p>
        </p:txBody>
      </p:sp>
      <p:sp>
        <p:nvSpPr>
          <p:cNvPr id="2" name="slide-title">
            <a:extLst>
              <a:ext uri="{FF2B5EF4-FFF2-40B4-BE49-F238E27FC236}">
                <a16:creationId xmlns:a16="http://schemas.microsoft.com/office/drawing/2014/main" id="{3DA651B0-02C5-4510-A7C5-780FFE50706C}"/>
              </a:ext>
            </a:extLst>
          </p:cNvPr>
          <p:cNvSpPr>
            <a:spLocks noGrp="1"/>
          </p:cNvSpPr>
          <p:nvPr/>
        </p:nvSpPr>
        <p:spPr>
          <a:xfrm>
            <a:off x="647700" y="866775"/>
            <a:ext cx="10896600" cy="714375"/>
          </a:xfrm>
          <a:prstGeom prst="rect">
            <a:avLst/>
          </a:prstGeom>
          <a:noFill/>
          <a:ln w="0">
            <a:noFill/>
          </a:ln>
        </p:spPr>
        <p:txBody>
          <a:bodyPr wrap="square" lIns="0" tIns="0" rIns="0" bIns="0" anchor="ctr">
            <a:noAutofit/>
          </a:bodyPr>
          <a:lstStyle/>
          <a:p>
            <a:pPr algn="l">
              <a:buNone/>
              <a:defRPr sz="3400" b="1">
                <a:solidFill>
                  <a:srgbClr val="6D2E46"/>
                </a:solidFill>
                <a:latin typeface="Cambria"/>
                <a:ea typeface="Cambria"/>
                <a:cs typeface="Cambria"/>
              </a:defRPr>
            </a:pPr>
            <a:r>
              <a:rPr sz="3400" b="1">
                <a:solidFill>
                  <a:srgbClr val="6D2E46"/>
                </a:solidFill>
                <a:latin typeface="Cambria"/>
                <a:ea typeface="Cambria"/>
                <a:cs typeface="Cambria"/>
              </a:rPr>
              <a:t>Mia verliert den Überblick</a:t>
            </a:r>
          </a:p>
        </p:txBody>
      </p:sp>
      <p:sp>
        <p:nvSpPr>
          <p:cNvPr id="4" name="scenario-time">
            <a:extLst>
              <a:ext uri="{FF2B5EF4-FFF2-40B4-BE49-F238E27FC236}">
                <a16:creationId xmlns:a16="http://schemas.microsoft.com/office/drawing/2014/main" id="{5E584361-92CA-45DC-B65B-D933A73254F3}"/>
              </a:ext>
            </a:extLst>
          </p:cNvPr>
          <p:cNvSpPr>
            <a:spLocks noGrp="1"/>
          </p:cNvSpPr>
          <p:nvPr/>
        </p:nvSpPr>
        <p:spPr>
          <a:xfrm>
            <a:off x="647700" y="1905000"/>
            <a:ext cx="2571750" cy="523875"/>
          </a:xfrm>
          <a:prstGeom prst="rect">
            <a:avLst/>
          </a:prstGeom>
          <a:noFill/>
          <a:ln w="0">
            <a:noFill/>
          </a:ln>
        </p:spPr>
        <p:txBody>
          <a:bodyPr wrap="square" lIns="0" tIns="0" rIns="0" bIns="0" anchor="ctr">
            <a:noAutofit/>
          </a:bodyPr>
          <a:lstStyle/>
          <a:p>
            <a:pPr algn="l">
              <a:buNone/>
              <a:defRPr sz="2475" b="1">
                <a:solidFill>
                  <a:srgbClr val="6D2E46"/>
                </a:solidFill>
                <a:latin typeface="Cambria"/>
                <a:ea typeface="Cambria"/>
                <a:cs typeface="Cambria"/>
              </a:defRPr>
            </a:pPr>
            <a:r>
              <a:rPr sz="2475" b="1">
                <a:solidFill>
                  <a:srgbClr val="6D2E46"/>
                </a:solidFill>
                <a:latin typeface="Cambria"/>
                <a:ea typeface="Cambria"/>
                <a:cs typeface="Cambria"/>
              </a:rPr>
              <a:t>Dezember</a:t>
            </a:r>
          </a:p>
        </p:txBody>
      </p:sp>
      <p:sp>
        <p:nvSpPr>
          <p:cNvPr id="5" name="scenario-context">
            <a:extLst>
              <a:ext uri="{FF2B5EF4-FFF2-40B4-BE49-F238E27FC236}">
                <a16:creationId xmlns:a16="http://schemas.microsoft.com/office/drawing/2014/main" id="{BAE4B6EE-DD99-47F0-9C46-17A48E8DC312}"/>
              </a:ext>
            </a:extLst>
          </p:cNvPr>
          <p:cNvSpPr>
            <a:spLocks noGrp="1"/>
          </p:cNvSpPr>
          <p:nvPr/>
        </p:nvSpPr>
        <p:spPr>
          <a:xfrm>
            <a:off x="647700" y="2514600"/>
            <a:ext cx="2714625" cy="1190625"/>
          </a:xfrm>
          <a:prstGeom prst="rect">
            <a:avLst/>
          </a:prstGeom>
          <a:noFill/>
          <a:ln w="0">
            <a:noFill/>
          </a:ln>
        </p:spPr>
        <p:txBody>
          <a:bodyPr wrap="square" lIns="0" tIns="0" rIns="0" bIns="0" anchor="ctr">
            <a:noAutofit/>
          </a:bodyPr>
          <a:lstStyle/>
          <a:p>
            <a:pPr algn="l">
              <a:buNone/>
              <a:defRPr sz="2025" b="0">
                <a:solidFill>
                  <a:srgbClr val="2B2430"/>
                </a:solidFill>
                <a:latin typeface="Calibri"/>
                <a:ea typeface="Calibri"/>
                <a:cs typeface="Calibri"/>
              </a:defRPr>
            </a:pPr>
            <a:r>
              <a:rPr sz="2025" b="0">
                <a:solidFill>
                  <a:srgbClr val="2B2430"/>
                </a:solidFill>
                <a:latin typeface="Calibri"/>
                <a:ea typeface="Calibri"/>
                <a:cs typeface="Calibri"/>
              </a:rPr>
              <a:t>Weihnachten steht bevor.</a:t>
            </a:r>
          </a:p>
          <a:p>
            <a:pPr algn="l">
              <a:buNone/>
              <a:defRPr sz="2025" b="0">
                <a:solidFill>
                  <a:srgbClr val="2B2430"/>
                </a:solidFill>
                <a:latin typeface="Calibri"/>
                <a:ea typeface="Calibri"/>
                <a:cs typeface="Calibri"/>
              </a:defRPr>
            </a:pPr>
            <a:r>
              <a:rPr sz="2025" b="0">
                <a:solidFill>
                  <a:srgbClr val="2B2430"/>
                </a:solidFill>
                <a:latin typeface="Calibri"/>
                <a:ea typeface="Calibri"/>
                <a:cs typeface="Calibri"/>
              </a:rPr>
              <a:t>Zwei Geburtstage kommen dazu.</a:t>
            </a:r>
          </a:p>
        </p:txBody>
      </p:sp>
      <p:sp>
        <p:nvSpPr>
          <p:cNvPr id="6" name="scenario-conflict">
            <a:extLst>
              <a:ext uri="{FF2B5EF4-FFF2-40B4-BE49-F238E27FC236}">
                <a16:creationId xmlns:a16="http://schemas.microsoft.com/office/drawing/2014/main" id="{89F32FD9-40A5-4021-B71A-71941C7D2715}"/>
              </a:ext>
            </a:extLst>
          </p:cNvPr>
          <p:cNvSpPr>
            <a:spLocks noGrp="1"/>
          </p:cNvSpPr>
          <p:nvPr/>
        </p:nvSpPr>
        <p:spPr>
          <a:xfrm>
            <a:off x="647700" y="3933825"/>
            <a:ext cx="2714625" cy="952500"/>
          </a:xfrm>
          <a:prstGeom prst="rect">
            <a:avLst/>
          </a:prstGeom>
          <a:noFill/>
          <a:ln w="0">
            <a:noFill/>
          </a:ln>
        </p:spPr>
        <p:txBody>
          <a:bodyPr wrap="square" lIns="0" tIns="0" rIns="0" bIns="0" anchor="ctr">
            <a:noAutofit/>
          </a:bodyPr>
          <a:lstStyle/>
          <a:p>
            <a:pPr algn="l">
              <a:buNone/>
              <a:defRPr sz="1950" b="0">
                <a:solidFill>
                  <a:srgbClr val="7A6E74"/>
                </a:solidFill>
                <a:latin typeface="Calibri"/>
                <a:ea typeface="Calibri"/>
                <a:cs typeface="Calibri"/>
              </a:defRPr>
            </a:pPr>
            <a:r>
              <a:rPr sz="1950" b="0">
                <a:solidFill>
                  <a:srgbClr val="7A6E74"/>
                </a:solidFill>
                <a:latin typeface="Calibri"/>
                <a:ea typeface="Calibri"/>
                <a:cs typeface="Calibri"/>
              </a:rPr>
              <a:t>Ein Geschenk ist besorgt.</a:t>
            </a:r>
          </a:p>
          <a:p>
            <a:pPr algn="l">
              <a:buNone/>
              <a:defRPr sz="1950" b="0">
                <a:solidFill>
                  <a:srgbClr val="7A6E74"/>
                </a:solidFill>
                <a:latin typeface="Calibri"/>
                <a:ea typeface="Calibri"/>
                <a:cs typeface="Calibri"/>
              </a:defRPr>
            </a:pPr>
            <a:r>
              <a:rPr sz="1950" b="0">
                <a:solidFill>
                  <a:srgbClr val="7A6E74"/>
                </a:solidFill>
                <a:latin typeface="Calibri"/>
                <a:ea typeface="Calibri"/>
                <a:cs typeface="Calibri"/>
              </a:rPr>
              <a:t>Andere sind noch offen.</a:t>
            </a:r>
          </a:p>
        </p:txBody>
      </p:sp>
      <p:sp>
        <p:nvSpPr>
          <p:cNvPr id="7" name="bridge">
            <a:extLst>
              <a:ext uri="{FF2B5EF4-FFF2-40B4-BE49-F238E27FC236}">
                <a16:creationId xmlns:a16="http://schemas.microsoft.com/office/drawing/2014/main" id="{A39F9FE9-8146-410F-9E9C-BEFE3693398B}"/>
              </a:ext>
            </a:extLst>
          </p:cNvPr>
          <p:cNvSpPr>
            <a:spLocks noGrp="1"/>
          </p:cNvSpPr>
          <p:nvPr/>
        </p:nvSpPr>
        <p:spPr>
          <a:xfrm>
            <a:off x="647700" y="5876925"/>
            <a:ext cx="6762750" cy="438150"/>
          </a:xfrm>
          <a:prstGeom prst="rect">
            <a:avLst/>
          </a:prstGeom>
          <a:noFill/>
          <a:ln w="0">
            <a:noFill/>
          </a:ln>
        </p:spPr>
        <p:txBody>
          <a:bodyPr wrap="square" lIns="0" tIns="0" rIns="0" bIns="0" anchor="ctr">
            <a:noAutofit/>
          </a:bodyPr>
          <a:lstStyle/>
          <a:p>
            <a:pPr algn="l">
              <a:buNone/>
              <a:defRPr sz="2175" b="1">
                <a:solidFill>
                  <a:srgbClr val="6D2E46"/>
                </a:solidFill>
                <a:latin typeface="Cambria"/>
                <a:ea typeface="Cambria"/>
                <a:cs typeface="Cambria"/>
              </a:defRPr>
            </a:pPr>
            <a:r>
              <a:rPr sz="2175" b="1">
                <a:solidFill>
                  <a:srgbClr val="6D2E46"/>
                </a:solidFill>
                <a:latin typeface="Cambria"/>
                <a:ea typeface="Cambria"/>
                <a:cs typeface="Cambria"/>
              </a:rPr>
              <a:t>Mia ist fiktiv. Ihr Problem ist real.</a:t>
            </a:r>
          </a:p>
        </p:txBody>
      </p:sp>
      <p:sp>
        <p:nvSpPr>
          <p:cNvPr id="8" name="page-number">
            <a:extLst>
              <a:ext uri="{FF2B5EF4-FFF2-40B4-BE49-F238E27FC236}">
                <a16:creationId xmlns:a16="http://schemas.microsoft.com/office/drawing/2014/main" id="{E7177F31-FF17-489F-A9C9-6BBF9C9A1486}"/>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7A6E74"/>
                </a:solidFill>
                <a:latin typeface="Calibri"/>
                <a:ea typeface="Calibri"/>
                <a:cs typeface="Calibri"/>
              </a:defRPr>
            </a:pPr>
            <a:r>
              <a:rPr sz="1125" b="0">
                <a:solidFill>
                  <a:srgbClr val="7A6E74"/>
                </a:solidFill>
                <a:latin typeface="Calibri"/>
                <a:ea typeface="Calibri"/>
                <a:cs typeface="Calibri"/>
              </a:rPr>
              <a:t>02</a:t>
            </a:r>
          </a:p>
        </p:txBody>
      </p:sp>
    </p:spTree>
    <p:extLst>
      <p:ext uri="{BB962C8B-B14F-4D97-AF65-F5344CB8AC3E}">
        <p14:creationId xmlns:p14="http://schemas.microsoft.com/office/powerpoint/2010/main" val="59878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D2E46"/>
        </a:solidFill>
        <a:effectLst/>
      </p:bgPr>
    </p:bg>
    <p:spTree>
      <p:nvGrpSpPr>
        <p:cNvPr id="1" name=""/>
        <p:cNvGrpSpPr/>
        <p:nvPr/>
      </p:nvGrpSpPr>
      <p:grpSpPr>
        <a:xfrm>
          <a:off x="0" y="0"/>
          <a:ext cx="0" cy="0"/>
          <a:chOff x="0" y="0"/>
          <a:chExt cx="0" cy="0"/>
        </a:xfrm>
      </p:grpSpPr>
      <p:sp>
        <p:nvSpPr>
          <p:cNvPr id="31" name="section-label">
            <a:extLst>
              <a:ext uri="{FF2B5EF4-FFF2-40B4-BE49-F238E27FC236}">
                <a16:creationId xmlns:a16="http://schemas.microsoft.com/office/drawing/2014/main" id="{120050E4-7363-4F1D-9645-562EE68B475B}"/>
              </a:ext>
            </a:extLst>
          </p:cNvPr>
          <p:cNvSpPr>
            <a:spLocks noGrp="1"/>
          </p:cNvSpPr>
          <p:nvPr/>
        </p:nvSpPr>
        <p:spPr>
          <a:xfrm>
            <a:off x="647700" y="476250"/>
            <a:ext cx="10896600" cy="285750"/>
          </a:xfrm>
          <a:prstGeom prst="rect">
            <a:avLst/>
          </a:prstGeom>
          <a:noFill/>
          <a:ln w="0">
            <a:noFill/>
          </a:ln>
        </p:spPr>
        <p:txBody>
          <a:bodyPr wrap="square" lIns="0" tIns="0" rIns="0" bIns="0" anchor="ctr">
            <a:noAutofit/>
          </a:bodyPr>
          <a:lstStyle/>
          <a:p>
            <a:pPr algn="l">
              <a:buNone/>
              <a:defRPr sz="1200" b="1">
                <a:solidFill>
                  <a:srgbClr val="C9A227"/>
                </a:solidFill>
                <a:latin typeface="Calibri"/>
                <a:ea typeface="Calibri"/>
                <a:cs typeface="Calibri"/>
              </a:defRPr>
            </a:pPr>
            <a:r>
              <a:rPr sz="1200" b="1">
                <a:solidFill>
                  <a:srgbClr val="C9A227"/>
                </a:solidFill>
                <a:latin typeface="Calibri"/>
                <a:ea typeface="Calibri"/>
                <a:cs typeface="Calibri"/>
              </a:rPr>
              <a:t>UNSERE GEPLANTE LÖSUNG</a:t>
            </a:r>
          </a:p>
        </p:txBody>
      </p:sp>
      <p:sp>
        <p:nvSpPr>
          <p:cNvPr id="2" name="slide-title">
            <a:extLst>
              <a:ext uri="{FF2B5EF4-FFF2-40B4-BE49-F238E27FC236}">
                <a16:creationId xmlns:a16="http://schemas.microsoft.com/office/drawing/2014/main" id="{EC0B0059-0441-4CC4-90E6-3A4D215ED91D}"/>
              </a:ext>
            </a:extLst>
          </p:cNvPr>
          <p:cNvSpPr>
            <a:spLocks noGrp="1"/>
          </p:cNvSpPr>
          <p:nvPr/>
        </p:nvSpPr>
        <p:spPr>
          <a:xfrm>
            <a:off x="647700" y="866775"/>
            <a:ext cx="10896600" cy="714375"/>
          </a:xfrm>
          <a:prstGeom prst="rect">
            <a:avLst/>
          </a:prstGeom>
          <a:noFill/>
          <a:ln w="0">
            <a:noFill/>
          </a:ln>
        </p:spPr>
        <p:txBody>
          <a:bodyPr wrap="square" lIns="0" tIns="0" rIns="0" bIns="0" anchor="ctr">
            <a:noAutofit/>
          </a:bodyPr>
          <a:lstStyle/>
          <a:p>
            <a:pPr algn="l">
              <a:buNone/>
              <a:defRPr sz="3400" b="1">
                <a:solidFill>
                  <a:srgbClr val="FFFFFF"/>
                </a:solidFill>
                <a:latin typeface="Cambria"/>
                <a:ea typeface="Cambria"/>
                <a:cs typeface="Cambria"/>
              </a:defRPr>
            </a:pPr>
            <a:r>
              <a:rPr sz="3400" b="1">
                <a:solidFill>
                  <a:srgbClr val="FFFFFF"/>
                </a:solidFill>
                <a:latin typeface="Cambria"/>
                <a:ea typeface="Cambria"/>
                <a:cs typeface="Cambria"/>
              </a:rPr>
              <a:t>Der Geschenke-Manager</a:t>
            </a:r>
          </a:p>
        </p:txBody>
      </p:sp>
      <p:sp>
        <p:nvSpPr>
          <p:cNvPr id="3" name="pillar-0">
            <a:extLst>
              <a:ext uri="{FF2B5EF4-FFF2-40B4-BE49-F238E27FC236}">
                <a16:creationId xmlns:a16="http://schemas.microsoft.com/office/drawing/2014/main" id="{09A21395-E3A7-4943-B1DF-EDCBB5E0F2D3}"/>
              </a:ext>
            </a:extLst>
          </p:cNvPr>
          <p:cNvSpPr>
            <a:spLocks noGrp="1"/>
          </p:cNvSpPr>
          <p:nvPr/>
        </p:nvSpPr>
        <p:spPr>
          <a:xfrm>
            <a:off x="647700" y="1905000"/>
            <a:ext cx="3333750" cy="1666875"/>
          </a:xfrm>
          <a:prstGeom prst="roundRect">
            <a:avLst>
              <a:gd name="adj" fmla="val 6857"/>
            </a:avLst>
          </a:prstGeom>
          <a:solidFill>
            <a:srgbClr val="3E1B2C"/>
          </a:solidFill>
          <a:ln w="0">
            <a:noFill/>
          </a:ln>
        </p:spPr>
        <p:txBody>
          <a:bodyPr/>
          <a:lstStyle/>
          <a:p>
            <a:endParaRPr lang="de-DE"/>
          </a:p>
        </p:txBody>
      </p:sp>
      <p:sp>
        <p:nvSpPr>
          <p:cNvPr id="4" name="pillar-title-0">
            <a:extLst>
              <a:ext uri="{FF2B5EF4-FFF2-40B4-BE49-F238E27FC236}">
                <a16:creationId xmlns:a16="http://schemas.microsoft.com/office/drawing/2014/main" id="{C87FEEEF-2DB0-4F53-8757-CBE3F5A9925D}"/>
              </a:ext>
            </a:extLst>
          </p:cNvPr>
          <p:cNvSpPr>
            <a:spLocks noGrp="1"/>
          </p:cNvSpPr>
          <p:nvPr/>
        </p:nvSpPr>
        <p:spPr>
          <a:xfrm>
            <a:off x="838200" y="2028825"/>
            <a:ext cx="2952750" cy="419100"/>
          </a:xfrm>
          <a:prstGeom prst="rect">
            <a:avLst/>
          </a:prstGeom>
          <a:noFill/>
          <a:ln w="0">
            <a:noFill/>
          </a:ln>
        </p:spPr>
        <p:txBody>
          <a:bodyPr wrap="square" lIns="0" tIns="0" rIns="0" bIns="0" anchor="ctr">
            <a:noAutofit/>
          </a:bodyPr>
          <a:lstStyle/>
          <a:p>
            <a:pPr algn="l">
              <a:buNone/>
              <a:defRPr sz="2400" b="1">
                <a:solidFill>
                  <a:srgbClr val="FFFFFF"/>
                </a:solidFill>
                <a:latin typeface="Cambria"/>
                <a:ea typeface="Cambria"/>
                <a:cs typeface="Cambria"/>
              </a:defRPr>
            </a:pPr>
            <a:r>
              <a:rPr sz="2400" b="1">
                <a:solidFill>
                  <a:srgbClr val="FFFFFF"/>
                </a:solidFill>
                <a:latin typeface="Cambria"/>
                <a:ea typeface="Cambria"/>
                <a:cs typeface="Cambria"/>
              </a:rPr>
              <a:t>Person</a:t>
            </a:r>
          </a:p>
        </p:txBody>
      </p:sp>
      <p:sp>
        <p:nvSpPr>
          <p:cNvPr id="5" name="pillar-question-0">
            <a:extLst>
              <a:ext uri="{FF2B5EF4-FFF2-40B4-BE49-F238E27FC236}">
                <a16:creationId xmlns:a16="http://schemas.microsoft.com/office/drawing/2014/main" id="{6C3D0A02-AD1A-43DB-8DDD-DAB1F62038B1}"/>
              </a:ext>
            </a:extLst>
          </p:cNvPr>
          <p:cNvSpPr>
            <a:spLocks noGrp="1"/>
          </p:cNvSpPr>
          <p:nvPr/>
        </p:nvSpPr>
        <p:spPr>
          <a:xfrm>
            <a:off x="838200" y="2505075"/>
            <a:ext cx="2952750" cy="285750"/>
          </a:xfrm>
          <a:prstGeom prst="rect">
            <a:avLst/>
          </a:prstGeom>
          <a:noFill/>
          <a:ln w="0">
            <a:noFill/>
          </a:ln>
        </p:spPr>
        <p:txBody>
          <a:bodyPr wrap="square" lIns="0" tIns="0" rIns="0" bIns="0" anchor="ctr">
            <a:noAutofit/>
          </a:bodyPr>
          <a:lstStyle/>
          <a:p>
            <a:pPr algn="l">
              <a:buNone/>
              <a:defRPr sz="1800" b="1">
                <a:solidFill>
                  <a:srgbClr val="C9A227"/>
                </a:solidFill>
                <a:latin typeface="Calibri"/>
                <a:ea typeface="Calibri"/>
                <a:cs typeface="Calibri"/>
              </a:defRPr>
            </a:pPr>
            <a:r>
              <a:rPr sz="1800" b="1">
                <a:solidFill>
                  <a:srgbClr val="C9A227"/>
                </a:solidFill>
                <a:latin typeface="Calibri"/>
                <a:ea typeface="Calibri"/>
                <a:cs typeface="Calibri"/>
              </a:rPr>
              <a:t>Für wen?</a:t>
            </a:r>
          </a:p>
        </p:txBody>
      </p:sp>
      <p:sp>
        <p:nvSpPr>
          <p:cNvPr id="6" name="pillar-description-0">
            <a:extLst>
              <a:ext uri="{FF2B5EF4-FFF2-40B4-BE49-F238E27FC236}">
                <a16:creationId xmlns:a16="http://schemas.microsoft.com/office/drawing/2014/main" id="{B1E128FB-CB9B-4464-98B3-E222236529CA}"/>
              </a:ext>
            </a:extLst>
          </p:cNvPr>
          <p:cNvSpPr>
            <a:spLocks noGrp="1"/>
          </p:cNvSpPr>
          <p:nvPr/>
        </p:nvSpPr>
        <p:spPr>
          <a:xfrm>
            <a:off x="838200" y="2857500"/>
            <a:ext cx="2952750" cy="571500"/>
          </a:xfrm>
          <a:prstGeom prst="rect">
            <a:avLst/>
          </a:prstGeom>
          <a:noFill/>
          <a:ln w="0">
            <a:noFill/>
          </a:ln>
        </p:spPr>
        <p:txBody>
          <a:bodyPr wrap="square" lIns="0" tIns="0" rIns="0" bIns="0" anchor="ctr">
            <a:noAutofit/>
          </a:bodyPr>
          <a:lstStyle/>
          <a:p>
            <a:pPr algn="l">
              <a:buNone/>
              <a:defRPr sz="1725" b="0">
                <a:solidFill>
                  <a:srgbClr val="EBDDE3"/>
                </a:solidFill>
                <a:latin typeface="Calibri"/>
                <a:ea typeface="Calibri"/>
                <a:cs typeface="Calibri"/>
              </a:defRPr>
            </a:pPr>
            <a:r>
              <a:rPr sz="1725" b="0">
                <a:solidFill>
                  <a:srgbClr val="EBDDE3"/>
                </a:solidFill>
                <a:latin typeface="Calibri"/>
                <a:ea typeface="Calibri"/>
                <a:cs typeface="Calibri"/>
              </a:rPr>
              <a:t>Personendaten und vergangene Geschenke</a:t>
            </a:r>
          </a:p>
        </p:txBody>
      </p:sp>
      <p:sp>
        <p:nvSpPr>
          <p:cNvPr id="7" name="pillar-1">
            <a:extLst>
              <a:ext uri="{FF2B5EF4-FFF2-40B4-BE49-F238E27FC236}">
                <a16:creationId xmlns:a16="http://schemas.microsoft.com/office/drawing/2014/main" id="{D55F9E50-C027-4B76-A972-BCBC471510E0}"/>
              </a:ext>
            </a:extLst>
          </p:cNvPr>
          <p:cNvSpPr>
            <a:spLocks noGrp="1"/>
          </p:cNvSpPr>
          <p:nvPr/>
        </p:nvSpPr>
        <p:spPr>
          <a:xfrm>
            <a:off x="4429125" y="1905000"/>
            <a:ext cx="3333750" cy="1666875"/>
          </a:xfrm>
          <a:prstGeom prst="roundRect">
            <a:avLst>
              <a:gd name="adj" fmla="val 6857"/>
            </a:avLst>
          </a:prstGeom>
          <a:solidFill>
            <a:srgbClr val="3E1B2C"/>
          </a:solidFill>
          <a:ln w="0">
            <a:noFill/>
          </a:ln>
        </p:spPr>
        <p:txBody>
          <a:bodyPr/>
          <a:lstStyle/>
          <a:p>
            <a:endParaRPr lang="de-DE"/>
          </a:p>
        </p:txBody>
      </p:sp>
      <p:sp>
        <p:nvSpPr>
          <p:cNvPr id="8" name="pillar-title-1">
            <a:extLst>
              <a:ext uri="{FF2B5EF4-FFF2-40B4-BE49-F238E27FC236}">
                <a16:creationId xmlns:a16="http://schemas.microsoft.com/office/drawing/2014/main" id="{4FD3C3C9-DABA-4805-BD26-7B09E18CE0A4}"/>
              </a:ext>
            </a:extLst>
          </p:cNvPr>
          <p:cNvSpPr>
            <a:spLocks noGrp="1"/>
          </p:cNvSpPr>
          <p:nvPr/>
        </p:nvSpPr>
        <p:spPr>
          <a:xfrm>
            <a:off x="4619625" y="2028825"/>
            <a:ext cx="2952750" cy="419100"/>
          </a:xfrm>
          <a:prstGeom prst="rect">
            <a:avLst/>
          </a:prstGeom>
          <a:noFill/>
          <a:ln w="0">
            <a:noFill/>
          </a:ln>
        </p:spPr>
        <p:txBody>
          <a:bodyPr wrap="square" lIns="0" tIns="0" rIns="0" bIns="0" anchor="ctr">
            <a:noAutofit/>
          </a:bodyPr>
          <a:lstStyle/>
          <a:p>
            <a:pPr algn="l">
              <a:buNone/>
              <a:defRPr sz="2400" b="1">
                <a:solidFill>
                  <a:srgbClr val="FFFFFF"/>
                </a:solidFill>
                <a:latin typeface="Cambria"/>
                <a:ea typeface="Cambria"/>
                <a:cs typeface="Cambria"/>
              </a:defRPr>
            </a:pPr>
            <a:r>
              <a:rPr sz="2400" b="1">
                <a:solidFill>
                  <a:srgbClr val="FFFFFF"/>
                </a:solidFill>
                <a:latin typeface="Cambria"/>
                <a:ea typeface="Cambria"/>
                <a:cs typeface="Cambria"/>
              </a:rPr>
              <a:t>Anlass</a:t>
            </a:r>
          </a:p>
        </p:txBody>
      </p:sp>
      <p:sp>
        <p:nvSpPr>
          <p:cNvPr id="9" name="pillar-question-1">
            <a:extLst>
              <a:ext uri="{FF2B5EF4-FFF2-40B4-BE49-F238E27FC236}">
                <a16:creationId xmlns:a16="http://schemas.microsoft.com/office/drawing/2014/main" id="{99F397A8-B68B-4637-9D49-659CD91051BF}"/>
              </a:ext>
            </a:extLst>
          </p:cNvPr>
          <p:cNvSpPr>
            <a:spLocks noGrp="1"/>
          </p:cNvSpPr>
          <p:nvPr/>
        </p:nvSpPr>
        <p:spPr>
          <a:xfrm>
            <a:off x="4619625" y="2505075"/>
            <a:ext cx="2952750" cy="285750"/>
          </a:xfrm>
          <a:prstGeom prst="rect">
            <a:avLst/>
          </a:prstGeom>
          <a:noFill/>
          <a:ln w="0">
            <a:noFill/>
          </a:ln>
        </p:spPr>
        <p:txBody>
          <a:bodyPr wrap="square" lIns="0" tIns="0" rIns="0" bIns="0" anchor="ctr">
            <a:noAutofit/>
          </a:bodyPr>
          <a:lstStyle/>
          <a:p>
            <a:pPr algn="l">
              <a:buNone/>
              <a:defRPr sz="1800" b="1">
                <a:solidFill>
                  <a:srgbClr val="C9A227"/>
                </a:solidFill>
                <a:latin typeface="Calibri"/>
                <a:ea typeface="Calibri"/>
                <a:cs typeface="Calibri"/>
              </a:defRPr>
            </a:pPr>
            <a:r>
              <a:rPr sz="1800" b="1">
                <a:solidFill>
                  <a:srgbClr val="C9A227"/>
                </a:solidFill>
                <a:latin typeface="Calibri"/>
                <a:ea typeface="Calibri"/>
                <a:cs typeface="Calibri"/>
              </a:rPr>
              <a:t>Zu welchem Termin?</a:t>
            </a:r>
          </a:p>
        </p:txBody>
      </p:sp>
      <p:sp>
        <p:nvSpPr>
          <p:cNvPr id="10" name="pillar-description-1">
            <a:extLst>
              <a:ext uri="{FF2B5EF4-FFF2-40B4-BE49-F238E27FC236}">
                <a16:creationId xmlns:a16="http://schemas.microsoft.com/office/drawing/2014/main" id="{14B7F46E-5807-4B09-99CD-F5AAB0875D6D}"/>
              </a:ext>
            </a:extLst>
          </p:cNvPr>
          <p:cNvSpPr>
            <a:spLocks noGrp="1"/>
          </p:cNvSpPr>
          <p:nvPr/>
        </p:nvSpPr>
        <p:spPr>
          <a:xfrm>
            <a:off x="4619625" y="2857500"/>
            <a:ext cx="2952750" cy="571500"/>
          </a:xfrm>
          <a:prstGeom prst="rect">
            <a:avLst/>
          </a:prstGeom>
          <a:noFill/>
          <a:ln w="0">
            <a:noFill/>
          </a:ln>
        </p:spPr>
        <p:txBody>
          <a:bodyPr wrap="square" lIns="0" tIns="0" rIns="0" bIns="0" anchor="ctr">
            <a:noAutofit/>
          </a:bodyPr>
          <a:lstStyle/>
          <a:p>
            <a:pPr algn="l">
              <a:buNone/>
              <a:defRPr sz="1725" b="0">
                <a:solidFill>
                  <a:srgbClr val="EBDDE3"/>
                </a:solidFill>
                <a:latin typeface="Calibri"/>
                <a:ea typeface="Calibri"/>
                <a:cs typeface="Calibri"/>
              </a:defRPr>
            </a:pPr>
            <a:r>
              <a:rPr sz="1725" b="0">
                <a:solidFill>
                  <a:srgbClr val="EBDDE3"/>
                </a:solidFill>
                <a:latin typeface="Calibri"/>
                <a:ea typeface="Calibri"/>
                <a:cs typeface="Calibri"/>
              </a:rPr>
              <a:t>Geburtstag, Weihnachten und eigene Anlässe</a:t>
            </a:r>
          </a:p>
        </p:txBody>
      </p:sp>
      <p:sp>
        <p:nvSpPr>
          <p:cNvPr id="11" name="pillar-2">
            <a:extLst>
              <a:ext uri="{FF2B5EF4-FFF2-40B4-BE49-F238E27FC236}">
                <a16:creationId xmlns:a16="http://schemas.microsoft.com/office/drawing/2014/main" id="{6C6DE23B-F151-4E42-AAAC-C5B928BE5D57}"/>
              </a:ext>
            </a:extLst>
          </p:cNvPr>
          <p:cNvSpPr>
            <a:spLocks noGrp="1"/>
          </p:cNvSpPr>
          <p:nvPr/>
        </p:nvSpPr>
        <p:spPr>
          <a:xfrm>
            <a:off x="8210550" y="1905000"/>
            <a:ext cx="3333750" cy="1666875"/>
          </a:xfrm>
          <a:prstGeom prst="roundRect">
            <a:avLst>
              <a:gd name="adj" fmla="val 6857"/>
            </a:avLst>
          </a:prstGeom>
          <a:solidFill>
            <a:srgbClr val="3E1B2C"/>
          </a:solidFill>
          <a:ln w="0">
            <a:noFill/>
          </a:ln>
        </p:spPr>
        <p:txBody>
          <a:bodyPr/>
          <a:lstStyle/>
          <a:p>
            <a:endParaRPr lang="de-DE"/>
          </a:p>
        </p:txBody>
      </p:sp>
      <p:sp>
        <p:nvSpPr>
          <p:cNvPr id="12" name="pillar-title-2">
            <a:extLst>
              <a:ext uri="{FF2B5EF4-FFF2-40B4-BE49-F238E27FC236}">
                <a16:creationId xmlns:a16="http://schemas.microsoft.com/office/drawing/2014/main" id="{80C45871-E2B5-4FC6-8DAF-614D7E47B2CE}"/>
              </a:ext>
            </a:extLst>
          </p:cNvPr>
          <p:cNvSpPr>
            <a:spLocks noGrp="1"/>
          </p:cNvSpPr>
          <p:nvPr/>
        </p:nvSpPr>
        <p:spPr>
          <a:xfrm>
            <a:off x="8401050" y="2028825"/>
            <a:ext cx="2952750" cy="419100"/>
          </a:xfrm>
          <a:prstGeom prst="rect">
            <a:avLst/>
          </a:prstGeom>
          <a:noFill/>
          <a:ln w="0">
            <a:noFill/>
          </a:ln>
        </p:spPr>
        <p:txBody>
          <a:bodyPr wrap="square" lIns="0" tIns="0" rIns="0" bIns="0" anchor="ctr">
            <a:noAutofit/>
          </a:bodyPr>
          <a:lstStyle/>
          <a:p>
            <a:pPr algn="l">
              <a:buNone/>
              <a:defRPr sz="2400" b="1">
                <a:solidFill>
                  <a:srgbClr val="FFFFFF"/>
                </a:solidFill>
                <a:latin typeface="Cambria"/>
                <a:ea typeface="Cambria"/>
                <a:cs typeface="Cambria"/>
              </a:defRPr>
            </a:pPr>
            <a:r>
              <a:rPr sz="2400" b="1">
                <a:solidFill>
                  <a:srgbClr val="FFFFFF"/>
                </a:solidFill>
                <a:latin typeface="Cambria"/>
                <a:ea typeface="Cambria"/>
                <a:cs typeface="Cambria"/>
              </a:rPr>
              <a:t>Geschenk / Idee</a:t>
            </a:r>
          </a:p>
        </p:txBody>
      </p:sp>
      <p:sp>
        <p:nvSpPr>
          <p:cNvPr id="13" name="pillar-question-2">
            <a:extLst>
              <a:ext uri="{FF2B5EF4-FFF2-40B4-BE49-F238E27FC236}">
                <a16:creationId xmlns:a16="http://schemas.microsoft.com/office/drawing/2014/main" id="{7C49E738-88E9-4942-B895-81353F7DF3EA}"/>
              </a:ext>
            </a:extLst>
          </p:cNvPr>
          <p:cNvSpPr>
            <a:spLocks noGrp="1"/>
          </p:cNvSpPr>
          <p:nvPr/>
        </p:nvSpPr>
        <p:spPr>
          <a:xfrm>
            <a:off x="8401050" y="2505075"/>
            <a:ext cx="2952750" cy="285750"/>
          </a:xfrm>
          <a:prstGeom prst="rect">
            <a:avLst/>
          </a:prstGeom>
          <a:noFill/>
          <a:ln w="0">
            <a:noFill/>
          </a:ln>
        </p:spPr>
        <p:txBody>
          <a:bodyPr wrap="square" lIns="0" tIns="0" rIns="0" bIns="0" anchor="ctr">
            <a:noAutofit/>
          </a:bodyPr>
          <a:lstStyle/>
          <a:p>
            <a:pPr algn="l">
              <a:buNone/>
              <a:defRPr sz="1800" b="1">
                <a:solidFill>
                  <a:srgbClr val="C9A227"/>
                </a:solidFill>
                <a:latin typeface="Calibri"/>
                <a:ea typeface="Calibri"/>
                <a:cs typeface="Calibri"/>
              </a:defRPr>
            </a:pPr>
            <a:r>
              <a:rPr sz="1800" b="1">
                <a:solidFill>
                  <a:srgbClr val="C9A227"/>
                </a:solidFill>
                <a:latin typeface="Calibri"/>
                <a:ea typeface="Calibri"/>
                <a:cs typeface="Calibri"/>
              </a:rPr>
              <a:t>Was könnte passen?</a:t>
            </a:r>
          </a:p>
        </p:txBody>
      </p:sp>
      <p:sp>
        <p:nvSpPr>
          <p:cNvPr id="14" name="pillar-description-2">
            <a:extLst>
              <a:ext uri="{FF2B5EF4-FFF2-40B4-BE49-F238E27FC236}">
                <a16:creationId xmlns:a16="http://schemas.microsoft.com/office/drawing/2014/main" id="{BE4CB57A-57C6-4609-8536-6FF86B1EC141}"/>
              </a:ext>
            </a:extLst>
          </p:cNvPr>
          <p:cNvSpPr>
            <a:spLocks noGrp="1"/>
          </p:cNvSpPr>
          <p:nvPr/>
        </p:nvSpPr>
        <p:spPr>
          <a:xfrm>
            <a:off x="8401050" y="2857500"/>
            <a:ext cx="2952750" cy="571500"/>
          </a:xfrm>
          <a:prstGeom prst="rect">
            <a:avLst/>
          </a:prstGeom>
          <a:noFill/>
          <a:ln w="0">
            <a:noFill/>
          </a:ln>
        </p:spPr>
        <p:txBody>
          <a:bodyPr wrap="square" lIns="0" tIns="0" rIns="0" bIns="0" anchor="ctr">
            <a:noAutofit/>
          </a:bodyPr>
          <a:lstStyle/>
          <a:p>
            <a:pPr algn="l">
              <a:buNone/>
              <a:defRPr sz="1725" b="0">
                <a:solidFill>
                  <a:srgbClr val="EBDDE3"/>
                </a:solidFill>
                <a:latin typeface="Calibri"/>
                <a:ea typeface="Calibri"/>
                <a:cs typeface="Calibri"/>
              </a:defRPr>
            </a:pPr>
            <a:r>
              <a:rPr sz="1725" b="0">
                <a:solidFill>
                  <a:srgbClr val="EBDDE3"/>
                </a:solidFill>
                <a:latin typeface="Calibri"/>
                <a:ea typeface="Calibri"/>
                <a:cs typeface="Calibri"/>
              </a:rPr>
              <a:t>Schnell festhalten als Text, Link oder Bild</a:t>
            </a:r>
          </a:p>
        </p:txBody>
      </p:sp>
      <p:sp>
        <p:nvSpPr>
          <p:cNvPr id="15" name="independent">
            <a:extLst>
              <a:ext uri="{FF2B5EF4-FFF2-40B4-BE49-F238E27FC236}">
                <a16:creationId xmlns:a16="http://schemas.microsoft.com/office/drawing/2014/main" id="{631CC134-6F98-4CB5-A656-D008531F0309}"/>
              </a:ext>
            </a:extLst>
          </p:cNvPr>
          <p:cNvSpPr>
            <a:spLocks noGrp="1"/>
          </p:cNvSpPr>
          <p:nvPr/>
        </p:nvSpPr>
        <p:spPr>
          <a:xfrm>
            <a:off x="647700" y="1495425"/>
            <a:ext cx="10896600" cy="304800"/>
          </a:xfrm>
          <a:prstGeom prst="rect">
            <a:avLst/>
          </a:prstGeom>
          <a:noFill/>
          <a:ln w="0">
            <a:noFill/>
          </a:ln>
        </p:spPr>
        <p:txBody>
          <a:bodyPr wrap="square" lIns="0" tIns="0" rIns="0" bIns="0" anchor="ctr">
            <a:noAutofit/>
          </a:bodyPr>
          <a:lstStyle/>
          <a:p>
            <a:pPr algn="l">
              <a:buNone/>
              <a:defRPr sz="1725" b="0">
                <a:solidFill>
                  <a:srgbClr val="EBDDE3"/>
                </a:solidFill>
                <a:latin typeface="Calibri"/>
                <a:ea typeface="Calibri"/>
                <a:cs typeface="Calibri"/>
              </a:defRPr>
            </a:pPr>
            <a:r>
              <a:rPr sz="1725" b="0">
                <a:solidFill>
                  <a:srgbClr val="EBDDE3"/>
                </a:solidFill>
                <a:latin typeface="Calibri"/>
                <a:ea typeface="Calibri"/>
                <a:cs typeface="Calibri"/>
              </a:rPr>
              <a:t>Unabhängig erfassen und flexibel miteinander verknüpfen</a:t>
            </a:r>
          </a:p>
        </p:txBody>
      </p:sp>
      <p:sp>
        <p:nvSpPr>
          <p:cNvPr id="16" name="concrete-gift">
            <a:extLst>
              <a:ext uri="{FF2B5EF4-FFF2-40B4-BE49-F238E27FC236}">
                <a16:creationId xmlns:a16="http://schemas.microsoft.com/office/drawing/2014/main" id="{A6E14C61-3672-4F09-A41C-09FABEA20980}"/>
              </a:ext>
            </a:extLst>
          </p:cNvPr>
          <p:cNvSpPr>
            <a:spLocks noGrp="1"/>
          </p:cNvSpPr>
          <p:nvPr/>
        </p:nvSpPr>
        <p:spPr>
          <a:xfrm>
            <a:off x="647700" y="3971925"/>
            <a:ext cx="10896600" cy="828675"/>
          </a:xfrm>
          <a:prstGeom prst="roundRect">
            <a:avLst>
              <a:gd name="adj" fmla="val 11494"/>
            </a:avLst>
          </a:prstGeom>
          <a:solidFill>
            <a:srgbClr val="FFFFFF"/>
          </a:solidFill>
          <a:ln w="0">
            <a:noFill/>
          </a:ln>
        </p:spPr>
        <p:txBody>
          <a:bodyPr/>
          <a:lstStyle/>
          <a:p>
            <a:endParaRPr lang="de-DE"/>
          </a:p>
        </p:txBody>
      </p:sp>
      <p:cxnSp>
        <p:nvCxnSpPr>
          <p:cNvPr id="66" name="Gerade Verbindung mit Pfeil 65"/>
          <p:cNvCxnSpPr>
            <a:stCxn id="3" idx="2"/>
            <a:endCxn id="16" idx="0"/>
          </p:cNvCxnSpPr>
          <p:nvPr/>
        </p:nvCxnSpPr>
        <p:spPr>
          <a:xfrm>
            <a:off x="2314575" y="3571875"/>
            <a:ext cx="3781425" cy="400050"/>
          </a:xfrm>
          <a:prstGeom prst="straightConnector1">
            <a:avLst/>
          </a:prstGeom>
          <a:ln w="19050">
            <a:solidFill>
              <a:srgbClr val="C9A227"/>
            </a:solidFill>
          </a:ln>
        </p:spPr>
      </p:cxnSp>
      <p:cxnSp>
        <p:nvCxnSpPr>
          <p:cNvPr id="67" name="Gerade Verbindung mit Pfeil 66"/>
          <p:cNvCxnSpPr>
            <a:stCxn id="7" idx="2"/>
            <a:endCxn id="16" idx="0"/>
          </p:cNvCxnSpPr>
          <p:nvPr/>
        </p:nvCxnSpPr>
        <p:spPr>
          <a:xfrm>
            <a:off x="6096000" y="3571875"/>
            <a:ext cx="0" cy="400050"/>
          </a:xfrm>
          <a:prstGeom prst="straightConnector1">
            <a:avLst/>
          </a:prstGeom>
          <a:ln w="19050">
            <a:solidFill>
              <a:srgbClr val="C9A227"/>
            </a:solidFill>
          </a:ln>
        </p:spPr>
      </p:cxnSp>
      <p:cxnSp>
        <p:nvCxnSpPr>
          <p:cNvPr id="68" name="Gerade Verbindung mit Pfeil 67"/>
          <p:cNvCxnSpPr>
            <a:stCxn id="11" idx="2"/>
            <a:endCxn id="16" idx="0"/>
          </p:cNvCxnSpPr>
          <p:nvPr/>
        </p:nvCxnSpPr>
        <p:spPr>
          <a:xfrm flipH="1">
            <a:off x="6096000" y="3571875"/>
            <a:ext cx="3781425" cy="400050"/>
          </a:xfrm>
          <a:prstGeom prst="straightConnector1">
            <a:avLst/>
          </a:prstGeom>
          <a:ln w="19050">
            <a:solidFill>
              <a:srgbClr val="C9A227"/>
            </a:solidFill>
          </a:ln>
        </p:spPr>
      </p:cxnSp>
      <p:sp>
        <p:nvSpPr>
          <p:cNvPr id="20" name="concrete-title">
            <a:extLst>
              <a:ext uri="{FF2B5EF4-FFF2-40B4-BE49-F238E27FC236}">
                <a16:creationId xmlns:a16="http://schemas.microsoft.com/office/drawing/2014/main" id="{F34F7794-2529-4C5F-AE66-9F18D6127FC9}"/>
              </a:ext>
            </a:extLst>
          </p:cNvPr>
          <p:cNvSpPr>
            <a:spLocks noGrp="1"/>
          </p:cNvSpPr>
          <p:nvPr/>
        </p:nvSpPr>
        <p:spPr>
          <a:xfrm>
            <a:off x="857250" y="4048125"/>
            <a:ext cx="3143250" cy="352425"/>
          </a:xfrm>
          <a:prstGeom prst="rect">
            <a:avLst/>
          </a:prstGeom>
          <a:noFill/>
          <a:ln w="0">
            <a:noFill/>
          </a:ln>
        </p:spPr>
        <p:txBody>
          <a:bodyPr wrap="square" lIns="0" tIns="0" rIns="0" bIns="0" anchor="ctr">
            <a:noAutofit/>
          </a:bodyPr>
          <a:lstStyle/>
          <a:p>
            <a:pPr algn="l">
              <a:buNone/>
              <a:defRPr sz="2025" b="1">
                <a:solidFill>
                  <a:srgbClr val="6D2E46"/>
                </a:solidFill>
                <a:latin typeface="Cambria"/>
                <a:ea typeface="Cambria"/>
                <a:cs typeface="Cambria"/>
              </a:defRPr>
            </a:pPr>
            <a:r>
              <a:rPr sz="2025" b="1">
                <a:solidFill>
                  <a:srgbClr val="6D2E46"/>
                </a:solidFill>
                <a:latin typeface="Cambria"/>
                <a:ea typeface="Cambria"/>
                <a:cs typeface="Cambria"/>
              </a:rPr>
              <a:t>Konkrete Beschenkung</a:t>
            </a:r>
          </a:p>
        </p:txBody>
      </p:sp>
      <p:sp>
        <p:nvSpPr>
          <p:cNvPr id="21" name="concrete-sub">
            <a:extLst>
              <a:ext uri="{FF2B5EF4-FFF2-40B4-BE49-F238E27FC236}">
                <a16:creationId xmlns:a16="http://schemas.microsoft.com/office/drawing/2014/main" id="{E14E433C-55F1-4A00-8F6C-DA4FA1352C2F}"/>
              </a:ext>
            </a:extLst>
          </p:cNvPr>
          <p:cNvSpPr>
            <a:spLocks noGrp="1"/>
          </p:cNvSpPr>
          <p:nvPr/>
        </p:nvSpPr>
        <p:spPr>
          <a:xfrm>
            <a:off x="857250" y="4400550"/>
            <a:ext cx="3810000" cy="257175"/>
          </a:xfrm>
          <a:prstGeom prst="rect">
            <a:avLst/>
          </a:prstGeom>
          <a:noFill/>
          <a:ln w="0">
            <a:noFill/>
          </a:ln>
        </p:spPr>
        <p:txBody>
          <a:bodyPr wrap="square" lIns="0" tIns="0" rIns="0" bIns="0" anchor="ctr">
            <a:noAutofit/>
          </a:bodyPr>
          <a:lstStyle/>
          <a:p>
            <a:pPr algn="l">
              <a:buNone/>
              <a:defRPr sz="1500" b="0">
                <a:solidFill>
                  <a:srgbClr val="7A6E74"/>
                </a:solidFill>
                <a:latin typeface="Calibri"/>
                <a:ea typeface="Calibri"/>
                <a:cs typeface="Calibri"/>
              </a:defRPr>
            </a:pPr>
            <a:r>
              <a:rPr sz="1500" b="0">
                <a:solidFill>
                  <a:srgbClr val="7A6E74"/>
                </a:solidFill>
                <a:latin typeface="Calibri"/>
                <a:ea typeface="Calibri"/>
                <a:cs typeface="Calibri"/>
              </a:rPr>
              <a:t>Eigener Status und eigene Aufgaben</a:t>
            </a:r>
          </a:p>
        </p:txBody>
      </p:sp>
      <p:sp>
        <p:nvSpPr>
          <p:cNvPr id="22" name="status-flow">
            <a:extLst>
              <a:ext uri="{FF2B5EF4-FFF2-40B4-BE49-F238E27FC236}">
                <a16:creationId xmlns:a16="http://schemas.microsoft.com/office/drawing/2014/main" id="{2F23C28A-5B1D-4304-A0AE-C081E0ABFF7C}"/>
              </a:ext>
            </a:extLst>
          </p:cNvPr>
          <p:cNvSpPr>
            <a:spLocks noGrp="1"/>
          </p:cNvSpPr>
          <p:nvPr/>
        </p:nvSpPr>
        <p:spPr>
          <a:xfrm>
            <a:off x="4953000" y="4105275"/>
            <a:ext cx="6334125" cy="476250"/>
          </a:xfrm>
          <a:prstGeom prst="rect">
            <a:avLst/>
          </a:prstGeom>
          <a:noFill/>
          <a:ln w="0">
            <a:noFill/>
          </a:ln>
        </p:spPr>
        <p:txBody>
          <a:bodyPr wrap="square" lIns="0" tIns="0" rIns="0" bIns="0" anchor="ctr">
            <a:noAutofit/>
          </a:bodyPr>
          <a:lstStyle/>
          <a:p>
            <a:pPr algn="l">
              <a:buNone/>
              <a:defRPr sz="2025" b="1">
                <a:solidFill>
                  <a:srgbClr val="6D2E46"/>
                </a:solidFill>
                <a:latin typeface="Calibri"/>
                <a:ea typeface="Calibri"/>
                <a:cs typeface="Calibri"/>
              </a:defRPr>
            </a:pPr>
            <a:r>
              <a:rPr sz="2025" b="1">
                <a:solidFill>
                  <a:srgbClr val="6D2E46"/>
                </a:solidFill>
                <a:latin typeface="Calibri"/>
                <a:ea typeface="Calibri"/>
                <a:cs typeface="Calibri"/>
              </a:rPr>
              <a:t>Idee  →  Geplant  →  Besorgt  →  Verschenkt</a:t>
            </a:r>
          </a:p>
        </p:txBody>
      </p:sp>
      <p:sp>
        <p:nvSpPr>
          <p:cNvPr id="23" name="function-0">
            <a:extLst>
              <a:ext uri="{FF2B5EF4-FFF2-40B4-BE49-F238E27FC236}">
                <a16:creationId xmlns:a16="http://schemas.microsoft.com/office/drawing/2014/main" id="{3D4456AE-0410-4F78-AF9A-4D7EE6127A64}"/>
              </a:ext>
            </a:extLst>
          </p:cNvPr>
          <p:cNvSpPr>
            <a:spLocks noGrp="1"/>
          </p:cNvSpPr>
          <p:nvPr/>
        </p:nvSpPr>
        <p:spPr>
          <a:xfrm>
            <a:off x="647700" y="5076825"/>
            <a:ext cx="3333750" cy="352425"/>
          </a:xfrm>
          <a:prstGeom prst="rect">
            <a:avLst/>
          </a:prstGeom>
          <a:noFill/>
          <a:ln w="0">
            <a:noFill/>
          </a:ln>
        </p:spPr>
        <p:txBody>
          <a:bodyPr wrap="square" lIns="0" tIns="0" rIns="0" bIns="0" anchor="ctr">
            <a:noAutofit/>
          </a:bodyPr>
          <a:lstStyle/>
          <a:p>
            <a:pPr algn="l">
              <a:buNone/>
              <a:defRPr sz="1950" b="1">
                <a:solidFill>
                  <a:srgbClr val="FFFFFF"/>
                </a:solidFill>
                <a:latin typeface="Calibri"/>
                <a:ea typeface="Calibri"/>
                <a:cs typeface="Calibri"/>
              </a:defRPr>
            </a:pPr>
            <a:r>
              <a:rPr sz="1950" b="1">
                <a:solidFill>
                  <a:srgbClr val="FFFFFF"/>
                </a:solidFill>
                <a:latin typeface="Calibri"/>
                <a:ea typeface="Calibri"/>
                <a:cs typeface="Calibri"/>
              </a:rPr>
              <a:t>Rechtzeitig erinnern</a:t>
            </a:r>
          </a:p>
        </p:txBody>
      </p:sp>
      <p:sp>
        <p:nvSpPr>
          <p:cNvPr id="24" name="function-desc-0">
            <a:extLst>
              <a:ext uri="{FF2B5EF4-FFF2-40B4-BE49-F238E27FC236}">
                <a16:creationId xmlns:a16="http://schemas.microsoft.com/office/drawing/2014/main" id="{C1CCBC44-6F5C-4728-BAAA-1FD49AB1A537}"/>
              </a:ext>
            </a:extLst>
          </p:cNvPr>
          <p:cNvSpPr>
            <a:spLocks noGrp="1"/>
          </p:cNvSpPr>
          <p:nvPr/>
        </p:nvSpPr>
        <p:spPr>
          <a:xfrm>
            <a:off x="647700" y="5505450"/>
            <a:ext cx="3333750" cy="581025"/>
          </a:xfrm>
          <a:prstGeom prst="rect">
            <a:avLst/>
          </a:prstGeom>
          <a:noFill/>
          <a:ln w="0">
            <a:noFill/>
          </a:ln>
        </p:spPr>
        <p:txBody>
          <a:bodyPr wrap="square" lIns="0" tIns="0" rIns="0" bIns="0" anchor="ctr">
            <a:noAutofit/>
          </a:bodyPr>
          <a:lstStyle/>
          <a:p>
            <a:pPr algn="l">
              <a:buNone/>
              <a:defRPr sz="1650" b="0">
                <a:solidFill>
                  <a:srgbClr val="EBDDE3"/>
                </a:solidFill>
                <a:latin typeface="Calibri"/>
                <a:ea typeface="Calibri"/>
                <a:cs typeface="Calibri"/>
              </a:defRPr>
            </a:pPr>
            <a:r>
              <a:rPr sz="1650" b="0">
                <a:solidFill>
                  <a:srgbClr val="EBDDE3"/>
                </a:solidFill>
                <a:latin typeface="Calibri"/>
                <a:ea typeface="Calibri"/>
                <a:cs typeface="Calibri"/>
              </a:rPr>
              <a:t>Geburtstage und Weihnachtsplanung</a:t>
            </a:r>
          </a:p>
        </p:txBody>
      </p:sp>
      <p:sp>
        <p:nvSpPr>
          <p:cNvPr id="25" name="function-1">
            <a:extLst>
              <a:ext uri="{FF2B5EF4-FFF2-40B4-BE49-F238E27FC236}">
                <a16:creationId xmlns:a16="http://schemas.microsoft.com/office/drawing/2014/main" id="{F1B36D92-3E3B-4CE6-AA8D-B2384FCD435D}"/>
              </a:ext>
            </a:extLst>
          </p:cNvPr>
          <p:cNvSpPr>
            <a:spLocks noGrp="1"/>
          </p:cNvSpPr>
          <p:nvPr/>
        </p:nvSpPr>
        <p:spPr>
          <a:xfrm>
            <a:off x="4429125" y="5076825"/>
            <a:ext cx="3333750" cy="352425"/>
          </a:xfrm>
          <a:prstGeom prst="rect">
            <a:avLst/>
          </a:prstGeom>
          <a:noFill/>
          <a:ln w="0">
            <a:noFill/>
          </a:ln>
        </p:spPr>
        <p:txBody>
          <a:bodyPr wrap="square" lIns="0" tIns="0" rIns="0" bIns="0" anchor="ctr">
            <a:noAutofit/>
          </a:bodyPr>
          <a:lstStyle/>
          <a:p>
            <a:pPr algn="l">
              <a:buNone/>
              <a:defRPr sz="1950" b="1">
                <a:solidFill>
                  <a:srgbClr val="FFFFFF"/>
                </a:solidFill>
                <a:latin typeface="Calibri"/>
                <a:ea typeface="Calibri"/>
                <a:cs typeface="Calibri"/>
              </a:defRPr>
            </a:pPr>
            <a:r>
              <a:rPr sz="1950" b="1">
                <a:solidFill>
                  <a:srgbClr val="FFFFFF"/>
                </a:solidFill>
                <a:latin typeface="Calibri"/>
                <a:ea typeface="Calibri"/>
                <a:cs typeface="Calibri"/>
              </a:rPr>
              <a:t>Gezielt teilen</a:t>
            </a:r>
          </a:p>
        </p:txBody>
      </p:sp>
      <p:sp>
        <p:nvSpPr>
          <p:cNvPr id="26" name="function-desc-1">
            <a:extLst>
              <a:ext uri="{FF2B5EF4-FFF2-40B4-BE49-F238E27FC236}">
                <a16:creationId xmlns:a16="http://schemas.microsoft.com/office/drawing/2014/main" id="{E18F6F00-C67F-49C8-9391-A483AF1A9B9F}"/>
              </a:ext>
            </a:extLst>
          </p:cNvPr>
          <p:cNvSpPr>
            <a:spLocks noGrp="1"/>
          </p:cNvSpPr>
          <p:nvPr/>
        </p:nvSpPr>
        <p:spPr>
          <a:xfrm>
            <a:off x="4429125" y="5505450"/>
            <a:ext cx="3333750" cy="581025"/>
          </a:xfrm>
          <a:prstGeom prst="rect">
            <a:avLst/>
          </a:prstGeom>
          <a:noFill/>
          <a:ln w="0">
            <a:noFill/>
          </a:ln>
        </p:spPr>
        <p:txBody>
          <a:bodyPr wrap="square" lIns="0" tIns="0" rIns="0" bIns="0" anchor="ctr">
            <a:noAutofit/>
          </a:bodyPr>
          <a:lstStyle/>
          <a:p>
            <a:pPr algn="l">
              <a:buNone/>
              <a:defRPr sz="1650" b="0">
                <a:solidFill>
                  <a:srgbClr val="EBDDE3"/>
                </a:solidFill>
                <a:latin typeface="Calibri"/>
                <a:ea typeface="Calibri"/>
                <a:cs typeface="Calibri"/>
              </a:defRPr>
            </a:pPr>
            <a:r>
              <a:rPr sz="1650" b="0">
                <a:solidFill>
                  <a:srgbClr val="EBDDE3"/>
                </a:solidFill>
                <a:latin typeface="Calibri"/>
                <a:ea typeface="Calibri"/>
                <a:cs typeface="Calibri"/>
              </a:rPr>
              <a:t>Ausgewählte Ideen per Nur-Lese-Link</a:t>
            </a:r>
          </a:p>
        </p:txBody>
      </p:sp>
      <p:sp>
        <p:nvSpPr>
          <p:cNvPr id="27" name="function-2">
            <a:extLst>
              <a:ext uri="{FF2B5EF4-FFF2-40B4-BE49-F238E27FC236}">
                <a16:creationId xmlns:a16="http://schemas.microsoft.com/office/drawing/2014/main" id="{1C1F418D-793C-4014-BB88-F707A2BF405A}"/>
              </a:ext>
            </a:extLst>
          </p:cNvPr>
          <p:cNvSpPr>
            <a:spLocks noGrp="1"/>
          </p:cNvSpPr>
          <p:nvPr/>
        </p:nvSpPr>
        <p:spPr>
          <a:xfrm>
            <a:off x="8210550" y="5076825"/>
            <a:ext cx="3333750" cy="352425"/>
          </a:xfrm>
          <a:prstGeom prst="rect">
            <a:avLst/>
          </a:prstGeom>
          <a:noFill/>
          <a:ln w="0">
            <a:noFill/>
          </a:ln>
        </p:spPr>
        <p:txBody>
          <a:bodyPr wrap="square" lIns="0" tIns="0" rIns="0" bIns="0" anchor="ctr">
            <a:noAutofit/>
          </a:bodyPr>
          <a:lstStyle/>
          <a:p>
            <a:pPr algn="l">
              <a:buNone/>
              <a:defRPr sz="1950" b="1">
                <a:solidFill>
                  <a:srgbClr val="FFFFFF"/>
                </a:solidFill>
                <a:latin typeface="Calibri"/>
                <a:ea typeface="Calibri"/>
                <a:cs typeface="Calibri"/>
              </a:defRPr>
            </a:pPr>
            <a:r>
              <a:rPr sz="1950" b="1">
                <a:solidFill>
                  <a:srgbClr val="FFFFFF"/>
                </a:solidFill>
                <a:latin typeface="Calibri"/>
                <a:ea typeface="Calibri"/>
                <a:cs typeface="Calibri"/>
              </a:rPr>
              <a:t>Neue Ideen vorschlagen</a:t>
            </a:r>
          </a:p>
        </p:txBody>
      </p:sp>
      <p:sp>
        <p:nvSpPr>
          <p:cNvPr id="28" name="function-desc-2">
            <a:extLst>
              <a:ext uri="{FF2B5EF4-FFF2-40B4-BE49-F238E27FC236}">
                <a16:creationId xmlns:a16="http://schemas.microsoft.com/office/drawing/2014/main" id="{31DFF273-2CEE-4BED-80A4-83C041D8CC0A}"/>
              </a:ext>
            </a:extLst>
          </p:cNvPr>
          <p:cNvSpPr>
            <a:spLocks noGrp="1"/>
          </p:cNvSpPr>
          <p:nvPr/>
        </p:nvSpPr>
        <p:spPr>
          <a:xfrm>
            <a:off x="8210550" y="5505450"/>
            <a:ext cx="3333750" cy="581025"/>
          </a:xfrm>
          <a:prstGeom prst="rect">
            <a:avLst/>
          </a:prstGeom>
          <a:noFill/>
          <a:ln w="0">
            <a:noFill/>
          </a:ln>
        </p:spPr>
        <p:txBody>
          <a:bodyPr wrap="square" lIns="0" tIns="0" rIns="0" bIns="0" anchor="ctr">
            <a:noAutofit/>
          </a:bodyPr>
          <a:lstStyle/>
          <a:p>
            <a:pPr algn="l">
              <a:buNone/>
              <a:defRPr sz="1650" b="0">
                <a:solidFill>
                  <a:srgbClr val="EBDDE3"/>
                </a:solidFill>
                <a:latin typeface="Calibri"/>
                <a:ea typeface="Calibri"/>
                <a:cs typeface="Calibri"/>
              </a:defRPr>
            </a:pPr>
            <a:r>
              <a:rPr sz="1650" b="0">
                <a:solidFill>
                  <a:srgbClr val="EBDDE3"/>
                </a:solidFill>
                <a:latin typeface="Calibri"/>
                <a:ea typeface="Calibri"/>
                <a:cs typeface="Calibri"/>
              </a:rPr>
              <a:t>Aus anonymisierten, aggregierten Merkmalen</a:t>
            </a:r>
          </a:p>
        </p:txBody>
      </p:sp>
      <p:sp>
        <p:nvSpPr>
          <p:cNvPr id="29" name="privacy">
            <a:extLst>
              <a:ext uri="{FF2B5EF4-FFF2-40B4-BE49-F238E27FC236}">
                <a16:creationId xmlns:a16="http://schemas.microsoft.com/office/drawing/2014/main" id="{95D3E87B-F815-4C23-A26B-B8803EA7152E}"/>
              </a:ext>
            </a:extLst>
          </p:cNvPr>
          <p:cNvSpPr>
            <a:spLocks noGrp="1"/>
          </p:cNvSpPr>
          <p:nvPr/>
        </p:nvSpPr>
        <p:spPr>
          <a:xfrm>
            <a:off x="647700" y="6257925"/>
            <a:ext cx="10287000" cy="266700"/>
          </a:xfrm>
          <a:prstGeom prst="rect">
            <a:avLst/>
          </a:prstGeom>
          <a:noFill/>
          <a:ln w="0">
            <a:noFill/>
          </a:ln>
        </p:spPr>
        <p:txBody>
          <a:bodyPr wrap="square" lIns="0" tIns="0" rIns="0" bIns="0" anchor="ctr">
            <a:noAutofit/>
          </a:bodyPr>
          <a:lstStyle/>
          <a:p>
            <a:pPr algn="l">
              <a:buNone/>
              <a:defRPr sz="1425" b="0">
                <a:solidFill>
                  <a:srgbClr val="EBDDE3"/>
                </a:solidFill>
                <a:latin typeface="Calibri"/>
                <a:ea typeface="Calibri"/>
                <a:cs typeface="Calibri"/>
              </a:defRPr>
            </a:pPr>
            <a:r>
              <a:rPr sz="1425" b="0">
                <a:solidFill>
                  <a:srgbClr val="EBDDE3"/>
                </a:solidFill>
                <a:latin typeface="Calibri"/>
                <a:ea typeface="Calibri"/>
                <a:cs typeface="Calibri"/>
              </a:rPr>
              <a:t>Private Kontodaten bleiben geschützt. Freigaben sind gezielt und widerrufbar.</a:t>
            </a:r>
          </a:p>
        </p:txBody>
      </p:sp>
      <p:sp>
        <p:nvSpPr>
          <p:cNvPr id="30" name="page-number">
            <a:extLst>
              <a:ext uri="{FF2B5EF4-FFF2-40B4-BE49-F238E27FC236}">
                <a16:creationId xmlns:a16="http://schemas.microsoft.com/office/drawing/2014/main" id="{A0627E01-1187-4DF5-A3EA-08C7BEF32777}"/>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EBDDE3"/>
                </a:solidFill>
                <a:latin typeface="Calibri"/>
                <a:ea typeface="Calibri"/>
                <a:cs typeface="Calibri"/>
              </a:defRPr>
            </a:pPr>
            <a:r>
              <a:rPr sz="1125" b="0">
                <a:solidFill>
                  <a:srgbClr val="EBDDE3"/>
                </a:solidFill>
                <a:latin typeface="Calibri"/>
                <a:ea typeface="Calibri"/>
                <a:cs typeface="Calibri"/>
              </a:rPr>
              <a:t>03</a:t>
            </a:r>
          </a:p>
        </p:txBody>
      </p:sp>
    </p:spTree>
    <p:extLst>
      <p:ext uri="{BB962C8B-B14F-4D97-AF65-F5344CB8AC3E}">
        <p14:creationId xmlns:p14="http://schemas.microsoft.com/office/powerpoint/2010/main" val="1510048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ection-label">
            <a:extLst>
              <a:ext uri="{FF2B5EF4-FFF2-40B4-BE49-F238E27FC236}">
                <a16:creationId xmlns:a16="http://schemas.microsoft.com/office/drawing/2014/main" id="{D22551FD-9190-42D1-8274-BAA08104FB79}"/>
              </a:ext>
            </a:extLst>
          </p:cNvPr>
          <p:cNvSpPr>
            <a:spLocks noGrp="1"/>
          </p:cNvSpPr>
          <p:nvPr/>
        </p:nvSpPr>
        <p:spPr>
          <a:xfrm>
            <a:off x="647700" y="476250"/>
            <a:ext cx="10896600" cy="285750"/>
          </a:xfrm>
          <a:prstGeom prst="rect">
            <a:avLst/>
          </a:prstGeom>
          <a:noFill/>
          <a:ln w="0">
            <a:noFill/>
          </a:ln>
        </p:spPr>
        <p:txBody>
          <a:bodyPr wrap="square" lIns="0" tIns="0" rIns="0" bIns="0" anchor="ctr">
            <a:noAutofit/>
          </a:bodyPr>
          <a:lstStyle/>
          <a:p>
            <a:pPr algn="l">
              <a:buNone/>
              <a:defRPr sz="1200" b="1">
                <a:solidFill>
                  <a:srgbClr val="C9A227"/>
                </a:solidFill>
                <a:latin typeface="Calibri"/>
                <a:ea typeface="Calibri"/>
                <a:cs typeface="Calibri"/>
              </a:defRPr>
            </a:pPr>
            <a:r>
              <a:rPr sz="1200" b="1">
                <a:solidFill>
                  <a:srgbClr val="C9A227"/>
                </a:solidFill>
                <a:latin typeface="Calibri"/>
                <a:ea typeface="Calibri"/>
                <a:cs typeface="Calibri"/>
              </a:rPr>
              <a:t>DER INTERNE AUFBAU</a:t>
            </a:r>
          </a:p>
        </p:txBody>
      </p:sp>
      <p:sp>
        <p:nvSpPr>
          <p:cNvPr id="2" name="slide-title">
            <a:extLst>
              <a:ext uri="{FF2B5EF4-FFF2-40B4-BE49-F238E27FC236}">
                <a16:creationId xmlns:a16="http://schemas.microsoft.com/office/drawing/2014/main" id="{1013F488-1F31-478F-B7E8-C2BBA3FD9A22}"/>
              </a:ext>
            </a:extLst>
          </p:cNvPr>
          <p:cNvSpPr>
            <a:spLocks noGrp="1"/>
          </p:cNvSpPr>
          <p:nvPr/>
        </p:nvSpPr>
        <p:spPr>
          <a:xfrm>
            <a:off x="647700" y="866775"/>
            <a:ext cx="10896600" cy="714375"/>
          </a:xfrm>
          <a:prstGeom prst="rect">
            <a:avLst/>
          </a:prstGeom>
          <a:noFill/>
          <a:ln w="0">
            <a:noFill/>
          </a:ln>
        </p:spPr>
        <p:txBody>
          <a:bodyPr wrap="square" lIns="0" tIns="0" rIns="0" bIns="0" anchor="ctr">
            <a:noAutofit/>
          </a:bodyPr>
          <a:lstStyle/>
          <a:p>
            <a:pPr algn="l">
              <a:buNone/>
              <a:defRPr sz="3400" b="1">
                <a:solidFill>
                  <a:srgbClr val="6D2E46"/>
                </a:solidFill>
                <a:latin typeface="Cambria"/>
                <a:ea typeface="Cambria"/>
                <a:cs typeface="Cambria"/>
              </a:defRPr>
            </a:pPr>
            <a:r>
              <a:rPr sz="3400" b="1">
                <a:solidFill>
                  <a:srgbClr val="6D2E46"/>
                </a:solidFill>
                <a:latin typeface="Cambria"/>
                <a:ea typeface="Cambria"/>
                <a:cs typeface="Cambria"/>
              </a:rPr>
              <a:t>So arbeiten die Komponenten zusammen</a:t>
            </a:r>
          </a:p>
        </p:txBody>
      </p:sp>
      <p:sp>
        <p:nvSpPr>
          <p:cNvPr id="3" name="component-0">
            <a:extLst>
              <a:ext uri="{FF2B5EF4-FFF2-40B4-BE49-F238E27FC236}">
                <a16:creationId xmlns:a16="http://schemas.microsoft.com/office/drawing/2014/main" id="{077B8028-8ECD-4FA5-B29C-D7A58140ACEA}"/>
              </a:ext>
            </a:extLst>
          </p:cNvPr>
          <p:cNvSpPr>
            <a:spLocks noGrp="1"/>
          </p:cNvSpPr>
          <p:nvPr/>
        </p:nvSpPr>
        <p:spPr>
          <a:xfrm>
            <a:off x="647700" y="2257425"/>
            <a:ext cx="3333750" cy="2181225"/>
          </a:xfrm>
          <a:prstGeom prst="roundRect">
            <a:avLst>
              <a:gd name="adj" fmla="val 5240"/>
            </a:avLst>
          </a:prstGeom>
          <a:solidFill>
            <a:srgbClr val="F7F1F3"/>
          </a:solidFill>
          <a:ln w="0">
            <a:noFill/>
          </a:ln>
        </p:spPr>
        <p:txBody>
          <a:bodyPr/>
          <a:lstStyle/>
          <a:p>
            <a:endParaRPr lang="de-DE"/>
          </a:p>
        </p:txBody>
      </p:sp>
      <p:sp>
        <p:nvSpPr>
          <p:cNvPr id="4" name="comp-title-0">
            <a:extLst>
              <a:ext uri="{FF2B5EF4-FFF2-40B4-BE49-F238E27FC236}">
                <a16:creationId xmlns:a16="http://schemas.microsoft.com/office/drawing/2014/main" id="{691613AF-F2A0-4A12-B74B-26879907EA9A}"/>
              </a:ext>
            </a:extLst>
          </p:cNvPr>
          <p:cNvSpPr>
            <a:spLocks noGrp="1"/>
          </p:cNvSpPr>
          <p:nvPr/>
        </p:nvSpPr>
        <p:spPr>
          <a:xfrm>
            <a:off x="819150" y="2381250"/>
            <a:ext cx="2990850" cy="457200"/>
          </a:xfrm>
          <a:prstGeom prst="rect">
            <a:avLst/>
          </a:prstGeom>
          <a:noFill/>
          <a:ln w="0">
            <a:noFill/>
          </a:ln>
        </p:spPr>
        <p:txBody>
          <a:bodyPr wrap="square" lIns="0" tIns="0" rIns="0" bIns="0" anchor="ctr">
            <a:noAutofit/>
          </a:bodyPr>
          <a:lstStyle/>
          <a:p>
            <a:pPr algn="l">
              <a:buNone/>
              <a:defRPr sz="2550" b="1">
                <a:solidFill>
                  <a:srgbClr val="6D2E46"/>
                </a:solidFill>
                <a:latin typeface="Cambria"/>
                <a:ea typeface="Cambria"/>
                <a:cs typeface="Cambria"/>
              </a:defRPr>
            </a:pPr>
            <a:r>
              <a:rPr sz="2550" b="1">
                <a:solidFill>
                  <a:srgbClr val="6D2E46"/>
                </a:solidFill>
                <a:latin typeface="Cambria"/>
                <a:ea typeface="Cambria"/>
                <a:cs typeface="Cambria"/>
              </a:rPr>
              <a:t>Frontend</a:t>
            </a:r>
          </a:p>
        </p:txBody>
      </p:sp>
      <p:sp>
        <p:nvSpPr>
          <p:cNvPr id="5" name="comp-verb-0">
            <a:extLst>
              <a:ext uri="{FF2B5EF4-FFF2-40B4-BE49-F238E27FC236}">
                <a16:creationId xmlns:a16="http://schemas.microsoft.com/office/drawing/2014/main" id="{F99DE814-A00A-4133-8DA8-612D9C70A7A3}"/>
              </a:ext>
            </a:extLst>
          </p:cNvPr>
          <p:cNvSpPr>
            <a:spLocks noGrp="1"/>
          </p:cNvSpPr>
          <p:nvPr/>
        </p:nvSpPr>
        <p:spPr>
          <a:xfrm>
            <a:off x="819150" y="2962275"/>
            <a:ext cx="2990850" cy="352425"/>
          </a:xfrm>
          <a:prstGeom prst="rect">
            <a:avLst/>
          </a:prstGeom>
          <a:noFill/>
          <a:ln w="0">
            <a:noFill/>
          </a:ln>
        </p:spPr>
        <p:txBody>
          <a:bodyPr wrap="square" lIns="0" tIns="0" rIns="0" bIns="0" anchor="ctr">
            <a:noAutofit/>
          </a:bodyPr>
          <a:lstStyle/>
          <a:p>
            <a:pPr algn="l">
              <a:buNone/>
              <a:defRPr sz="1800" b="1">
                <a:solidFill>
                  <a:srgbClr val="2B2430"/>
                </a:solidFill>
                <a:latin typeface="Calibri"/>
                <a:ea typeface="Calibri"/>
                <a:cs typeface="Calibri"/>
              </a:defRPr>
            </a:pPr>
            <a:r>
              <a:rPr sz="1800" b="1">
                <a:solidFill>
                  <a:srgbClr val="2B2430"/>
                </a:solidFill>
                <a:latin typeface="Calibri"/>
                <a:ea typeface="Calibri"/>
                <a:cs typeface="Calibri"/>
              </a:rPr>
              <a:t>Bedienen und anzeigen</a:t>
            </a:r>
          </a:p>
        </p:txBody>
      </p:sp>
      <p:sp>
        <p:nvSpPr>
          <p:cNvPr id="6" name="comp-detail-0">
            <a:extLst>
              <a:ext uri="{FF2B5EF4-FFF2-40B4-BE49-F238E27FC236}">
                <a16:creationId xmlns:a16="http://schemas.microsoft.com/office/drawing/2014/main" id="{03B22209-558A-43F2-9DDB-B4903FB29843}"/>
              </a:ext>
            </a:extLst>
          </p:cNvPr>
          <p:cNvSpPr>
            <a:spLocks noGrp="1"/>
          </p:cNvSpPr>
          <p:nvPr/>
        </p:nvSpPr>
        <p:spPr>
          <a:xfrm>
            <a:off x="819150" y="3476625"/>
            <a:ext cx="2990850" cy="742950"/>
          </a:xfrm>
          <a:prstGeom prst="rect">
            <a:avLst/>
          </a:prstGeom>
          <a:noFill/>
          <a:ln w="0">
            <a:noFill/>
          </a:ln>
        </p:spPr>
        <p:txBody>
          <a:bodyPr wrap="square" lIns="0" tIns="0" rIns="0" bIns="0" anchor="ctr">
            <a:noAutofit/>
          </a:bodyPr>
          <a:lstStyle/>
          <a:p>
            <a:pPr algn="l">
              <a:buNone/>
              <a:defRPr sz="1725" b="0">
                <a:solidFill>
                  <a:srgbClr val="7A6E74"/>
                </a:solidFill>
                <a:latin typeface="Calibri"/>
                <a:ea typeface="Calibri"/>
                <a:cs typeface="Calibri"/>
              </a:defRPr>
            </a:pPr>
            <a:r>
              <a:rPr sz="1725" b="0">
                <a:solidFill>
                  <a:srgbClr val="7A6E74"/>
                </a:solidFill>
                <a:latin typeface="Calibri"/>
                <a:ea typeface="Calibri"/>
                <a:cs typeface="Calibri"/>
              </a:rPr>
              <a:t>Personen und Ideen erfassen</a:t>
            </a:r>
          </a:p>
          <a:p>
            <a:pPr algn="l">
              <a:buNone/>
              <a:defRPr sz="1725" b="0">
                <a:solidFill>
                  <a:srgbClr val="7A6E74"/>
                </a:solidFill>
                <a:latin typeface="Calibri"/>
                <a:ea typeface="Calibri"/>
                <a:cs typeface="Calibri"/>
              </a:defRPr>
            </a:pPr>
            <a:r>
              <a:rPr sz="1725" b="0">
                <a:solidFill>
                  <a:srgbClr val="7A6E74"/>
                </a:solidFill>
                <a:latin typeface="Calibri"/>
                <a:ea typeface="Calibri"/>
                <a:cs typeface="Calibri"/>
              </a:rPr>
              <a:t>Planung im Browser überblicken</a:t>
            </a:r>
          </a:p>
        </p:txBody>
      </p:sp>
      <p:sp>
        <p:nvSpPr>
          <p:cNvPr id="7" name="component-1">
            <a:extLst>
              <a:ext uri="{FF2B5EF4-FFF2-40B4-BE49-F238E27FC236}">
                <a16:creationId xmlns:a16="http://schemas.microsoft.com/office/drawing/2014/main" id="{5813BE45-787F-4172-8D52-03E99184D151}"/>
              </a:ext>
            </a:extLst>
          </p:cNvPr>
          <p:cNvSpPr>
            <a:spLocks noGrp="1"/>
          </p:cNvSpPr>
          <p:nvPr/>
        </p:nvSpPr>
        <p:spPr>
          <a:xfrm>
            <a:off x="4429125" y="2257425"/>
            <a:ext cx="3333750" cy="2181225"/>
          </a:xfrm>
          <a:prstGeom prst="roundRect">
            <a:avLst>
              <a:gd name="adj" fmla="val 5240"/>
            </a:avLst>
          </a:prstGeom>
          <a:solidFill>
            <a:srgbClr val="F7F1F3"/>
          </a:solidFill>
          <a:ln w="0">
            <a:noFill/>
          </a:ln>
        </p:spPr>
        <p:txBody>
          <a:bodyPr/>
          <a:lstStyle/>
          <a:p>
            <a:endParaRPr lang="de-DE"/>
          </a:p>
        </p:txBody>
      </p:sp>
      <p:sp>
        <p:nvSpPr>
          <p:cNvPr id="8" name="comp-title-1">
            <a:extLst>
              <a:ext uri="{FF2B5EF4-FFF2-40B4-BE49-F238E27FC236}">
                <a16:creationId xmlns:a16="http://schemas.microsoft.com/office/drawing/2014/main" id="{D9027020-54BB-4B3B-B6BF-21FCE9F7D522}"/>
              </a:ext>
            </a:extLst>
          </p:cNvPr>
          <p:cNvSpPr>
            <a:spLocks noGrp="1"/>
          </p:cNvSpPr>
          <p:nvPr/>
        </p:nvSpPr>
        <p:spPr>
          <a:xfrm>
            <a:off x="4600575" y="2381250"/>
            <a:ext cx="2990850" cy="457200"/>
          </a:xfrm>
          <a:prstGeom prst="rect">
            <a:avLst/>
          </a:prstGeom>
          <a:noFill/>
          <a:ln w="0">
            <a:noFill/>
          </a:ln>
        </p:spPr>
        <p:txBody>
          <a:bodyPr wrap="square" lIns="0" tIns="0" rIns="0" bIns="0" anchor="ctr">
            <a:noAutofit/>
          </a:bodyPr>
          <a:lstStyle/>
          <a:p>
            <a:pPr algn="l">
              <a:buNone/>
              <a:defRPr sz="2550" b="1">
                <a:solidFill>
                  <a:srgbClr val="6D2E46"/>
                </a:solidFill>
                <a:latin typeface="Cambria"/>
                <a:ea typeface="Cambria"/>
                <a:cs typeface="Cambria"/>
              </a:defRPr>
            </a:pPr>
            <a:r>
              <a:rPr sz="2550" b="1">
                <a:solidFill>
                  <a:srgbClr val="6D2E46"/>
                </a:solidFill>
                <a:latin typeface="Cambria"/>
                <a:ea typeface="Cambria"/>
                <a:cs typeface="Cambria"/>
              </a:rPr>
              <a:t>Backend</a:t>
            </a:r>
          </a:p>
        </p:txBody>
      </p:sp>
      <p:sp>
        <p:nvSpPr>
          <p:cNvPr id="9" name="comp-verb-1">
            <a:extLst>
              <a:ext uri="{FF2B5EF4-FFF2-40B4-BE49-F238E27FC236}">
                <a16:creationId xmlns:a16="http://schemas.microsoft.com/office/drawing/2014/main" id="{228DE565-0C09-4229-9C62-97B6FD5FBE0E}"/>
              </a:ext>
            </a:extLst>
          </p:cNvPr>
          <p:cNvSpPr>
            <a:spLocks noGrp="1"/>
          </p:cNvSpPr>
          <p:nvPr/>
        </p:nvSpPr>
        <p:spPr>
          <a:xfrm>
            <a:off x="4600575" y="2962275"/>
            <a:ext cx="2990850" cy="352425"/>
          </a:xfrm>
          <a:prstGeom prst="rect">
            <a:avLst/>
          </a:prstGeom>
          <a:noFill/>
          <a:ln w="0">
            <a:noFill/>
          </a:ln>
        </p:spPr>
        <p:txBody>
          <a:bodyPr wrap="square" lIns="0" tIns="0" rIns="0" bIns="0" anchor="ctr">
            <a:noAutofit/>
          </a:bodyPr>
          <a:lstStyle/>
          <a:p>
            <a:pPr algn="l">
              <a:buNone/>
              <a:defRPr sz="1800" b="1">
                <a:solidFill>
                  <a:srgbClr val="2B2430"/>
                </a:solidFill>
                <a:latin typeface="Calibri"/>
                <a:ea typeface="Calibri"/>
                <a:cs typeface="Calibri"/>
              </a:defRPr>
            </a:pPr>
            <a:r>
              <a:rPr sz="1800" b="1">
                <a:solidFill>
                  <a:srgbClr val="2B2430"/>
                </a:solidFill>
                <a:latin typeface="Calibri"/>
                <a:ea typeface="Calibri"/>
                <a:cs typeface="Calibri"/>
              </a:rPr>
              <a:t>Verarbeiten und prüfen</a:t>
            </a:r>
          </a:p>
        </p:txBody>
      </p:sp>
      <p:sp>
        <p:nvSpPr>
          <p:cNvPr id="10" name="comp-detail-1">
            <a:extLst>
              <a:ext uri="{FF2B5EF4-FFF2-40B4-BE49-F238E27FC236}">
                <a16:creationId xmlns:a16="http://schemas.microsoft.com/office/drawing/2014/main" id="{40E94DBB-EC3C-4CEE-A4EB-EA15E72F79E3}"/>
              </a:ext>
            </a:extLst>
          </p:cNvPr>
          <p:cNvSpPr>
            <a:spLocks noGrp="1"/>
          </p:cNvSpPr>
          <p:nvPr/>
        </p:nvSpPr>
        <p:spPr>
          <a:xfrm>
            <a:off x="4600575" y="3476625"/>
            <a:ext cx="2990850" cy="742950"/>
          </a:xfrm>
          <a:prstGeom prst="rect">
            <a:avLst/>
          </a:prstGeom>
          <a:noFill/>
          <a:ln w="0">
            <a:noFill/>
          </a:ln>
        </p:spPr>
        <p:txBody>
          <a:bodyPr wrap="square" lIns="0" tIns="0" rIns="0" bIns="0" anchor="ctr">
            <a:noAutofit/>
          </a:bodyPr>
          <a:lstStyle/>
          <a:p>
            <a:pPr algn="l">
              <a:buNone/>
              <a:defRPr sz="1725" b="0">
                <a:solidFill>
                  <a:srgbClr val="7A6E74"/>
                </a:solidFill>
                <a:latin typeface="Calibri"/>
                <a:ea typeface="Calibri"/>
                <a:cs typeface="Calibri"/>
              </a:defRPr>
            </a:pPr>
            <a:r>
              <a:rPr sz="1725" b="0">
                <a:solidFill>
                  <a:srgbClr val="7A6E74"/>
                </a:solidFill>
                <a:latin typeface="Calibri"/>
                <a:ea typeface="Calibri"/>
                <a:cs typeface="Calibri"/>
              </a:rPr>
              <a:t>Zuordnungen und Status verwalten</a:t>
            </a:r>
          </a:p>
          <a:p>
            <a:pPr algn="l">
              <a:buNone/>
              <a:defRPr sz="1725" b="0">
                <a:solidFill>
                  <a:srgbClr val="7A6E74"/>
                </a:solidFill>
                <a:latin typeface="Calibri"/>
                <a:ea typeface="Calibri"/>
                <a:cs typeface="Calibri"/>
              </a:defRPr>
            </a:pPr>
            <a:r>
              <a:rPr sz="1725" b="0">
                <a:solidFill>
                  <a:srgbClr val="7A6E74"/>
                </a:solidFill>
                <a:latin typeface="Calibri"/>
                <a:ea typeface="Calibri"/>
                <a:cs typeface="Calibri"/>
              </a:rPr>
              <a:t>Zugriffe und Regeln prüfen</a:t>
            </a:r>
          </a:p>
        </p:txBody>
      </p:sp>
      <p:sp>
        <p:nvSpPr>
          <p:cNvPr id="11" name="component-2">
            <a:extLst>
              <a:ext uri="{FF2B5EF4-FFF2-40B4-BE49-F238E27FC236}">
                <a16:creationId xmlns:a16="http://schemas.microsoft.com/office/drawing/2014/main" id="{D585FF35-C91E-4E91-8AC5-F32D61B2E7DC}"/>
              </a:ext>
            </a:extLst>
          </p:cNvPr>
          <p:cNvSpPr>
            <a:spLocks noGrp="1"/>
          </p:cNvSpPr>
          <p:nvPr/>
        </p:nvSpPr>
        <p:spPr>
          <a:xfrm>
            <a:off x="8210550" y="2257425"/>
            <a:ext cx="3333750" cy="2181225"/>
          </a:xfrm>
          <a:prstGeom prst="roundRect">
            <a:avLst>
              <a:gd name="adj" fmla="val 5240"/>
            </a:avLst>
          </a:prstGeom>
          <a:solidFill>
            <a:srgbClr val="F7F1F3"/>
          </a:solidFill>
          <a:ln w="0">
            <a:noFill/>
          </a:ln>
        </p:spPr>
        <p:txBody>
          <a:bodyPr/>
          <a:lstStyle/>
          <a:p>
            <a:endParaRPr lang="de-DE"/>
          </a:p>
        </p:txBody>
      </p:sp>
      <p:sp>
        <p:nvSpPr>
          <p:cNvPr id="12" name="comp-title-2">
            <a:extLst>
              <a:ext uri="{FF2B5EF4-FFF2-40B4-BE49-F238E27FC236}">
                <a16:creationId xmlns:a16="http://schemas.microsoft.com/office/drawing/2014/main" id="{3CA2183C-2F38-40FB-B3BC-554E08ED1F42}"/>
              </a:ext>
            </a:extLst>
          </p:cNvPr>
          <p:cNvSpPr>
            <a:spLocks noGrp="1"/>
          </p:cNvSpPr>
          <p:nvPr/>
        </p:nvSpPr>
        <p:spPr>
          <a:xfrm>
            <a:off x="8382000" y="2381250"/>
            <a:ext cx="2990850" cy="457200"/>
          </a:xfrm>
          <a:prstGeom prst="rect">
            <a:avLst/>
          </a:prstGeom>
          <a:noFill/>
          <a:ln w="0">
            <a:noFill/>
          </a:ln>
        </p:spPr>
        <p:txBody>
          <a:bodyPr wrap="square" lIns="0" tIns="0" rIns="0" bIns="0" anchor="ctr">
            <a:noAutofit/>
          </a:bodyPr>
          <a:lstStyle/>
          <a:p>
            <a:pPr algn="l">
              <a:buNone/>
              <a:defRPr sz="2175" b="1">
                <a:solidFill>
                  <a:srgbClr val="6D2E46"/>
                </a:solidFill>
                <a:latin typeface="Cambria"/>
                <a:ea typeface="Cambria"/>
                <a:cs typeface="Cambria"/>
              </a:defRPr>
            </a:pPr>
            <a:r>
              <a:rPr sz="2175" b="1">
                <a:solidFill>
                  <a:srgbClr val="6D2E46"/>
                </a:solidFill>
                <a:latin typeface="Cambria"/>
                <a:ea typeface="Cambria"/>
                <a:cs typeface="Cambria"/>
              </a:rPr>
              <a:t>Relationale Datenbank</a:t>
            </a:r>
          </a:p>
        </p:txBody>
      </p:sp>
      <p:sp>
        <p:nvSpPr>
          <p:cNvPr id="13" name="comp-verb-2">
            <a:extLst>
              <a:ext uri="{FF2B5EF4-FFF2-40B4-BE49-F238E27FC236}">
                <a16:creationId xmlns:a16="http://schemas.microsoft.com/office/drawing/2014/main" id="{FC4DBCC5-4DCC-4C18-80E1-9FB857BFBB33}"/>
              </a:ext>
            </a:extLst>
          </p:cNvPr>
          <p:cNvSpPr>
            <a:spLocks noGrp="1"/>
          </p:cNvSpPr>
          <p:nvPr/>
        </p:nvSpPr>
        <p:spPr>
          <a:xfrm>
            <a:off x="8382000" y="2962275"/>
            <a:ext cx="2990850" cy="352425"/>
          </a:xfrm>
          <a:prstGeom prst="rect">
            <a:avLst/>
          </a:prstGeom>
          <a:noFill/>
          <a:ln w="0">
            <a:noFill/>
          </a:ln>
        </p:spPr>
        <p:txBody>
          <a:bodyPr wrap="square" lIns="0" tIns="0" rIns="0" bIns="0" anchor="ctr">
            <a:noAutofit/>
          </a:bodyPr>
          <a:lstStyle/>
          <a:p>
            <a:pPr algn="l">
              <a:buNone/>
              <a:defRPr sz="1800" b="1">
                <a:solidFill>
                  <a:srgbClr val="2B2430"/>
                </a:solidFill>
                <a:latin typeface="Calibri"/>
                <a:ea typeface="Calibri"/>
                <a:cs typeface="Calibri"/>
              </a:defRPr>
            </a:pPr>
            <a:r>
              <a:rPr sz="1800" b="1">
                <a:solidFill>
                  <a:srgbClr val="2B2430"/>
                </a:solidFill>
                <a:latin typeface="Calibri"/>
                <a:ea typeface="Calibri"/>
                <a:cs typeface="Calibri"/>
              </a:rPr>
              <a:t>Dauerhaft speichern</a:t>
            </a:r>
          </a:p>
        </p:txBody>
      </p:sp>
      <p:sp>
        <p:nvSpPr>
          <p:cNvPr id="14" name="comp-detail-2">
            <a:extLst>
              <a:ext uri="{FF2B5EF4-FFF2-40B4-BE49-F238E27FC236}">
                <a16:creationId xmlns:a16="http://schemas.microsoft.com/office/drawing/2014/main" id="{7B50E7B7-0BED-42F8-9A69-E3A66CFC3BE6}"/>
              </a:ext>
            </a:extLst>
          </p:cNvPr>
          <p:cNvSpPr>
            <a:spLocks noGrp="1"/>
          </p:cNvSpPr>
          <p:nvPr/>
        </p:nvSpPr>
        <p:spPr>
          <a:xfrm>
            <a:off x="8382000" y="3476625"/>
            <a:ext cx="2990850" cy="742950"/>
          </a:xfrm>
          <a:prstGeom prst="rect">
            <a:avLst/>
          </a:prstGeom>
          <a:noFill/>
          <a:ln w="0">
            <a:noFill/>
          </a:ln>
        </p:spPr>
        <p:txBody>
          <a:bodyPr wrap="square" lIns="0" tIns="0" rIns="0" bIns="0" anchor="ctr">
            <a:noAutofit/>
          </a:bodyPr>
          <a:lstStyle/>
          <a:p>
            <a:pPr algn="l">
              <a:buNone/>
              <a:defRPr sz="1725" b="0">
                <a:solidFill>
                  <a:srgbClr val="7A6E74"/>
                </a:solidFill>
                <a:latin typeface="Calibri"/>
                <a:ea typeface="Calibri"/>
                <a:cs typeface="Calibri"/>
              </a:defRPr>
            </a:pPr>
            <a:r>
              <a:rPr sz="1725" b="0">
                <a:solidFill>
                  <a:srgbClr val="7A6E74"/>
                </a:solidFill>
                <a:latin typeface="Calibri"/>
                <a:ea typeface="Calibri"/>
                <a:cs typeface="Calibri"/>
              </a:rPr>
              <a:t>Informationen und Beziehungen</a:t>
            </a:r>
          </a:p>
          <a:p>
            <a:pPr algn="l">
              <a:buNone/>
              <a:defRPr sz="1725" b="0">
                <a:solidFill>
                  <a:srgbClr val="7A6E74"/>
                </a:solidFill>
                <a:latin typeface="Calibri"/>
                <a:ea typeface="Calibri"/>
                <a:cs typeface="Calibri"/>
              </a:defRPr>
            </a:pPr>
            <a:r>
              <a:rPr sz="1725" b="0">
                <a:solidFill>
                  <a:srgbClr val="7A6E74"/>
                </a:solidFill>
                <a:latin typeface="Calibri"/>
                <a:ea typeface="Calibri"/>
                <a:cs typeface="Calibri"/>
              </a:rPr>
              <a:t>strukturiert aufbewahren</a:t>
            </a:r>
          </a:p>
        </p:txBody>
      </p:sp>
      <p:cxnSp>
        <p:nvCxnSpPr>
          <p:cNvPr id="53" name="Gerade Verbindung mit Pfeil 52"/>
          <p:cNvCxnSpPr>
            <a:stCxn id="3" idx="3"/>
            <a:endCxn id="7" idx="1"/>
          </p:cNvCxnSpPr>
          <p:nvPr/>
        </p:nvCxnSpPr>
        <p:spPr>
          <a:xfrm>
            <a:off x="3981450" y="3348038"/>
            <a:ext cx="447675" cy="0"/>
          </a:xfrm>
          <a:prstGeom prst="straightConnector1">
            <a:avLst/>
          </a:prstGeom>
          <a:ln w="28575">
            <a:solidFill>
              <a:srgbClr val="C9A227"/>
            </a:solidFill>
            <a:headEnd type="triangle" w="sm" len="sm"/>
            <a:tailEnd type="triangle" w="sm" len="sm"/>
          </a:ln>
        </p:spPr>
      </p:cxnSp>
      <p:cxnSp>
        <p:nvCxnSpPr>
          <p:cNvPr id="54" name="Gerade Verbindung mit Pfeil 53"/>
          <p:cNvCxnSpPr>
            <a:stCxn id="7" idx="3"/>
            <a:endCxn id="11" idx="1"/>
          </p:cNvCxnSpPr>
          <p:nvPr/>
        </p:nvCxnSpPr>
        <p:spPr>
          <a:xfrm>
            <a:off x="7762875" y="3348038"/>
            <a:ext cx="447675" cy="0"/>
          </a:xfrm>
          <a:prstGeom prst="straightConnector1">
            <a:avLst/>
          </a:prstGeom>
          <a:ln w="28575">
            <a:solidFill>
              <a:srgbClr val="C9A227"/>
            </a:solidFill>
            <a:headEnd type="triangle" w="sm" len="sm"/>
            <a:tailEnd type="triangle" w="sm" len="sm"/>
          </a:ln>
        </p:spPr>
      </p:cxnSp>
      <p:sp>
        <p:nvSpPr>
          <p:cNvPr id="17" name="data-direction">
            <a:extLst>
              <a:ext uri="{FF2B5EF4-FFF2-40B4-BE49-F238E27FC236}">
                <a16:creationId xmlns:a16="http://schemas.microsoft.com/office/drawing/2014/main" id="{E3522A7D-D240-4B85-8B6C-313768A617F5}"/>
              </a:ext>
            </a:extLst>
          </p:cNvPr>
          <p:cNvSpPr>
            <a:spLocks noGrp="1"/>
          </p:cNvSpPr>
          <p:nvPr/>
        </p:nvSpPr>
        <p:spPr>
          <a:xfrm>
            <a:off x="2886075" y="1847850"/>
            <a:ext cx="3429000" cy="276225"/>
          </a:xfrm>
          <a:prstGeom prst="rect">
            <a:avLst/>
          </a:prstGeom>
          <a:noFill/>
          <a:ln w="0">
            <a:noFill/>
          </a:ln>
        </p:spPr>
        <p:txBody>
          <a:bodyPr wrap="square" lIns="0" tIns="0" rIns="0" bIns="0" anchor="ctr">
            <a:noAutofit/>
          </a:bodyPr>
          <a:lstStyle/>
          <a:p>
            <a:pPr algn="ctr">
              <a:buNone/>
              <a:defRPr sz="1500" b="0">
                <a:solidFill>
                  <a:srgbClr val="7A6E74"/>
                </a:solidFill>
                <a:latin typeface="Calibri"/>
                <a:ea typeface="Calibri"/>
                <a:cs typeface="Calibri"/>
              </a:defRPr>
            </a:pPr>
            <a:r>
              <a:rPr sz="1500" b="0">
                <a:solidFill>
                  <a:srgbClr val="7A6E74"/>
                </a:solidFill>
                <a:latin typeface="Calibri"/>
                <a:ea typeface="Calibri"/>
                <a:cs typeface="Calibri"/>
              </a:rPr>
              <a:t>Anfrage und Antwort</a:t>
            </a:r>
          </a:p>
        </p:txBody>
      </p:sp>
      <p:sp>
        <p:nvSpPr>
          <p:cNvPr id="18" name="data-storage">
            <a:extLst>
              <a:ext uri="{FF2B5EF4-FFF2-40B4-BE49-F238E27FC236}">
                <a16:creationId xmlns:a16="http://schemas.microsoft.com/office/drawing/2014/main" id="{D67224FD-017F-4E2E-BFEF-9DF5B5F03C95}"/>
              </a:ext>
            </a:extLst>
          </p:cNvPr>
          <p:cNvSpPr>
            <a:spLocks noGrp="1"/>
          </p:cNvSpPr>
          <p:nvPr/>
        </p:nvSpPr>
        <p:spPr>
          <a:xfrm>
            <a:off x="6724650" y="1847850"/>
            <a:ext cx="3381375" cy="276225"/>
          </a:xfrm>
          <a:prstGeom prst="rect">
            <a:avLst/>
          </a:prstGeom>
          <a:noFill/>
          <a:ln w="0">
            <a:noFill/>
          </a:ln>
        </p:spPr>
        <p:txBody>
          <a:bodyPr wrap="square" lIns="0" tIns="0" rIns="0" bIns="0" anchor="ctr">
            <a:noAutofit/>
          </a:bodyPr>
          <a:lstStyle/>
          <a:p>
            <a:pPr algn="ctr">
              <a:buNone/>
              <a:defRPr sz="1500" b="0">
                <a:solidFill>
                  <a:srgbClr val="7A6E74"/>
                </a:solidFill>
                <a:latin typeface="Calibri"/>
                <a:ea typeface="Calibri"/>
                <a:cs typeface="Calibri"/>
              </a:defRPr>
            </a:pPr>
            <a:r>
              <a:rPr sz="1500" b="0">
                <a:solidFill>
                  <a:srgbClr val="7A6E74"/>
                </a:solidFill>
                <a:latin typeface="Calibri"/>
                <a:ea typeface="Calibri"/>
                <a:cs typeface="Calibri"/>
              </a:rPr>
              <a:t>Lesen und Speichern</a:t>
            </a:r>
          </a:p>
        </p:txBody>
      </p:sp>
      <p:sp>
        <p:nvSpPr>
          <p:cNvPr id="19" name="example-label">
            <a:extLst>
              <a:ext uri="{FF2B5EF4-FFF2-40B4-BE49-F238E27FC236}">
                <a16:creationId xmlns:a16="http://schemas.microsoft.com/office/drawing/2014/main" id="{0E7D23C8-2C61-4689-9805-996C463FABE0}"/>
              </a:ext>
            </a:extLst>
          </p:cNvPr>
          <p:cNvSpPr>
            <a:spLocks noGrp="1"/>
          </p:cNvSpPr>
          <p:nvPr/>
        </p:nvSpPr>
        <p:spPr>
          <a:xfrm>
            <a:off x="647700" y="4924425"/>
            <a:ext cx="1714500" cy="276225"/>
          </a:xfrm>
          <a:prstGeom prst="rect">
            <a:avLst/>
          </a:prstGeom>
          <a:noFill/>
          <a:ln w="0">
            <a:noFill/>
          </a:ln>
        </p:spPr>
        <p:txBody>
          <a:bodyPr wrap="square" lIns="0" tIns="0" rIns="0" bIns="0" anchor="ctr">
            <a:noAutofit/>
          </a:bodyPr>
          <a:lstStyle/>
          <a:p>
            <a:pPr algn="l">
              <a:buNone/>
              <a:defRPr sz="1275" b="1">
                <a:solidFill>
                  <a:srgbClr val="C9A227"/>
                </a:solidFill>
                <a:latin typeface="Calibri"/>
                <a:ea typeface="Calibri"/>
                <a:cs typeface="Calibri"/>
              </a:defRPr>
            </a:pPr>
            <a:r>
              <a:rPr sz="1275" b="1">
                <a:solidFill>
                  <a:srgbClr val="C9A227"/>
                </a:solidFill>
                <a:latin typeface="Calibri"/>
                <a:ea typeface="Calibri"/>
                <a:cs typeface="Calibri"/>
              </a:rPr>
              <a:t>BEISPIEL</a:t>
            </a:r>
          </a:p>
        </p:txBody>
      </p:sp>
      <p:sp>
        <p:nvSpPr>
          <p:cNvPr id="20" name="example">
            <a:extLst>
              <a:ext uri="{FF2B5EF4-FFF2-40B4-BE49-F238E27FC236}">
                <a16:creationId xmlns:a16="http://schemas.microsoft.com/office/drawing/2014/main" id="{FBA109DB-BCA6-4ACF-B3AD-6A9E58CE4757}"/>
              </a:ext>
            </a:extLst>
          </p:cNvPr>
          <p:cNvSpPr>
            <a:spLocks noGrp="1"/>
          </p:cNvSpPr>
          <p:nvPr/>
        </p:nvSpPr>
        <p:spPr>
          <a:xfrm>
            <a:off x="647700" y="5305425"/>
            <a:ext cx="10858500" cy="838200"/>
          </a:xfrm>
          <a:prstGeom prst="rect">
            <a:avLst/>
          </a:prstGeom>
          <a:noFill/>
          <a:ln w="0">
            <a:noFill/>
          </a:ln>
        </p:spPr>
        <p:txBody>
          <a:bodyPr wrap="square" lIns="0" tIns="0" rIns="0" bIns="0" anchor="ctr">
            <a:noAutofit/>
          </a:bodyPr>
          <a:lstStyle/>
          <a:p>
            <a:pPr algn="l">
              <a:buNone/>
              <a:defRPr sz="1950" b="0">
                <a:solidFill>
                  <a:srgbClr val="2B2430"/>
                </a:solidFill>
                <a:latin typeface="Calibri"/>
                <a:ea typeface="Calibri"/>
                <a:cs typeface="Calibri"/>
              </a:defRPr>
            </a:pPr>
            <a:r>
              <a:rPr sz="1950" b="0">
                <a:solidFill>
                  <a:srgbClr val="2B2430"/>
                </a:solidFill>
                <a:latin typeface="Calibri"/>
                <a:ea typeface="Calibri"/>
                <a:cs typeface="Calibri"/>
              </a:rPr>
              <a:t>Mia markiert ein Geschenk als „Besorgt“.</a:t>
            </a:r>
          </a:p>
          <a:p>
            <a:pPr algn="l">
              <a:buNone/>
              <a:defRPr sz="1950" b="0">
                <a:solidFill>
                  <a:srgbClr val="2B2430"/>
                </a:solidFill>
                <a:latin typeface="Calibri"/>
                <a:ea typeface="Calibri"/>
                <a:cs typeface="Calibri"/>
              </a:defRPr>
            </a:pPr>
            <a:r>
              <a:rPr sz="1950" b="0">
                <a:solidFill>
                  <a:srgbClr val="2B2430"/>
                </a:solidFill>
                <a:latin typeface="Calibri"/>
                <a:ea typeface="Calibri"/>
                <a:cs typeface="Calibri"/>
              </a:rPr>
              <a:t>Das Backend prüft und speichert die Änderung. Das Frontend zeigt den neuen Stand.</a:t>
            </a:r>
          </a:p>
        </p:txBody>
      </p:sp>
      <p:sp>
        <p:nvSpPr>
          <p:cNvPr id="21" name="scheduler-note">
            <a:extLst>
              <a:ext uri="{FF2B5EF4-FFF2-40B4-BE49-F238E27FC236}">
                <a16:creationId xmlns:a16="http://schemas.microsoft.com/office/drawing/2014/main" id="{59B1B47F-A410-45CF-A98A-D3A86B0404C9}"/>
              </a:ext>
            </a:extLst>
          </p:cNvPr>
          <p:cNvSpPr>
            <a:spLocks noGrp="1"/>
          </p:cNvSpPr>
          <p:nvPr/>
        </p:nvSpPr>
        <p:spPr>
          <a:xfrm>
            <a:off x="647700" y="6276975"/>
            <a:ext cx="10477500" cy="266700"/>
          </a:xfrm>
          <a:prstGeom prst="rect">
            <a:avLst/>
          </a:prstGeom>
          <a:noFill/>
          <a:ln w="0">
            <a:noFill/>
          </a:ln>
        </p:spPr>
        <p:txBody>
          <a:bodyPr wrap="square" lIns="0" tIns="0" rIns="0" bIns="0" anchor="ctr">
            <a:noAutofit/>
          </a:bodyPr>
          <a:lstStyle/>
          <a:p>
            <a:pPr algn="l">
              <a:buNone/>
              <a:defRPr sz="1500" b="0">
                <a:solidFill>
                  <a:srgbClr val="7A6E74"/>
                </a:solidFill>
                <a:latin typeface="Calibri"/>
                <a:ea typeface="Calibri"/>
                <a:cs typeface="Calibri"/>
              </a:defRPr>
            </a:pPr>
            <a:r>
              <a:rPr sz="1500" b="0">
                <a:solidFill>
                  <a:srgbClr val="7A6E74"/>
                </a:solidFill>
                <a:latin typeface="Calibri"/>
                <a:ea typeface="Calibri"/>
                <a:cs typeface="Calibri"/>
              </a:rPr>
              <a:t>Ein separater Hintergrunddienst plant die Erinnerungen.</a:t>
            </a:r>
          </a:p>
        </p:txBody>
      </p:sp>
      <p:sp>
        <p:nvSpPr>
          <p:cNvPr id="22" name="page-number">
            <a:extLst>
              <a:ext uri="{FF2B5EF4-FFF2-40B4-BE49-F238E27FC236}">
                <a16:creationId xmlns:a16="http://schemas.microsoft.com/office/drawing/2014/main" id="{5972BC01-517D-4DFD-8BCC-629F25050449}"/>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7A6E74"/>
                </a:solidFill>
                <a:latin typeface="Calibri"/>
                <a:ea typeface="Calibri"/>
                <a:cs typeface="Calibri"/>
              </a:defRPr>
            </a:pPr>
            <a:r>
              <a:rPr sz="1125" b="0">
                <a:solidFill>
                  <a:srgbClr val="7A6E74"/>
                </a:solidFill>
                <a:latin typeface="Calibri"/>
                <a:ea typeface="Calibri"/>
                <a:cs typeface="Calibri"/>
              </a:rPr>
              <a:t>04</a:t>
            </a:r>
          </a:p>
        </p:txBody>
      </p:sp>
    </p:spTree>
    <p:extLst>
      <p:ext uri="{BB962C8B-B14F-4D97-AF65-F5344CB8AC3E}">
        <p14:creationId xmlns:p14="http://schemas.microsoft.com/office/powerpoint/2010/main" val="20781507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section-label">
            <a:extLst>
              <a:ext uri="{FF2B5EF4-FFF2-40B4-BE49-F238E27FC236}">
                <a16:creationId xmlns:a16="http://schemas.microsoft.com/office/drawing/2014/main" id="{3F808A6B-6FDE-4C9D-AAB1-3567E5EFFBE8}"/>
              </a:ext>
            </a:extLst>
          </p:cNvPr>
          <p:cNvSpPr>
            <a:spLocks noGrp="1"/>
          </p:cNvSpPr>
          <p:nvPr/>
        </p:nvSpPr>
        <p:spPr>
          <a:xfrm>
            <a:off x="647700" y="476250"/>
            <a:ext cx="10896600" cy="285750"/>
          </a:xfrm>
          <a:prstGeom prst="rect">
            <a:avLst/>
          </a:prstGeom>
          <a:noFill/>
          <a:ln w="0">
            <a:noFill/>
          </a:ln>
        </p:spPr>
        <p:txBody>
          <a:bodyPr wrap="square" lIns="0" tIns="0" rIns="0" bIns="0" anchor="ctr">
            <a:noAutofit/>
          </a:bodyPr>
          <a:lstStyle/>
          <a:p>
            <a:pPr algn="l">
              <a:buNone/>
              <a:defRPr sz="1200" b="1">
                <a:solidFill>
                  <a:srgbClr val="C9A227"/>
                </a:solidFill>
                <a:latin typeface="Calibri"/>
                <a:ea typeface="Calibri"/>
                <a:cs typeface="Calibri"/>
              </a:defRPr>
            </a:pPr>
            <a:r>
              <a:rPr sz="1200" b="1">
                <a:solidFill>
                  <a:srgbClr val="C9A227"/>
                </a:solidFill>
                <a:latin typeface="Calibri"/>
                <a:ea typeface="Calibri"/>
                <a:cs typeface="Calibri"/>
              </a:rPr>
              <a:t>UNSER PROJEKTVERLAUF</a:t>
            </a:r>
          </a:p>
        </p:txBody>
      </p:sp>
      <p:sp>
        <p:nvSpPr>
          <p:cNvPr id="2" name="slide-title">
            <a:extLst>
              <a:ext uri="{FF2B5EF4-FFF2-40B4-BE49-F238E27FC236}">
                <a16:creationId xmlns:a16="http://schemas.microsoft.com/office/drawing/2014/main" id="{61B051CF-3F22-4D17-9C25-58B8486800DC}"/>
              </a:ext>
            </a:extLst>
          </p:cNvPr>
          <p:cNvSpPr>
            <a:spLocks noGrp="1"/>
          </p:cNvSpPr>
          <p:nvPr/>
        </p:nvSpPr>
        <p:spPr>
          <a:xfrm>
            <a:off x="647700" y="866775"/>
            <a:ext cx="10896600" cy="714375"/>
          </a:xfrm>
          <a:prstGeom prst="rect">
            <a:avLst/>
          </a:prstGeom>
          <a:noFill/>
          <a:ln w="0">
            <a:noFill/>
          </a:ln>
        </p:spPr>
        <p:txBody>
          <a:bodyPr wrap="square" lIns="0" tIns="0" rIns="0" bIns="0" anchor="ctr">
            <a:noAutofit/>
          </a:bodyPr>
          <a:lstStyle/>
          <a:p>
            <a:pPr algn="l">
              <a:buNone/>
              <a:defRPr sz="3400" b="1">
                <a:solidFill>
                  <a:srgbClr val="6D2E46"/>
                </a:solidFill>
                <a:latin typeface="Cambria"/>
                <a:ea typeface="Cambria"/>
                <a:cs typeface="Cambria"/>
              </a:defRPr>
            </a:pPr>
            <a:r>
              <a:rPr sz="3400" b="1">
                <a:solidFill>
                  <a:srgbClr val="6D2E46"/>
                </a:solidFill>
                <a:latin typeface="Cambria"/>
                <a:ea typeface="Cambria"/>
                <a:cs typeface="Cambria"/>
              </a:rPr>
              <a:t>MS2 macht die Lösungsidee sichtbar</a:t>
            </a:r>
          </a:p>
        </p:txBody>
      </p:sp>
      <p:sp>
        <p:nvSpPr>
          <p:cNvPr id="3" name="planning">
            <a:extLst>
              <a:ext uri="{FF2B5EF4-FFF2-40B4-BE49-F238E27FC236}">
                <a16:creationId xmlns:a16="http://schemas.microsoft.com/office/drawing/2014/main" id="{D96E43CA-9A6B-463B-95C0-92800D60A4F1}"/>
              </a:ext>
            </a:extLst>
          </p:cNvPr>
          <p:cNvSpPr>
            <a:spLocks noGrp="1"/>
          </p:cNvSpPr>
          <p:nvPr/>
        </p:nvSpPr>
        <p:spPr>
          <a:xfrm>
            <a:off x="647700" y="1809750"/>
            <a:ext cx="4857750" cy="428625"/>
          </a:xfrm>
          <a:prstGeom prst="rect">
            <a:avLst/>
          </a:prstGeom>
          <a:noFill/>
          <a:ln w="0">
            <a:noFill/>
          </a:ln>
        </p:spPr>
        <p:txBody>
          <a:bodyPr wrap="square" lIns="0" tIns="0" rIns="0" bIns="0" anchor="ctr">
            <a:noAutofit/>
          </a:bodyPr>
          <a:lstStyle/>
          <a:p>
            <a:pPr algn="l">
              <a:buNone/>
              <a:defRPr sz="2325" b="1">
                <a:solidFill>
                  <a:srgbClr val="6D2E46"/>
                </a:solidFill>
                <a:latin typeface="Cambria"/>
                <a:ea typeface="Cambria"/>
                <a:cs typeface="Cambria"/>
              </a:defRPr>
            </a:pPr>
            <a:r>
              <a:rPr sz="2325" b="1">
                <a:solidFill>
                  <a:srgbClr val="6D2E46"/>
                </a:solidFill>
                <a:latin typeface="Cambria"/>
                <a:ea typeface="Cambria"/>
                <a:cs typeface="Cambria"/>
              </a:rPr>
              <a:t>Planung</a:t>
            </a:r>
          </a:p>
        </p:txBody>
      </p:sp>
      <p:sp>
        <p:nvSpPr>
          <p:cNvPr id="4" name="Gerader Verbinder 3">
            <a:extLst>
              <a:ext uri="{FF2B5EF4-FFF2-40B4-BE49-F238E27FC236}">
                <a16:creationId xmlns:a16="http://schemas.microsoft.com/office/drawing/2014/main" id="{3BB6F2F7-0C7C-45F1-90B3-DDF4D9BC774E}"/>
              </a:ext>
            </a:extLst>
          </p:cNvPr>
          <p:cNvSpPr>
            <a:spLocks noGrp="1"/>
          </p:cNvSpPr>
          <p:nvPr/>
        </p:nvSpPr>
        <p:spPr>
          <a:xfrm>
            <a:off x="647700" y="2295525"/>
            <a:ext cx="4857750" cy="0"/>
          </a:xfrm>
          <a:prstGeom prst="line">
            <a:avLst/>
          </a:prstGeom>
          <a:noFill/>
          <a:ln w="14288">
            <a:solidFill>
              <a:srgbClr val="EBDDE3"/>
            </a:solidFill>
          </a:ln>
        </p:spPr>
        <p:txBody>
          <a:bodyPr/>
          <a:lstStyle/>
          <a:p>
            <a:endParaRPr lang="de-DE"/>
          </a:p>
        </p:txBody>
      </p:sp>
      <p:sp>
        <p:nvSpPr>
          <p:cNvPr id="5" name="implementation">
            <a:extLst>
              <a:ext uri="{FF2B5EF4-FFF2-40B4-BE49-F238E27FC236}">
                <a16:creationId xmlns:a16="http://schemas.microsoft.com/office/drawing/2014/main" id="{4C673952-0E24-474C-AB11-A8DF352E1B09}"/>
              </a:ext>
            </a:extLst>
          </p:cNvPr>
          <p:cNvSpPr>
            <a:spLocks noGrp="1"/>
          </p:cNvSpPr>
          <p:nvPr/>
        </p:nvSpPr>
        <p:spPr>
          <a:xfrm>
            <a:off x="6000750" y="1809750"/>
            <a:ext cx="2857500" cy="428625"/>
          </a:xfrm>
          <a:prstGeom prst="rect">
            <a:avLst/>
          </a:prstGeom>
          <a:noFill/>
          <a:ln w="0">
            <a:noFill/>
          </a:ln>
        </p:spPr>
        <p:txBody>
          <a:bodyPr wrap="square" lIns="0" tIns="0" rIns="0" bIns="0" anchor="ctr">
            <a:noAutofit/>
          </a:bodyPr>
          <a:lstStyle/>
          <a:p>
            <a:pPr algn="l">
              <a:buNone/>
              <a:defRPr sz="2325" b="1">
                <a:solidFill>
                  <a:srgbClr val="6D2E46"/>
                </a:solidFill>
                <a:latin typeface="Cambria"/>
                <a:ea typeface="Cambria"/>
                <a:cs typeface="Cambria"/>
              </a:defRPr>
            </a:pPr>
            <a:r>
              <a:rPr sz="2325" b="1">
                <a:solidFill>
                  <a:srgbClr val="6D2E46"/>
                </a:solidFill>
                <a:latin typeface="Cambria"/>
                <a:ea typeface="Cambria"/>
                <a:cs typeface="Cambria"/>
              </a:rPr>
              <a:t>Durchführung</a:t>
            </a:r>
          </a:p>
        </p:txBody>
      </p:sp>
      <p:sp>
        <p:nvSpPr>
          <p:cNvPr id="6" name="Gerader Verbinder 5">
            <a:extLst>
              <a:ext uri="{FF2B5EF4-FFF2-40B4-BE49-F238E27FC236}">
                <a16:creationId xmlns:a16="http://schemas.microsoft.com/office/drawing/2014/main" id="{84796A93-DBC4-44AE-9D87-9E74408D0AB0}"/>
              </a:ext>
            </a:extLst>
          </p:cNvPr>
          <p:cNvSpPr>
            <a:spLocks noGrp="1"/>
          </p:cNvSpPr>
          <p:nvPr/>
        </p:nvSpPr>
        <p:spPr>
          <a:xfrm>
            <a:off x="6000750" y="2295525"/>
            <a:ext cx="2857500" cy="0"/>
          </a:xfrm>
          <a:prstGeom prst="line">
            <a:avLst/>
          </a:prstGeom>
          <a:noFill/>
          <a:ln w="14288">
            <a:solidFill>
              <a:srgbClr val="EBDDE3"/>
            </a:solidFill>
          </a:ln>
        </p:spPr>
        <p:txBody>
          <a:bodyPr/>
          <a:lstStyle/>
          <a:p>
            <a:endParaRPr lang="de-DE"/>
          </a:p>
        </p:txBody>
      </p:sp>
      <p:sp>
        <p:nvSpPr>
          <p:cNvPr id="7" name="completion">
            <a:extLst>
              <a:ext uri="{FF2B5EF4-FFF2-40B4-BE49-F238E27FC236}">
                <a16:creationId xmlns:a16="http://schemas.microsoft.com/office/drawing/2014/main" id="{A6BDE0E1-4718-450F-BF03-5D8D34BDD979}"/>
              </a:ext>
            </a:extLst>
          </p:cNvPr>
          <p:cNvSpPr>
            <a:spLocks noGrp="1"/>
          </p:cNvSpPr>
          <p:nvPr/>
        </p:nvSpPr>
        <p:spPr>
          <a:xfrm>
            <a:off x="9286875" y="1809750"/>
            <a:ext cx="2257425" cy="428625"/>
          </a:xfrm>
          <a:prstGeom prst="rect">
            <a:avLst/>
          </a:prstGeom>
          <a:noFill/>
          <a:ln w="0">
            <a:noFill/>
          </a:ln>
        </p:spPr>
        <p:txBody>
          <a:bodyPr wrap="square" lIns="0" tIns="0" rIns="0" bIns="0" anchor="ctr">
            <a:noAutofit/>
          </a:bodyPr>
          <a:lstStyle/>
          <a:p>
            <a:pPr algn="l">
              <a:buNone/>
              <a:defRPr sz="2325" b="1">
                <a:solidFill>
                  <a:srgbClr val="6D2E46"/>
                </a:solidFill>
                <a:latin typeface="Cambria"/>
                <a:ea typeface="Cambria"/>
                <a:cs typeface="Cambria"/>
              </a:defRPr>
            </a:pPr>
            <a:r>
              <a:rPr sz="2325" b="1">
                <a:solidFill>
                  <a:srgbClr val="6D2E46"/>
                </a:solidFill>
                <a:latin typeface="Cambria"/>
                <a:ea typeface="Cambria"/>
                <a:cs typeface="Cambria"/>
              </a:rPr>
              <a:t>Abschluss</a:t>
            </a:r>
          </a:p>
        </p:txBody>
      </p:sp>
      <p:sp>
        <p:nvSpPr>
          <p:cNvPr id="8" name="Gerader Verbinder 7">
            <a:extLst>
              <a:ext uri="{FF2B5EF4-FFF2-40B4-BE49-F238E27FC236}">
                <a16:creationId xmlns:a16="http://schemas.microsoft.com/office/drawing/2014/main" id="{3740DD95-54B5-422F-81CC-D23BB3FA570D}"/>
              </a:ext>
            </a:extLst>
          </p:cNvPr>
          <p:cNvSpPr>
            <a:spLocks noGrp="1"/>
          </p:cNvSpPr>
          <p:nvPr/>
        </p:nvSpPr>
        <p:spPr>
          <a:xfrm>
            <a:off x="9286875" y="2295525"/>
            <a:ext cx="2257425" cy="0"/>
          </a:xfrm>
          <a:prstGeom prst="line">
            <a:avLst/>
          </a:prstGeom>
          <a:noFill/>
          <a:ln w="14288">
            <a:solidFill>
              <a:srgbClr val="EBDDE3"/>
            </a:solidFill>
          </a:ln>
        </p:spPr>
        <p:txBody>
          <a:bodyPr/>
          <a:lstStyle/>
          <a:p>
            <a:endParaRPr lang="de-DE"/>
          </a:p>
        </p:txBody>
      </p:sp>
      <p:sp>
        <p:nvSpPr>
          <p:cNvPr id="9" name="ms-label-0">
            <a:extLst>
              <a:ext uri="{FF2B5EF4-FFF2-40B4-BE49-F238E27FC236}">
                <a16:creationId xmlns:a16="http://schemas.microsoft.com/office/drawing/2014/main" id="{C46357D7-2332-4F47-A53C-5D7636737656}"/>
              </a:ext>
            </a:extLst>
          </p:cNvPr>
          <p:cNvSpPr>
            <a:spLocks noGrp="1"/>
          </p:cNvSpPr>
          <p:nvPr/>
        </p:nvSpPr>
        <p:spPr>
          <a:xfrm>
            <a:off x="781050" y="2552700"/>
            <a:ext cx="628650" cy="428625"/>
          </a:xfrm>
          <a:prstGeom prst="rect">
            <a:avLst/>
          </a:prstGeom>
          <a:noFill/>
          <a:ln w="0">
            <a:noFill/>
          </a:ln>
        </p:spPr>
        <p:txBody>
          <a:bodyPr wrap="square" lIns="0" tIns="0" rIns="0" bIns="0" anchor="ctr">
            <a:noAutofit/>
          </a:bodyPr>
          <a:lstStyle/>
          <a:p>
            <a:pPr algn="l">
              <a:buNone/>
              <a:defRPr sz="1950" b="1">
                <a:solidFill>
                  <a:srgbClr val="6D2E46"/>
                </a:solidFill>
                <a:latin typeface="Calibri"/>
                <a:ea typeface="Calibri"/>
                <a:cs typeface="Calibri"/>
              </a:defRPr>
            </a:pPr>
            <a:r>
              <a:rPr sz="1950" b="1">
                <a:solidFill>
                  <a:srgbClr val="6D2E46"/>
                </a:solidFill>
                <a:latin typeface="Calibri"/>
                <a:ea typeface="Calibri"/>
                <a:cs typeface="Calibri"/>
              </a:rPr>
              <a:t>MS0</a:t>
            </a:r>
          </a:p>
        </p:txBody>
      </p:sp>
      <p:sp>
        <p:nvSpPr>
          <p:cNvPr id="10" name="ms-name-0">
            <a:extLst>
              <a:ext uri="{FF2B5EF4-FFF2-40B4-BE49-F238E27FC236}">
                <a16:creationId xmlns:a16="http://schemas.microsoft.com/office/drawing/2014/main" id="{ED4C0F98-02C4-4FFA-B11F-049E890BD207}"/>
              </a:ext>
            </a:extLst>
          </p:cNvPr>
          <p:cNvSpPr>
            <a:spLocks noGrp="1"/>
          </p:cNvSpPr>
          <p:nvPr/>
        </p:nvSpPr>
        <p:spPr>
          <a:xfrm>
            <a:off x="1571625" y="2533650"/>
            <a:ext cx="3714750" cy="295275"/>
          </a:xfrm>
          <a:prstGeom prst="rect">
            <a:avLst/>
          </a:prstGeom>
          <a:noFill/>
          <a:ln w="0">
            <a:noFill/>
          </a:ln>
        </p:spPr>
        <p:txBody>
          <a:bodyPr wrap="square" lIns="0" tIns="0" rIns="0" bIns="0" anchor="ctr">
            <a:noAutofit/>
          </a:bodyPr>
          <a:lstStyle/>
          <a:p>
            <a:pPr algn="l">
              <a:buNone/>
              <a:defRPr sz="1725" b="1">
                <a:solidFill>
                  <a:srgbClr val="2B2430"/>
                </a:solidFill>
                <a:latin typeface="Calibri"/>
                <a:ea typeface="Calibri"/>
                <a:cs typeface="Calibri"/>
              </a:defRPr>
            </a:pPr>
            <a:r>
              <a:rPr sz="1725" b="1" dirty="0" err="1">
                <a:solidFill>
                  <a:srgbClr val="2B2430"/>
                </a:solidFill>
                <a:latin typeface="Calibri"/>
                <a:ea typeface="Calibri"/>
                <a:cs typeface="Calibri"/>
              </a:rPr>
              <a:t>Meilensteinplan</a:t>
            </a:r>
            <a:endParaRPr sz="1725" b="1" dirty="0">
              <a:solidFill>
                <a:srgbClr val="2B2430"/>
              </a:solidFill>
              <a:latin typeface="Calibri"/>
              <a:ea typeface="Calibri"/>
              <a:cs typeface="Calibri"/>
            </a:endParaRPr>
          </a:p>
        </p:txBody>
      </p:sp>
      <p:sp>
        <p:nvSpPr>
          <p:cNvPr id="11" name="ms-status-0">
            <a:extLst>
              <a:ext uri="{FF2B5EF4-FFF2-40B4-BE49-F238E27FC236}">
                <a16:creationId xmlns:a16="http://schemas.microsoft.com/office/drawing/2014/main" id="{986CF623-DC5C-48E2-8BAC-D8B65481D9BD}"/>
              </a:ext>
            </a:extLst>
          </p:cNvPr>
          <p:cNvSpPr>
            <a:spLocks noGrp="1"/>
          </p:cNvSpPr>
          <p:nvPr/>
        </p:nvSpPr>
        <p:spPr>
          <a:xfrm>
            <a:off x="1571625" y="2819400"/>
            <a:ext cx="3524250" cy="238125"/>
          </a:xfrm>
          <a:prstGeom prst="rect">
            <a:avLst/>
          </a:prstGeom>
          <a:noFill/>
          <a:ln w="0">
            <a:noFill/>
          </a:ln>
        </p:spPr>
        <p:txBody>
          <a:bodyPr wrap="square" lIns="0" tIns="0" rIns="0" bIns="0" anchor="ctr">
            <a:noAutofit/>
          </a:bodyPr>
          <a:lstStyle/>
          <a:p>
            <a:pPr algn="l">
              <a:buNone/>
              <a:defRPr sz="1350" b="0">
                <a:solidFill>
                  <a:srgbClr val="7A6E74"/>
                </a:solidFill>
                <a:latin typeface="Calibri"/>
                <a:ea typeface="Calibri"/>
                <a:cs typeface="Calibri"/>
              </a:defRPr>
            </a:pPr>
            <a:r>
              <a:rPr sz="1350" b="0">
                <a:solidFill>
                  <a:srgbClr val="7A6E74"/>
                </a:solidFill>
                <a:latin typeface="Calibri"/>
                <a:ea typeface="Calibri"/>
                <a:cs typeface="Calibri"/>
              </a:rPr>
              <a:t>erstellt</a:t>
            </a:r>
          </a:p>
        </p:txBody>
      </p:sp>
      <p:sp>
        <p:nvSpPr>
          <p:cNvPr id="12" name="ms-label-1">
            <a:extLst>
              <a:ext uri="{FF2B5EF4-FFF2-40B4-BE49-F238E27FC236}">
                <a16:creationId xmlns:a16="http://schemas.microsoft.com/office/drawing/2014/main" id="{13FDD52C-BDF1-47A4-8739-FF11019671E8}"/>
              </a:ext>
            </a:extLst>
          </p:cNvPr>
          <p:cNvSpPr>
            <a:spLocks noGrp="1"/>
          </p:cNvSpPr>
          <p:nvPr/>
        </p:nvSpPr>
        <p:spPr>
          <a:xfrm>
            <a:off x="781050" y="3286125"/>
            <a:ext cx="628650" cy="428625"/>
          </a:xfrm>
          <a:prstGeom prst="rect">
            <a:avLst/>
          </a:prstGeom>
          <a:noFill/>
          <a:ln w="0">
            <a:noFill/>
          </a:ln>
        </p:spPr>
        <p:txBody>
          <a:bodyPr wrap="square" lIns="0" tIns="0" rIns="0" bIns="0" anchor="ctr">
            <a:noAutofit/>
          </a:bodyPr>
          <a:lstStyle/>
          <a:p>
            <a:pPr algn="l">
              <a:buNone/>
              <a:defRPr sz="1950" b="1">
                <a:solidFill>
                  <a:srgbClr val="6D2E46"/>
                </a:solidFill>
                <a:latin typeface="Calibri"/>
                <a:ea typeface="Calibri"/>
                <a:cs typeface="Calibri"/>
              </a:defRPr>
            </a:pPr>
            <a:r>
              <a:rPr sz="1950" b="1">
                <a:solidFill>
                  <a:srgbClr val="6D2E46"/>
                </a:solidFill>
                <a:latin typeface="Calibri"/>
                <a:ea typeface="Calibri"/>
                <a:cs typeface="Calibri"/>
              </a:rPr>
              <a:t>MS1</a:t>
            </a:r>
          </a:p>
        </p:txBody>
      </p:sp>
      <p:sp>
        <p:nvSpPr>
          <p:cNvPr id="13" name="ms-name-1">
            <a:extLst>
              <a:ext uri="{FF2B5EF4-FFF2-40B4-BE49-F238E27FC236}">
                <a16:creationId xmlns:a16="http://schemas.microsoft.com/office/drawing/2014/main" id="{94553533-CA0A-4AF1-BCF5-F0360E4CD0A0}"/>
              </a:ext>
            </a:extLst>
          </p:cNvPr>
          <p:cNvSpPr>
            <a:spLocks noGrp="1"/>
          </p:cNvSpPr>
          <p:nvPr/>
        </p:nvSpPr>
        <p:spPr>
          <a:xfrm>
            <a:off x="1571625" y="3267075"/>
            <a:ext cx="3714750" cy="295275"/>
          </a:xfrm>
          <a:prstGeom prst="rect">
            <a:avLst/>
          </a:prstGeom>
          <a:noFill/>
          <a:ln w="0">
            <a:noFill/>
          </a:ln>
        </p:spPr>
        <p:txBody>
          <a:bodyPr wrap="square" lIns="0" tIns="0" rIns="0" bIns="0" anchor="ctr">
            <a:noAutofit/>
          </a:bodyPr>
          <a:lstStyle/>
          <a:p>
            <a:pPr algn="l">
              <a:buNone/>
              <a:defRPr sz="1725" b="1">
                <a:solidFill>
                  <a:srgbClr val="2B2430"/>
                </a:solidFill>
                <a:latin typeface="Calibri"/>
                <a:ea typeface="Calibri"/>
                <a:cs typeface="Calibri"/>
              </a:defRPr>
            </a:pPr>
            <a:r>
              <a:rPr sz="1725" b="1" dirty="0" err="1">
                <a:solidFill>
                  <a:srgbClr val="2B2430"/>
                </a:solidFill>
                <a:latin typeface="Calibri"/>
                <a:ea typeface="Calibri"/>
                <a:cs typeface="Calibri"/>
              </a:rPr>
              <a:t>Projektkonfiguration</a:t>
            </a:r>
            <a:endParaRPr sz="1725" b="1" dirty="0">
              <a:solidFill>
                <a:srgbClr val="2B2430"/>
              </a:solidFill>
              <a:latin typeface="Calibri"/>
              <a:ea typeface="Calibri"/>
              <a:cs typeface="Calibri"/>
            </a:endParaRPr>
          </a:p>
        </p:txBody>
      </p:sp>
      <p:sp>
        <p:nvSpPr>
          <p:cNvPr id="14" name="ms-status-1">
            <a:extLst>
              <a:ext uri="{FF2B5EF4-FFF2-40B4-BE49-F238E27FC236}">
                <a16:creationId xmlns:a16="http://schemas.microsoft.com/office/drawing/2014/main" id="{B3127BF2-DA64-41FF-9F46-50D30DFF9E3D}"/>
              </a:ext>
            </a:extLst>
          </p:cNvPr>
          <p:cNvSpPr>
            <a:spLocks noGrp="1"/>
          </p:cNvSpPr>
          <p:nvPr/>
        </p:nvSpPr>
        <p:spPr>
          <a:xfrm>
            <a:off x="1571625" y="3552825"/>
            <a:ext cx="3524250" cy="238125"/>
          </a:xfrm>
          <a:prstGeom prst="rect">
            <a:avLst/>
          </a:prstGeom>
          <a:noFill/>
          <a:ln w="0">
            <a:noFill/>
          </a:ln>
        </p:spPr>
        <p:txBody>
          <a:bodyPr wrap="square" lIns="0" tIns="0" rIns="0" bIns="0" anchor="ctr">
            <a:noAutofit/>
          </a:bodyPr>
          <a:lstStyle/>
          <a:p>
            <a:pPr algn="l">
              <a:buNone/>
              <a:defRPr sz="1350" b="0">
                <a:solidFill>
                  <a:srgbClr val="7A6E74"/>
                </a:solidFill>
                <a:latin typeface="Calibri"/>
                <a:ea typeface="Calibri"/>
                <a:cs typeface="Calibri"/>
              </a:defRPr>
            </a:pPr>
            <a:r>
              <a:rPr sz="1350" b="0">
                <a:solidFill>
                  <a:srgbClr val="7A6E74"/>
                </a:solidFill>
                <a:latin typeface="Calibri"/>
                <a:ea typeface="Calibri"/>
                <a:cs typeface="Calibri"/>
              </a:rPr>
              <a:t>erstellt</a:t>
            </a:r>
          </a:p>
        </p:txBody>
      </p:sp>
      <p:sp>
        <p:nvSpPr>
          <p:cNvPr id="15" name="current-ms2">
            <a:extLst>
              <a:ext uri="{FF2B5EF4-FFF2-40B4-BE49-F238E27FC236}">
                <a16:creationId xmlns:a16="http://schemas.microsoft.com/office/drawing/2014/main" id="{7F52EDDB-6C6B-409F-B16D-985B536632FE}"/>
              </a:ext>
            </a:extLst>
          </p:cNvPr>
          <p:cNvSpPr>
            <a:spLocks noGrp="1"/>
          </p:cNvSpPr>
          <p:nvPr/>
        </p:nvSpPr>
        <p:spPr>
          <a:xfrm>
            <a:off x="647700" y="3943350"/>
            <a:ext cx="4857750" cy="647700"/>
          </a:xfrm>
          <a:prstGeom prst="roundRect">
            <a:avLst>
              <a:gd name="adj" fmla="val 14706"/>
            </a:avLst>
          </a:prstGeom>
          <a:solidFill>
            <a:srgbClr val="3E1B2C"/>
          </a:solidFill>
          <a:ln w="0">
            <a:noFill/>
          </a:ln>
        </p:spPr>
        <p:txBody>
          <a:bodyPr/>
          <a:lstStyle/>
          <a:p>
            <a:endParaRPr lang="de-DE"/>
          </a:p>
        </p:txBody>
      </p:sp>
      <p:sp>
        <p:nvSpPr>
          <p:cNvPr id="16" name="ms-label-2">
            <a:extLst>
              <a:ext uri="{FF2B5EF4-FFF2-40B4-BE49-F238E27FC236}">
                <a16:creationId xmlns:a16="http://schemas.microsoft.com/office/drawing/2014/main" id="{43B80261-90F5-47AF-A904-F69155B2F805}"/>
              </a:ext>
            </a:extLst>
          </p:cNvPr>
          <p:cNvSpPr>
            <a:spLocks noGrp="1"/>
          </p:cNvSpPr>
          <p:nvPr/>
        </p:nvSpPr>
        <p:spPr>
          <a:xfrm>
            <a:off x="781050" y="4019550"/>
            <a:ext cx="628650" cy="428625"/>
          </a:xfrm>
          <a:prstGeom prst="rect">
            <a:avLst/>
          </a:prstGeom>
          <a:noFill/>
          <a:ln w="0">
            <a:noFill/>
          </a:ln>
        </p:spPr>
        <p:txBody>
          <a:bodyPr wrap="square" lIns="0" tIns="0" rIns="0" bIns="0" anchor="ctr">
            <a:noAutofit/>
          </a:bodyPr>
          <a:lstStyle/>
          <a:p>
            <a:pPr algn="l">
              <a:buNone/>
              <a:defRPr sz="1950" b="1">
                <a:solidFill>
                  <a:srgbClr val="C9A227"/>
                </a:solidFill>
                <a:latin typeface="Calibri"/>
                <a:ea typeface="Calibri"/>
                <a:cs typeface="Calibri"/>
              </a:defRPr>
            </a:pPr>
            <a:r>
              <a:rPr sz="1950" b="1">
                <a:solidFill>
                  <a:srgbClr val="C9A227"/>
                </a:solidFill>
                <a:latin typeface="Calibri"/>
                <a:ea typeface="Calibri"/>
                <a:cs typeface="Calibri"/>
              </a:rPr>
              <a:t>MS2</a:t>
            </a:r>
          </a:p>
        </p:txBody>
      </p:sp>
      <p:sp>
        <p:nvSpPr>
          <p:cNvPr id="17" name="ms-name-2">
            <a:extLst>
              <a:ext uri="{FF2B5EF4-FFF2-40B4-BE49-F238E27FC236}">
                <a16:creationId xmlns:a16="http://schemas.microsoft.com/office/drawing/2014/main" id="{97D9DAD5-B710-4F38-9653-27E396CB523A}"/>
              </a:ext>
            </a:extLst>
          </p:cNvPr>
          <p:cNvSpPr>
            <a:spLocks noGrp="1"/>
          </p:cNvSpPr>
          <p:nvPr/>
        </p:nvSpPr>
        <p:spPr>
          <a:xfrm>
            <a:off x="1571625" y="4000500"/>
            <a:ext cx="3714750" cy="295275"/>
          </a:xfrm>
          <a:prstGeom prst="rect">
            <a:avLst/>
          </a:prstGeom>
          <a:noFill/>
          <a:ln w="0">
            <a:noFill/>
          </a:ln>
        </p:spPr>
        <p:txBody>
          <a:bodyPr wrap="square" lIns="0" tIns="0" rIns="0" bIns="0" anchor="ctr">
            <a:noAutofit/>
          </a:bodyPr>
          <a:lstStyle/>
          <a:p>
            <a:pPr algn="l">
              <a:buNone/>
              <a:defRPr sz="1725" b="1">
                <a:solidFill>
                  <a:srgbClr val="FFFFFF"/>
                </a:solidFill>
                <a:latin typeface="Calibri"/>
                <a:ea typeface="Calibri"/>
                <a:cs typeface="Calibri"/>
              </a:defRPr>
            </a:pPr>
            <a:r>
              <a:rPr sz="1725" b="1" dirty="0" err="1">
                <a:solidFill>
                  <a:srgbClr val="FFFFFF"/>
                </a:solidFill>
                <a:latin typeface="Calibri"/>
                <a:ea typeface="Calibri"/>
                <a:cs typeface="Calibri"/>
              </a:rPr>
              <a:t>Projektvideo</a:t>
            </a:r>
            <a:endParaRPr sz="1725" b="1" dirty="0">
              <a:solidFill>
                <a:srgbClr val="FFFFFF"/>
              </a:solidFill>
              <a:latin typeface="Calibri"/>
              <a:ea typeface="Calibri"/>
              <a:cs typeface="Calibri"/>
            </a:endParaRPr>
          </a:p>
        </p:txBody>
      </p:sp>
      <p:sp>
        <p:nvSpPr>
          <p:cNvPr id="18" name="ms-status-2">
            <a:extLst>
              <a:ext uri="{FF2B5EF4-FFF2-40B4-BE49-F238E27FC236}">
                <a16:creationId xmlns:a16="http://schemas.microsoft.com/office/drawing/2014/main" id="{F5E8020E-27B5-4B53-BBC3-3AECB589B4D6}"/>
              </a:ext>
            </a:extLst>
          </p:cNvPr>
          <p:cNvSpPr>
            <a:spLocks noGrp="1"/>
          </p:cNvSpPr>
          <p:nvPr/>
        </p:nvSpPr>
        <p:spPr>
          <a:xfrm>
            <a:off x="1571625" y="4286250"/>
            <a:ext cx="3524250" cy="238125"/>
          </a:xfrm>
          <a:prstGeom prst="rect">
            <a:avLst/>
          </a:prstGeom>
          <a:noFill/>
          <a:ln w="0">
            <a:noFill/>
          </a:ln>
        </p:spPr>
        <p:txBody>
          <a:bodyPr wrap="square" lIns="0" tIns="0" rIns="0" bIns="0" anchor="ctr">
            <a:noAutofit/>
          </a:bodyPr>
          <a:lstStyle/>
          <a:p>
            <a:pPr algn="l">
              <a:buNone/>
              <a:defRPr sz="1350" b="0">
                <a:solidFill>
                  <a:srgbClr val="C9A227"/>
                </a:solidFill>
                <a:latin typeface="Calibri"/>
                <a:ea typeface="Calibri"/>
                <a:cs typeface="Calibri"/>
              </a:defRPr>
            </a:pPr>
            <a:r>
              <a:rPr sz="1350" b="0">
                <a:solidFill>
                  <a:srgbClr val="C9A227"/>
                </a:solidFill>
                <a:latin typeface="Calibri"/>
                <a:ea typeface="Calibri"/>
                <a:cs typeface="Calibri"/>
              </a:rPr>
              <a:t>JETZT</a:t>
            </a:r>
          </a:p>
        </p:txBody>
      </p:sp>
      <p:sp>
        <p:nvSpPr>
          <p:cNvPr id="19" name="ms-label-3">
            <a:extLst>
              <a:ext uri="{FF2B5EF4-FFF2-40B4-BE49-F238E27FC236}">
                <a16:creationId xmlns:a16="http://schemas.microsoft.com/office/drawing/2014/main" id="{82CC998D-1EB3-4FC2-860C-9096EDA01914}"/>
              </a:ext>
            </a:extLst>
          </p:cNvPr>
          <p:cNvSpPr>
            <a:spLocks noGrp="1"/>
          </p:cNvSpPr>
          <p:nvPr/>
        </p:nvSpPr>
        <p:spPr>
          <a:xfrm>
            <a:off x="781050" y="4752975"/>
            <a:ext cx="628650" cy="428625"/>
          </a:xfrm>
          <a:prstGeom prst="rect">
            <a:avLst/>
          </a:prstGeom>
          <a:noFill/>
          <a:ln w="0">
            <a:noFill/>
          </a:ln>
        </p:spPr>
        <p:txBody>
          <a:bodyPr wrap="square" lIns="0" tIns="0" rIns="0" bIns="0" anchor="ctr">
            <a:noAutofit/>
          </a:bodyPr>
          <a:lstStyle/>
          <a:p>
            <a:pPr algn="l">
              <a:buNone/>
              <a:defRPr sz="1950" b="1">
                <a:solidFill>
                  <a:srgbClr val="6D2E46"/>
                </a:solidFill>
                <a:latin typeface="Calibri"/>
                <a:ea typeface="Calibri"/>
                <a:cs typeface="Calibri"/>
              </a:defRPr>
            </a:pPr>
            <a:r>
              <a:rPr sz="1950" b="1">
                <a:solidFill>
                  <a:srgbClr val="6D2E46"/>
                </a:solidFill>
                <a:latin typeface="Calibri"/>
                <a:ea typeface="Calibri"/>
                <a:cs typeface="Calibri"/>
              </a:rPr>
              <a:t>MS3</a:t>
            </a:r>
          </a:p>
        </p:txBody>
      </p:sp>
      <p:sp>
        <p:nvSpPr>
          <p:cNvPr id="20" name="ms-name-3">
            <a:extLst>
              <a:ext uri="{FF2B5EF4-FFF2-40B4-BE49-F238E27FC236}">
                <a16:creationId xmlns:a16="http://schemas.microsoft.com/office/drawing/2014/main" id="{895EC083-7037-447D-92D5-2A7C0CDC8541}"/>
              </a:ext>
            </a:extLst>
          </p:cNvPr>
          <p:cNvSpPr>
            <a:spLocks noGrp="1"/>
          </p:cNvSpPr>
          <p:nvPr/>
        </p:nvSpPr>
        <p:spPr>
          <a:xfrm>
            <a:off x="1571625" y="4733925"/>
            <a:ext cx="3714750" cy="295275"/>
          </a:xfrm>
          <a:prstGeom prst="rect">
            <a:avLst/>
          </a:prstGeom>
          <a:noFill/>
          <a:ln w="0">
            <a:noFill/>
          </a:ln>
        </p:spPr>
        <p:txBody>
          <a:bodyPr wrap="square" lIns="0" tIns="0" rIns="0" bIns="0" anchor="ctr">
            <a:noAutofit/>
          </a:bodyPr>
          <a:lstStyle/>
          <a:p>
            <a:pPr algn="l">
              <a:buNone/>
              <a:defRPr sz="1725" b="1">
                <a:solidFill>
                  <a:srgbClr val="2B2430"/>
                </a:solidFill>
                <a:latin typeface="Calibri"/>
                <a:ea typeface="Calibri"/>
                <a:cs typeface="Calibri"/>
              </a:defRPr>
            </a:pPr>
            <a:r>
              <a:rPr sz="1725" b="1" dirty="0" err="1">
                <a:solidFill>
                  <a:srgbClr val="2B2430"/>
                </a:solidFill>
                <a:latin typeface="Calibri"/>
                <a:ea typeface="Calibri"/>
                <a:cs typeface="Calibri"/>
              </a:rPr>
              <a:t>Entwicklung</a:t>
            </a:r>
            <a:r>
              <a:rPr lang="de-DE" sz="1725" b="1" dirty="0">
                <a:solidFill>
                  <a:srgbClr val="2B2430"/>
                </a:solidFill>
                <a:latin typeface="Calibri"/>
                <a:ea typeface="Calibri"/>
                <a:cs typeface="Calibri"/>
              </a:rPr>
              <a:t>s-</a:t>
            </a:r>
            <a:r>
              <a:rPr sz="1725" b="1" dirty="0">
                <a:solidFill>
                  <a:srgbClr val="2B2430"/>
                </a:solidFill>
                <a:latin typeface="Calibri"/>
                <a:ea typeface="Calibri"/>
                <a:cs typeface="Calibri"/>
              </a:rPr>
              <a:t> und </a:t>
            </a:r>
            <a:r>
              <a:rPr sz="1725" b="1" dirty="0" err="1">
                <a:solidFill>
                  <a:srgbClr val="2B2430"/>
                </a:solidFill>
                <a:latin typeface="Calibri"/>
                <a:ea typeface="Calibri"/>
                <a:cs typeface="Calibri"/>
              </a:rPr>
              <a:t>Qualität</a:t>
            </a:r>
            <a:r>
              <a:rPr lang="de-DE" sz="1725" b="1" dirty="0" err="1">
                <a:solidFill>
                  <a:srgbClr val="2B2430"/>
                </a:solidFill>
                <a:latin typeface="Calibri"/>
                <a:ea typeface="Calibri"/>
                <a:cs typeface="Calibri"/>
              </a:rPr>
              <a:t>splanung</a:t>
            </a:r>
            <a:endParaRPr sz="1725" b="1" dirty="0">
              <a:solidFill>
                <a:srgbClr val="2B2430"/>
              </a:solidFill>
              <a:latin typeface="Calibri"/>
              <a:ea typeface="Calibri"/>
              <a:cs typeface="Calibri"/>
            </a:endParaRPr>
          </a:p>
        </p:txBody>
      </p:sp>
      <p:sp>
        <p:nvSpPr>
          <p:cNvPr id="21" name="ms-status-3">
            <a:extLst>
              <a:ext uri="{FF2B5EF4-FFF2-40B4-BE49-F238E27FC236}">
                <a16:creationId xmlns:a16="http://schemas.microsoft.com/office/drawing/2014/main" id="{8B9412CF-E202-4FCD-86A4-5B02918CC753}"/>
              </a:ext>
            </a:extLst>
          </p:cNvPr>
          <p:cNvSpPr>
            <a:spLocks noGrp="1"/>
          </p:cNvSpPr>
          <p:nvPr/>
        </p:nvSpPr>
        <p:spPr>
          <a:xfrm>
            <a:off x="1571625" y="5019675"/>
            <a:ext cx="3524250" cy="238125"/>
          </a:xfrm>
          <a:prstGeom prst="rect">
            <a:avLst/>
          </a:prstGeom>
          <a:noFill/>
          <a:ln w="0">
            <a:noFill/>
          </a:ln>
        </p:spPr>
        <p:txBody>
          <a:bodyPr wrap="square" lIns="0" tIns="0" rIns="0" bIns="0" anchor="ctr">
            <a:noAutofit/>
          </a:bodyPr>
          <a:lstStyle/>
          <a:p>
            <a:pPr algn="l">
              <a:buNone/>
              <a:defRPr sz="1350" b="0">
                <a:solidFill>
                  <a:srgbClr val="7A6E74"/>
                </a:solidFill>
                <a:latin typeface="Calibri"/>
                <a:ea typeface="Calibri"/>
                <a:cs typeface="Calibri"/>
              </a:defRPr>
            </a:pPr>
            <a:r>
              <a:rPr sz="1350" b="0" dirty="0">
                <a:solidFill>
                  <a:srgbClr val="7A6E74"/>
                </a:solidFill>
                <a:latin typeface="Calibri"/>
                <a:ea typeface="Calibri"/>
                <a:cs typeface="Calibri"/>
              </a:rPr>
              <a:t>bis 27.09.</a:t>
            </a:r>
            <a:r>
              <a:rPr lang="de-DE" sz="1350" b="0" dirty="0">
                <a:solidFill>
                  <a:srgbClr val="7A6E74"/>
                </a:solidFill>
                <a:latin typeface="Calibri"/>
                <a:ea typeface="Calibri"/>
                <a:cs typeface="Calibri"/>
              </a:rPr>
              <a:t>2026</a:t>
            </a:r>
            <a:endParaRPr sz="1350" b="0" dirty="0">
              <a:solidFill>
                <a:srgbClr val="7A6E74"/>
              </a:solidFill>
              <a:latin typeface="Calibri"/>
              <a:ea typeface="Calibri"/>
              <a:cs typeface="Calibri"/>
            </a:endParaRPr>
          </a:p>
        </p:txBody>
      </p:sp>
      <p:sp>
        <p:nvSpPr>
          <p:cNvPr id="22" name="ms4">
            <a:extLst>
              <a:ext uri="{FF2B5EF4-FFF2-40B4-BE49-F238E27FC236}">
                <a16:creationId xmlns:a16="http://schemas.microsoft.com/office/drawing/2014/main" id="{09DEB583-DC82-4860-9F21-747662D2C3CF}"/>
              </a:ext>
            </a:extLst>
          </p:cNvPr>
          <p:cNvSpPr>
            <a:spLocks noGrp="1"/>
          </p:cNvSpPr>
          <p:nvPr/>
        </p:nvSpPr>
        <p:spPr>
          <a:xfrm>
            <a:off x="6000750" y="2533650"/>
            <a:ext cx="952500" cy="409575"/>
          </a:xfrm>
          <a:prstGeom prst="rect">
            <a:avLst/>
          </a:prstGeom>
          <a:noFill/>
          <a:ln w="0">
            <a:noFill/>
          </a:ln>
        </p:spPr>
        <p:txBody>
          <a:bodyPr wrap="square" lIns="0" tIns="0" rIns="0" bIns="0" anchor="ctr">
            <a:noAutofit/>
          </a:bodyPr>
          <a:lstStyle/>
          <a:p>
            <a:pPr algn="l">
              <a:buNone/>
              <a:defRPr sz="2175" b="1">
                <a:solidFill>
                  <a:srgbClr val="6D2E46"/>
                </a:solidFill>
                <a:latin typeface="Calibri"/>
                <a:ea typeface="Calibri"/>
                <a:cs typeface="Calibri"/>
              </a:defRPr>
            </a:pPr>
            <a:r>
              <a:rPr sz="2175" b="1">
                <a:solidFill>
                  <a:srgbClr val="6D2E46"/>
                </a:solidFill>
                <a:latin typeface="Calibri"/>
                <a:ea typeface="Calibri"/>
                <a:cs typeface="Calibri"/>
              </a:rPr>
              <a:t>MS4</a:t>
            </a:r>
          </a:p>
        </p:txBody>
      </p:sp>
      <p:sp>
        <p:nvSpPr>
          <p:cNvPr id="23" name="ms4-name">
            <a:extLst>
              <a:ext uri="{FF2B5EF4-FFF2-40B4-BE49-F238E27FC236}">
                <a16:creationId xmlns:a16="http://schemas.microsoft.com/office/drawing/2014/main" id="{84451458-8F28-4999-BBA1-81AD7E9E054C}"/>
              </a:ext>
            </a:extLst>
          </p:cNvPr>
          <p:cNvSpPr>
            <a:spLocks noGrp="1"/>
          </p:cNvSpPr>
          <p:nvPr/>
        </p:nvSpPr>
        <p:spPr>
          <a:xfrm>
            <a:off x="6000750" y="2990850"/>
            <a:ext cx="2857500" cy="714375"/>
          </a:xfrm>
          <a:prstGeom prst="rect">
            <a:avLst/>
          </a:prstGeom>
          <a:noFill/>
          <a:ln w="0">
            <a:noFill/>
          </a:ln>
        </p:spPr>
        <p:txBody>
          <a:bodyPr wrap="square" lIns="0" tIns="0" rIns="0" bIns="0" anchor="ctr">
            <a:noAutofit/>
          </a:bodyPr>
          <a:lstStyle/>
          <a:p>
            <a:pPr algn="l">
              <a:buNone/>
              <a:defRPr sz="2175" b="0">
                <a:solidFill>
                  <a:srgbClr val="2B2430"/>
                </a:solidFill>
                <a:latin typeface="Calibri"/>
                <a:ea typeface="Calibri"/>
                <a:cs typeface="Calibri"/>
              </a:defRPr>
            </a:pPr>
            <a:r>
              <a:rPr sz="2175" b="0">
                <a:solidFill>
                  <a:srgbClr val="2B2430"/>
                </a:solidFill>
                <a:latin typeface="Calibri"/>
                <a:ea typeface="Calibri"/>
                <a:cs typeface="Calibri"/>
              </a:rPr>
              <a:t>System und</a:t>
            </a:r>
          </a:p>
          <a:p>
            <a:pPr algn="l">
              <a:buNone/>
              <a:defRPr sz="2175" b="0">
                <a:solidFill>
                  <a:srgbClr val="2B2430"/>
                </a:solidFill>
                <a:latin typeface="Calibri"/>
                <a:ea typeface="Calibri"/>
                <a:cs typeface="Calibri"/>
              </a:defRPr>
            </a:pPr>
            <a:r>
              <a:rPr sz="2175" b="0">
                <a:solidFill>
                  <a:srgbClr val="2B2430"/>
                </a:solidFill>
                <a:latin typeface="Calibri"/>
                <a:ea typeface="Calibri"/>
                <a:cs typeface="Calibri"/>
              </a:rPr>
              <a:t>Dokumentation</a:t>
            </a:r>
          </a:p>
        </p:txBody>
      </p:sp>
      <p:sp>
        <p:nvSpPr>
          <p:cNvPr id="24" name="ms4-date">
            <a:extLst>
              <a:ext uri="{FF2B5EF4-FFF2-40B4-BE49-F238E27FC236}">
                <a16:creationId xmlns:a16="http://schemas.microsoft.com/office/drawing/2014/main" id="{E2405E6A-DBFE-409B-A6EA-992F0B89BD3D}"/>
              </a:ext>
            </a:extLst>
          </p:cNvPr>
          <p:cNvSpPr>
            <a:spLocks noGrp="1"/>
          </p:cNvSpPr>
          <p:nvPr/>
        </p:nvSpPr>
        <p:spPr>
          <a:xfrm>
            <a:off x="6000750" y="3790950"/>
            <a:ext cx="2857500" cy="285750"/>
          </a:xfrm>
          <a:prstGeom prst="rect">
            <a:avLst/>
          </a:prstGeom>
          <a:noFill/>
          <a:ln w="0">
            <a:noFill/>
          </a:ln>
        </p:spPr>
        <p:txBody>
          <a:bodyPr wrap="square" lIns="0" tIns="0" rIns="0" bIns="0" anchor="ctr">
            <a:noAutofit/>
          </a:bodyPr>
          <a:lstStyle/>
          <a:p>
            <a:pPr algn="l">
              <a:buNone/>
              <a:defRPr sz="1500" b="0">
                <a:solidFill>
                  <a:srgbClr val="7A6E74"/>
                </a:solidFill>
                <a:latin typeface="Calibri"/>
                <a:ea typeface="Calibri"/>
                <a:cs typeface="Calibri"/>
              </a:defRPr>
            </a:pPr>
            <a:r>
              <a:rPr sz="1500" b="0" dirty="0">
                <a:solidFill>
                  <a:srgbClr val="7A6E74"/>
                </a:solidFill>
                <a:latin typeface="Calibri"/>
                <a:ea typeface="Calibri"/>
                <a:cs typeface="Calibri"/>
              </a:rPr>
              <a:t>bis 11.10.2026</a:t>
            </a:r>
          </a:p>
        </p:txBody>
      </p:sp>
      <p:sp>
        <p:nvSpPr>
          <p:cNvPr id="25" name="ms5">
            <a:extLst>
              <a:ext uri="{FF2B5EF4-FFF2-40B4-BE49-F238E27FC236}">
                <a16:creationId xmlns:a16="http://schemas.microsoft.com/office/drawing/2014/main" id="{055934F2-B679-45F6-8877-E0202581A7FB}"/>
              </a:ext>
            </a:extLst>
          </p:cNvPr>
          <p:cNvSpPr>
            <a:spLocks noGrp="1"/>
          </p:cNvSpPr>
          <p:nvPr/>
        </p:nvSpPr>
        <p:spPr>
          <a:xfrm>
            <a:off x="6000750" y="4371975"/>
            <a:ext cx="952500" cy="381000"/>
          </a:xfrm>
          <a:prstGeom prst="rect">
            <a:avLst/>
          </a:prstGeom>
          <a:noFill/>
          <a:ln w="0">
            <a:noFill/>
          </a:ln>
        </p:spPr>
        <p:txBody>
          <a:bodyPr wrap="square" lIns="0" tIns="0" rIns="0" bIns="0" anchor="ctr">
            <a:noAutofit/>
          </a:bodyPr>
          <a:lstStyle/>
          <a:p>
            <a:pPr algn="l">
              <a:buNone/>
              <a:defRPr sz="2175" b="1">
                <a:solidFill>
                  <a:srgbClr val="6D2E46"/>
                </a:solidFill>
                <a:latin typeface="Calibri"/>
                <a:ea typeface="Calibri"/>
                <a:cs typeface="Calibri"/>
              </a:defRPr>
            </a:pPr>
            <a:r>
              <a:rPr sz="2175" b="1">
                <a:solidFill>
                  <a:srgbClr val="6D2E46"/>
                </a:solidFill>
                <a:latin typeface="Calibri"/>
                <a:ea typeface="Calibri"/>
                <a:cs typeface="Calibri"/>
              </a:rPr>
              <a:t>MS5</a:t>
            </a:r>
          </a:p>
        </p:txBody>
      </p:sp>
      <p:sp>
        <p:nvSpPr>
          <p:cNvPr id="26" name="ms5-name">
            <a:extLst>
              <a:ext uri="{FF2B5EF4-FFF2-40B4-BE49-F238E27FC236}">
                <a16:creationId xmlns:a16="http://schemas.microsoft.com/office/drawing/2014/main" id="{1ED9955A-633F-496D-A88E-4F63F4A0033C}"/>
              </a:ext>
            </a:extLst>
          </p:cNvPr>
          <p:cNvSpPr>
            <a:spLocks noGrp="1"/>
          </p:cNvSpPr>
          <p:nvPr/>
        </p:nvSpPr>
        <p:spPr>
          <a:xfrm>
            <a:off x="6000750" y="4829175"/>
            <a:ext cx="2857500" cy="685800"/>
          </a:xfrm>
          <a:prstGeom prst="rect">
            <a:avLst/>
          </a:prstGeom>
          <a:noFill/>
          <a:ln w="0">
            <a:noFill/>
          </a:ln>
        </p:spPr>
        <p:txBody>
          <a:bodyPr wrap="square" lIns="0" tIns="0" rIns="0" bIns="0" anchor="ctr">
            <a:noAutofit/>
          </a:bodyPr>
          <a:lstStyle/>
          <a:p>
            <a:pPr algn="l">
              <a:buNone/>
              <a:defRPr sz="2025" b="0">
                <a:solidFill>
                  <a:srgbClr val="2B2430"/>
                </a:solidFill>
                <a:latin typeface="Calibri"/>
                <a:ea typeface="Calibri"/>
                <a:cs typeface="Calibri"/>
              </a:defRPr>
            </a:pPr>
            <a:r>
              <a:rPr sz="2025" b="0">
                <a:solidFill>
                  <a:srgbClr val="2B2430"/>
                </a:solidFill>
                <a:latin typeface="Calibri"/>
                <a:ea typeface="Calibri"/>
                <a:cs typeface="Calibri"/>
              </a:rPr>
              <a:t>Ergebnisvideo</a:t>
            </a:r>
          </a:p>
          <a:p>
            <a:pPr algn="l">
              <a:buNone/>
              <a:defRPr sz="2025" b="0">
                <a:solidFill>
                  <a:srgbClr val="2B2430"/>
                </a:solidFill>
                <a:latin typeface="Calibri"/>
                <a:ea typeface="Calibri"/>
                <a:cs typeface="Calibri"/>
              </a:defRPr>
            </a:pPr>
            <a:r>
              <a:rPr sz="2025" b="0">
                <a:solidFill>
                  <a:srgbClr val="2B2430"/>
                </a:solidFill>
                <a:latin typeface="Calibri"/>
                <a:ea typeface="Calibri"/>
                <a:cs typeface="Calibri"/>
              </a:rPr>
              <a:t>mit Demo</a:t>
            </a:r>
          </a:p>
        </p:txBody>
      </p:sp>
      <p:sp>
        <p:nvSpPr>
          <p:cNvPr id="27" name="ms5-date">
            <a:extLst>
              <a:ext uri="{FF2B5EF4-FFF2-40B4-BE49-F238E27FC236}">
                <a16:creationId xmlns:a16="http://schemas.microsoft.com/office/drawing/2014/main" id="{1A6530AF-69F2-482B-955C-B1E14AB8788F}"/>
              </a:ext>
            </a:extLst>
          </p:cNvPr>
          <p:cNvSpPr>
            <a:spLocks noGrp="1"/>
          </p:cNvSpPr>
          <p:nvPr/>
        </p:nvSpPr>
        <p:spPr>
          <a:xfrm>
            <a:off x="6000750" y="5610225"/>
            <a:ext cx="2857500" cy="285750"/>
          </a:xfrm>
          <a:prstGeom prst="rect">
            <a:avLst/>
          </a:prstGeom>
          <a:noFill/>
          <a:ln w="0">
            <a:noFill/>
          </a:ln>
        </p:spPr>
        <p:txBody>
          <a:bodyPr wrap="square" lIns="0" tIns="0" rIns="0" bIns="0" anchor="ctr">
            <a:noAutofit/>
          </a:bodyPr>
          <a:lstStyle/>
          <a:p>
            <a:pPr algn="l">
              <a:buNone/>
              <a:defRPr sz="1500" b="0">
                <a:solidFill>
                  <a:srgbClr val="7A6E74"/>
                </a:solidFill>
                <a:latin typeface="Calibri"/>
                <a:ea typeface="Calibri"/>
                <a:cs typeface="Calibri"/>
              </a:defRPr>
            </a:pPr>
            <a:r>
              <a:rPr sz="1500" b="0" dirty="0">
                <a:solidFill>
                  <a:srgbClr val="7A6E74"/>
                </a:solidFill>
                <a:latin typeface="Calibri"/>
                <a:ea typeface="Calibri"/>
                <a:cs typeface="Calibri"/>
              </a:rPr>
              <a:t>bis 18.10.2026</a:t>
            </a:r>
          </a:p>
        </p:txBody>
      </p:sp>
      <p:sp>
        <p:nvSpPr>
          <p:cNvPr id="28" name="ms6">
            <a:extLst>
              <a:ext uri="{FF2B5EF4-FFF2-40B4-BE49-F238E27FC236}">
                <a16:creationId xmlns:a16="http://schemas.microsoft.com/office/drawing/2014/main" id="{DB3D1D6D-293E-40B3-AE7F-5F687D1F1835}"/>
              </a:ext>
            </a:extLst>
          </p:cNvPr>
          <p:cNvSpPr>
            <a:spLocks noGrp="1"/>
          </p:cNvSpPr>
          <p:nvPr/>
        </p:nvSpPr>
        <p:spPr>
          <a:xfrm>
            <a:off x="9286875" y="2533650"/>
            <a:ext cx="952500" cy="409575"/>
          </a:xfrm>
          <a:prstGeom prst="rect">
            <a:avLst/>
          </a:prstGeom>
          <a:noFill/>
          <a:ln w="0">
            <a:noFill/>
          </a:ln>
        </p:spPr>
        <p:txBody>
          <a:bodyPr wrap="square" lIns="0" tIns="0" rIns="0" bIns="0" anchor="ctr">
            <a:noAutofit/>
          </a:bodyPr>
          <a:lstStyle/>
          <a:p>
            <a:pPr algn="l">
              <a:buNone/>
              <a:defRPr sz="2175" b="1">
                <a:solidFill>
                  <a:srgbClr val="6D2E46"/>
                </a:solidFill>
                <a:latin typeface="Calibri"/>
                <a:ea typeface="Calibri"/>
                <a:cs typeface="Calibri"/>
              </a:defRPr>
            </a:pPr>
            <a:r>
              <a:rPr sz="2175" b="1">
                <a:solidFill>
                  <a:srgbClr val="6D2E46"/>
                </a:solidFill>
                <a:latin typeface="Calibri"/>
                <a:ea typeface="Calibri"/>
                <a:cs typeface="Calibri"/>
              </a:rPr>
              <a:t>MS6</a:t>
            </a:r>
          </a:p>
        </p:txBody>
      </p:sp>
      <p:sp>
        <p:nvSpPr>
          <p:cNvPr id="29" name="ms6-name">
            <a:extLst>
              <a:ext uri="{FF2B5EF4-FFF2-40B4-BE49-F238E27FC236}">
                <a16:creationId xmlns:a16="http://schemas.microsoft.com/office/drawing/2014/main" id="{92239BAC-C10D-42ED-AAB4-2C3B6B10769C}"/>
              </a:ext>
            </a:extLst>
          </p:cNvPr>
          <p:cNvSpPr>
            <a:spLocks noGrp="1"/>
          </p:cNvSpPr>
          <p:nvPr/>
        </p:nvSpPr>
        <p:spPr>
          <a:xfrm>
            <a:off x="9286875" y="2990850"/>
            <a:ext cx="2257425" cy="733425"/>
          </a:xfrm>
          <a:prstGeom prst="rect">
            <a:avLst/>
          </a:prstGeom>
          <a:noFill/>
          <a:ln w="0">
            <a:noFill/>
          </a:ln>
        </p:spPr>
        <p:txBody>
          <a:bodyPr wrap="square" lIns="0" tIns="0" rIns="0" bIns="0" anchor="ctr">
            <a:noAutofit/>
          </a:bodyPr>
          <a:lstStyle/>
          <a:p>
            <a:pPr algn="l">
              <a:buNone/>
              <a:defRPr sz="2100" b="0">
                <a:solidFill>
                  <a:srgbClr val="2B2430"/>
                </a:solidFill>
                <a:latin typeface="Calibri"/>
                <a:ea typeface="Calibri"/>
                <a:cs typeface="Calibri"/>
              </a:defRPr>
            </a:pPr>
            <a:r>
              <a:rPr sz="2100" b="0">
                <a:solidFill>
                  <a:srgbClr val="2B2430"/>
                </a:solidFill>
                <a:latin typeface="Calibri"/>
                <a:ea typeface="Calibri"/>
                <a:cs typeface="Calibri"/>
              </a:rPr>
              <a:t>Projektbericht</a:t>
            </a:r>
          </a:p>
        </p:txBody>
      </p:sp>
      <p:sp>
        <p:nvSpPr>
          <p:cNvPr id="30" name="ms6-date">
            <a:extLst>
              <a:ext uri="{FF2B5EF4-FFF2-40B4-BE49-F238E27FC236}">
                <a16:creationId xmlns:a16="http://schemas.microsoft.com/office/drawing/2014/main" id="{8125E555-85FA-4EBE-A817-AD7A7DAB8BF0}"/>
              </a:ext>
            </a:extLst>
          </p:cNvPr>
          <p:cNvSpPr>
            <a:spLocks noGrp="1"/>
          </p:cNvSpPr>
          <p:nvPr/>
        </p:nvSpPr>
        <p:spPr>
          <a:xfrm>
            <a:off x="9286875" y="3790950"/>
            <a:ext cx="2257425" cy="285750"/>
          </a:xfrm>
          <a:prstGeom prst="rect">
            <a:avLst/>
          </a:prstGeom>
          <a:noFill/>
          <a:ln w="0">
            <a:noFill/>
          </a:ln>
        </p:spPr>
        <p:txBody>
          <a:bodyPr wrap="square" lIns="0" tIns="0" rIns="0" bIns="0" anchor="ctr">
            <a:noAutofit/>
          </a:bodyPr>
          <a:lstStyle/>
          <a:p>
            <a:pPr algn="l">
              <a:buNone/>
              <a:defRPr sz="1500" b="0">
                <a:solidFill>
                  <a:srgbClr val="7A6E74"/>
                </a:solidFill>
                <a:latin typeface="Calibri"/>
                <a:ea typeface="Calibri"/>
                <a:cs typeface="Calibri"/>
              </a:defRPr>
            </a:pPr>
            <a:r>
              <a:rPr sz="1500" b="0" dirty="0">
                <a:solidFill>
                  <a:srgbClr val="7A6E74"/>
                </a:solidFill>
                <a:latin typeface="Calibri"/>
                <a:ea typeface="Calibri"/>
                <a:cs typeface="Calibri"/>
              </a:rPr>
              <a:t>bis 31.10.2026</a:t>
            </a:r>
          </a:p>
        </p:txBody>
      </p:sp>
      <p:sp>
        <p:nvSpPr>
          <p:cNvPr id="31" name="next-step">
            <a:extLst>
              <a:ext uri="{FF2B5EF4-FFF2-40B4-BE49-F238E27FC236}">
                <a16:creationId xmlns:a16="http://schemas.microsoft.com/office/drawing/2014/main" id="{88C88484-98FB-43E6-AF99-795A917E2B0A}"/>
              </a:ext>
            </a:extLst>
          </p:cNvPr>
          <p:cNvSpPr>
            <a:spLocks noGrp="1"/>
          </p:cNvSpPr>
          <p:nvPr/>
        </p:nvSpPr>
        <p:spPr>
          <a:xfrm>
            <a:off x="647700" y="6219825"/>
            <a:ext cx="10477500" cy="371475"/>
          </a:xfrm>
          <a:prstGeom prst="rect">
            <a:avLst/>
          </a:prstGeom>
          <a:noFill/>
          <a:ln w="0">
            <a:noFill/>
          </a:ln>
        </p:spPr>
        <p:txBody>
          <a:bodyPr wrap="square" lIns="0" tIns="0" rIns="0" bIns="0" anchor="ctr">
            <a:noAutofit/>
          </a:bodyPr>
          <a:lstStyle/>
          <a:p>
            <a:pPr algn="l">
              <a:buNone/>
              <a:defRPr sz="1575" b="1">
                <a:solidFill>
                  <a:srgbClr val="6D2E46"/>
                </a:solidFill>
                <a:latin typeface="Calibri"/>
                <a:ea typeface="Calibri"/>
                <a:cs typeface="Calibri"/>
              </a:defRPr>
            </a:pPr>
            <a:r>
              <a:rPr sz="1575" b="1">
                <a:solidFill>
                  <a:srgbClr val="6D2E46"/>
                </a:solidFill>
                <a:latin typeface="Calibri"/>
                <a:ea typeface="Calibri"/>
                <a:cs typeface="Calibri"/>
              </a:rPr>
              <a:t>Nächster Schritt: Entwicklungsprozess, technische Details und Qualitätsprüfung konkretisieren.</a:t>
            </a:r>
          </a:p>
        </p:txBody>
      </p:sp>
      <p:sp>
        <p:nvSpPr>
          <p:cNvPr id="32" name="page-number">
            <a:extLst>
              <a:ext uri="{FF2B5EF4-FFF2-40B4-BE49-F238E27FC236}">
                <a16:creationId xmlns:a16="http://schemas.microsoft.com/office/drawing/2014/main" id="{79CDB8A1-57E2-40E8-B2A2-C6CBC714456E}"/>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7A6E74"/>
                </a:solidFill>
                <a:latin typeface="Calibri"/>
                <a:ea typeface="Calibri"/>
                <a:cs typeface="Calibri"/>
              </a:defRPr>
            </a:pPr>
            <a:r>
              <a:rPr sz="1125" b="0">
                <a:solidFill>
                  <a:srgbClr val="7A6E74"/>
                </a:solidFill>
                <a:latin typeface="Calibri"/>
                <a:ea typeface="Calibri"/>
                <a:cs typeface="Calibri"/>
              </a:rPr>
              <a:t>05</a:t>
            </a:r>
          </a:p>
        </p:txBody>
      </p:sp>
    </p:spTree>
    <p:extLst>
      <p:ext uri="{BB962C8B-B14F-4D97-AF65-F5344CB8AC3E}">
        <p14:creationId xmlns:p14="http://schemas.microsoft.com/office/powerpoint/2010/main" val="123083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FD8B317-7608-42BE-B415-3E946AA3AB5B}"/>
              </a:ext>
            </a:extLst>
          </p:cNvPr>
          <p:cNvSpPr>
            <a:spLocks noGrp="1"/>
          </p:cNvSpPr>
          <p:nvPr/>
        </p:nvSpPr>
        <p:spPr>
          <a:xfrm>
            <a:off x="640080" y="502920"/>
            <a:ext cx="7315200" cy="320040"/>
          </a:xfrm>
          <a:prstGeom prst="rect">
            <a:avLst/>
          </a:prstGeom>
          <a:noFill/>
        </p:spPr>
        <p:txBody>
          <a:bodyPr wrap="square" lIns="0" tIns="0" rIns="0" bIns="0" anchor="ctr"/>
          <a:lstStyle/>
          <a:p>
            <a:pPr marL="0" indent="0" algn="l">
              <a:buNone/>
            </a:pPr>
            <a:r>
              <a:rPr sz="1200" b="1" spc="300">
                <a:solidFill>
                  <a:srgbClr val="C9A227"/>
                </a:solidFill>
                <a:latin typeface="Calibri"/>
                <a:ea typeface="Calibri"/>
                <a:cs typeface="Calibri"/>
              </a:rPr>
              <a:t>WER WIR SIND</a:t>
            </a:r>
            <a:endParaRPr sz="1200"/>
          </a:p>
        </p:txBody>
      </p:sp>
      <p:sp>
        <p:nvSpPr>
          <p:cNvPr id="3" name="Text 1">
            <a:extLst>
              <a:ext uri="{FF2B5EF4-FFF2-40B4-BE49-F238E27FC236}">
                <a16:creationId xmlns:a16="http://schemas.microsoft.com/office/drawing/2014/main" id="{F5DAC0B9-603D-4A94-9015-CC496C9A7169}"/>
              </a:ext>
            </a:extLst>
          </p:cNvPr>
          <p:cNvSpPr>
            <a:spLocks noGrp="1"/>
          </p:cNvSpPr>
          <p:nvPr/>
        </p:nvSpPr>
        <p:spPr>
          <a:xfrm>
            <a:off x="640080" y="822960"/>
            <a:ext cx="10972800" cy="868680"/>
          </a:xfrm>
          <a:prstGeom prst="rect">
            <a:avLst/>
          </a:prstGeom>
          <a:noFill/>
        </p:spPr>
        <p:txBody>
          <a:bodyPr wrap="square" lIns="0" tIns="0" rIns="0" bIns="0" anchor="ctr"/>
          <a:lstStyle/>
          <a:p>
            <a:pPr marL="0" indent="0" algn="l">
              <a:buNone/>
            </a:pPr>
            <a:r>
              <a:rPr sz="3400" b="1">
                <a:solidFill>
                  <a:srgbClr val="6D2E46"/>
                </a:solidFill>
                <a:latin typeface="Cambria"/>
                <a:ea typeface="Cambria"/>
                <a:cs typeface="Cambria"/>
              </a:rPr>
              <a:t>Das Team hinter dem Geschenke-Manager</a:t>
            </a:r>
            <a:endParaRPr sz="3400"/>
          </a:p>
        </p:txBody>
      </p:sp>
      <p:sp>
        <p:nvSpPr>
          <p:cNvPr id="5" name="Text 2">
            <a:extLst>
              <a:ext uri="{FF2B5EF4-FFF2-40B4-BE49-F238E27FC236}">
                <a16:creationId xmlns:a16="http://schemas.microsoft.com/office/drawing/2014/main" id="{3AEE0865-7789-441C-AC2A-E61AB4AC8EF5}"/>
              </a:ext>
            </a:extLst>
          </p:cNvPr>
          <p:cNvSpPr>
            <a:spLocks noGrp="1"/>
          </p:cNvSpPr>
          <p:nvPr/>
        </p:nvSpPr>
        <p:spPr>
          <a:xfrm>
            <a:off x="640080" y="4709160"/>
            <a:ext cx="2560320" cy="457200"/>
          </a:xfrm>
          <a:prstGeom prst="rect">
            <a:avLst/>
          </a:prstGeom>
          <a:noFill/>
        </p:spPr>
        <p:txBody>
          <a:bodyPr wrap="square" lIns="0" tIns="0" rIns="0" bIns="0" anchor="ctr"/>
          <a:lstStyle/>
          <a:p>
            <a:pPr marL="0" indent="0" algn="ctr">
              <a:buNone/>
            </a:pPr>
            <a:r>
              <a:rPr sz="1500" b="1">
                <a:solidFill>
                  <a:srgbClr val="2B2430"/>
                </a:solidFill>
                <a:latin typeface="Calibri"/>
                <a:ea typeface="Calibri"/>
                <a:cs typeface="Calibri"/>
              </a:rPr>
              <a:t>Kevin Jordan Taghu</a:t>
            </a:r>
            <a:endParaRPr sz="1500"/>
          </a:p>
        </p:txBody>
      </p:sp>
      <p:sp>
        <p:nvSpPr>
          <p:cNvPr id="6" name="Text 3">
            <a:extLst>
              <a:ext uri="{FF2B5EF4-FFF2-40B4-BE49-F238E27FC236}">
                <a16:creationId xmlns:a16="http://schemas.microsoft.com/office/drawing/2014/main" id="{4F7954D1-386A-467C-96F8-1EDC7A297428}"/>
              </a:ext>
            </a:extLst>
          </p:cNvPr>
          <p:cNvSpPr>
            <a:spLocks noGrp="1"/>
          </p:cNvSpPr>
          <p:nvPr/>
        </p:nvSpPr>
        <p:spPr>
          <a:xfrm>
            <a:off x="723900" y="5219700"/>
            <a:ext cx="2400300" cy="914400"/>
          </a:xfrm>
          <a:prstGeom prst="rect">
            <a:avLst/>
          </a:prstGeom>
          <a:noFill/>
        </p:spPr>
        <p:txBody>
          <a:bodyPr wrap="square" lIns="0" tIns="0" rIns="0" bIns="0" anchor="t">
            <a:noAutofit/>
          </a:bodyPr>
          <a:lstStyle/>
          <a:p>
            <a:pPr marL="0" indent="0" algn="ctr">
              <a:buNone/>
              <a:defRPr sz="1538">
                <a:solidFill>
                  <a:srgbClr val="7A6E74"/>
                </a:solidFill>
                <a:latin typeface="Calibri"/>
                <a:ea typeface="Calibri"/>
                <a:cs typeface="Calibri"/>
              </a:defRPr>
            </a:pPr>
            <a:r>
              <a:rPr sz="1538">
                <a:solidFill>
                  <a:srgbClr val="7A6E74"/>
                </a:solidFill>
                <a:latin typeface="Calibri"/>
                <a:ea typeface="Calibri"/>
                <a:cs typeface="Calibri"/>
              </a:rPr>
              <a:t>Projektleitung</a:t>
            </a:r>
            <a:endParaRPr sz="1250"/>
          </a:p>
          <a:p>
            <a:pPr marL="0" indent="0" algn="ctr">
              <a:buNone/>
              <a:defRPr sz="1538">
                <a:solidFill>
                  <a:srgbClr val="7A6E74"/>
                </a:solidFill>
                <a:latin typeface="Calibri"/>
                <a:ea typeface="Calibri"/>
                <a:cs typeface="Calibri"/>
              </a:defRPr>
            </a:pPr>
            <a:r>
              <a:rPr sz="1538">
                <a:solidFill>
                  <a:srgbClr val="7A6E74"/>
                </a:solidFill>
                <a:latin typeface="Calibri"/>
                <a:ea typeface="Calibri"/>
                <a:cs typeface="Calibri"/>
              </a:rPr>
              <a:t>und Datenanalyse</a:t>
            </a:r>
            <a:endParaRPr sz="1250"/>
          </a:p>
        </p:txBody>
      </p:sp>
      <p:sp>
        <p:nvSpPr>
          <p:cNvPr id="8" name="Text 4">
            <a:extLst>
              <a:ext uri="{FF2B5EF4-FFF2-40B4-BE49-F238E27FC236}">
                <a16:creationId xmlns:a16="http://schemas.microsoft.com/office/drawing/2014/main" id="{C4D72A93-4A8A-4EB5-934C-0924CCCE3891}"/>
              </a:ext>
            </a:extLst>
          </p:cNvPr>
          <p:cNvSpPr>
            <a:spLocks noGrp="1"/>
          </p:cNvSpPr>
          <p:nvPr/>
        </p:nvSpPr>
        <p:spPr>
          <a:xfrm>
            <a:off x="3429000" y="4709160"/>
            <a:ext cx="2560320" cy="457200"/>
          </a:xfrm>
          <a:prstGeom prst="rect">
            <a:avLst/>
          </a:prstGeom>
          <a:noFill/>
        </p:spPr>
        <p:txBody>
          <a:bodyPr wrap="square" lIns="0" tIns="0" rIns="0" bIns="0" anchor="ctr"/>
          <a:lstStyle/>
          <a:p>
            <a:pPr marL="0" indent="0" algn="ctr">
              <a:buNone/>
            </a:pPr>
            <a:r>
              <a:rPr sz="1500" b="1">
                <a:solidFill>
                  <a:srgbClr val="2B2430"/>
                </a:solidFill>
                <a:latin typeface="Calibri"/>
                <a:ea typeface="Calibri"/>
                <a:cs typeface="Calibri"/>
              </a:rPr>
              <a:t>Julian Ammann</a:t>
            </a:r>
            <a:endParaRPr sz="1500"/>
          </a:p>
        </p:txBody>
      </p:sp>
      <p:sp>
        <p:nvSpPr>
          <p:cNvPr id="9" name="Text 5">
            <a:extLst>
              <a:ext uri="{FF2B5EF4-FFF2-40B4-BE49-F238E27FC236}">
                <a16:creationId xmlns:a16="http://schemas.microsoft.com/office/drawing/2014/main" id="{83826B48-C9E6-4C7C-A6DC-BB2E7EFB78B9}"/>
              </a:ext>
            </a:extLst>
          </p:cNvPr>
          <p:cNvSpPr>
            <a:spLocks noGrp="1"/>
          </p:cNvSpPr>
          <p:nvPr/>
        </p:nvSpPr>
        <p:spPr>
          <a:xfrm>
            <a:off x="3505200" y="5219700"/>
            <a:ext cx="2400300" cy="914400"/>
          </a:xfrm>
          <a:prstGeom prst="rect">
            <a:avLst/>
          </a:prstGeom>
          <a:noFill/>
        </p:spPr>
        <p:txBody>
          <a:bodyPr wrap="square" lIns="0" tIns="0" rIns="0" bIns="0" anchor="t">
            <a:noAutofit/>
          </a:bodyPr>
          <a:lstStyle/>
          <a:p>
            <a:pPr marL="0" indent="0" algn="ctr">
              <a:buNone/>
              <a:defRPr sz="1538">
                <a:solidFill>
                  <a:srgbClr val="7A6E74"/>
                </a:solidFill>
                <a:latin typeface="Calibri"/>
                <a:ea typeface="Calibri"/>
                <a:cs typeface="Calibri"/>
              </a:defRPr>
            </a:pPr>
            <a:r>
              <a:rPr sz="1538">
                <a:solidFill>
                  <a:srgbClr val="7A6E74"/>
                </a:solidFill>
                <a:latin typeface="Calibri"/>
                <a:ea typeface="Calibri"/>
                <a:cs typeface="Calibri"/>
              </a:rPr>
              <a:t>Technische Leitung</a:t>
            </a:r>
            <a:endParaRPr sz="1250"/>
          </a:p>
          <a:p>
            <a:pPr marL="0" indent="0" algn="ctr">
              <a:buNone/>
              <a:defRPr sz="1538">
                <a:solidFill>
                  <a:srgbClr val="7A6E74"/>
                </a:solidFill>
                <a:latin typeface="Calibri"/>
                <a:ea typeface="Calibri"/>
                <a:cs typeface="Calibri"/>
              </a:defRPr>
            </a:pPr>
            <a:r>
              <a:rPr sz="1538">
                <a:solidFill>
                  <a:srgbClr val="7A6E74"/>
                </a:solidFill>
                <a:latin typeface="Calibri"/>
                <a:ea typeface="Calibri"/>
                <a:cs typeface="Calibri"/>
              </a:rPr>
              <a:t>und Full-Stack</a:t>
            </a:r>
            <a:endParaRPr sz="1250"/>
          </a:p>
        </p:txBody>
      </p:sp>
      <p:sp>
        <p:nvSpPr>
          <p:cNvPr id="11" name="Text 6">
            <a:extLst>
              <a:ext uri="{FF2B5EF4-FFF2-40B4-BE49-F238E27FC236}">
                <a16:creationId xmlns:a16="http://schemas.microsoft.com/office/drawing/2014/main" id="{75486A14-D0ED-47C1-8410-55AB14972D83}"/>
              </a:ext>
            </a:extLst>
          </p:cNvPr>
          <p:cNvSpPr>
            <a:spLocks noGrp="1"/>
          </p:cNvSpPr>
          <p:nvPr/>
        </p:nvSpPr>
        <p:spPr>
          <a:xfrm>
            <a:off x="6217920" y="4709160"/>
            <a:ext cx="2560320" cy="457200"/>
          </a:xfrm>
          <a:prstGeom prst="rect">
            <a:avLst/>
          </a:prstGeom>
          <a:noFill/>
        </p:spPr>
        <p:txBody>
          <a:bodyPr wrap="square" lIns="0" tIns="0" rIns="0" bIns="0" anchor="ctr"/>
          <a:lstStyle/>
          <a:p>
            <a:pPr marL="0" indent="0" algn="ctr">
              <a:buNone/>
            </a:pPr>
            <a:r>
              <a:rPr sz="1500" b="1">
                <a:solidFill>
                  <a:srgbClr val="2B2430"/>
                </a:solidFill>
                <a:latin typeface="Calibri"/>
                <a:ea typeface="Calibri"/>
                <a:cs typeface="Calibri"/>
              </a:rPr>
              <a:t>Yin Yin Wu-Hanke</a:t>
            </a:r>
            <a:endParaRPr sz="1500"/>
          </a:p>
        </p:txBody>
      </p:sp>
      <p:sp>
        <p:nvSpPr>
          <p:cNvPr id="12" name="Text 7">
            <a:extLst>
              <a:ext uri="{FF2B5EF4-FFF2-40B4-BE49-F238E27FC236}">
                <a16:creationId xmlns:a16="http://schemas.microsoft.com/office/drawing/2014/main" id="{3D5ABC0B-5244-4615-A990-E22EF45EBB83}"/>
              </a:ext>
            </a:extLst>
          </p:cNvPr>
          <p:cNvSpPr>
            <a:spLocks noGrp="1"/>
          </p:cNvSpPr>
          <p:nvPr/>
        </p:nvSpPr>
        <p:spPr>
          <a:xfrm>
            <a:off x="6286500" y="5219700"/>
            <a:ext cx="2400300" cy="914400"/>
          </a:xfrm>
          <a:prstGeom prst="rect">
            <a:avLst/>
          </a:prstGeom>
          <a:noFill/>
        </p:spPr>
        <p:txBody>
          <a:bodyPr wrap="square" lIns="0" tIns="0" rIns="0" bIns="0" anchor="t">
            <a:noAutofit/>
          </a:bodyPr>
          <a:lstStyle/>
          <a:p>
            <a:pPr marL="0" indent="0" algn="ctr">
              <a:buNone/>
              <a:defRPr sz="1538">
                <a:solidFill>
                  <a:srgbClr val="7A6E74"/>
                </a:solidFill>
                <a:latin typeface="Calibri"/>
                <a:ea typeface="Calibri"/>
                <a:cs typeface="Calibri"/>
              </a:defRPr>
            </a:pPr>
            <a:r>
              <a:rPr sz="1538" dirty="0">
                <a:solidFill>
                  <a:srgbClr val="7A6E74"/>
                </a:solidFill>
                <a:latin typeface="Calibri"/>
                <a:ea typeface="Calibri"/>
                <a:cs typeface="Calibri"/>
              </a:rPr>
              <a:t>Security</a:t>
            </a:r>
            <a:endParaRPr sz="1250" dirty="0"/>
          </a:p>
          <a:p>
            <a:pPr marL="0" indent="0" algn="ctr">
              <a:buNone/>
              <a:defRPr sz="1538">
                <a:solidFill>
                  <a:srgbClr val="7A6E74"/>
                </a:solidFill>
                <a:latin typeface="Calibri"/>
                <a:ea typeface="Calibri"/>
                <a:cs typeface="Calibri"/>
              </a:defRPr>
            </a:pPr>
            <a:r>
              <a:rPr sz="1538" dirty="0">
                <a:solidFill>
                  <a:srgbClr val="7A6E74"/>
                </a:solidFill>
                <a:latin typeface="Calibri"/>
                <a:ea typeface="Calibri"/>
                <a:cs typeface="Calibri"/>
              </a:rPr>
              <a:t>und Frontend</a:t>
            </a:r>
            <a:endParaRPr sz="1250" dirty="0"/>
          </a:p>
        </p:txBody>
      </p:sp>
      <p:sp>
        <p:nvSpPr>
          <p:cNvPr id="14" name="Text 8">
            <a:extLst>
              <a:ext uri="{FF2B5EF4-FFF2-40B4-BE49-F238E27FC236}">
                <a16:creationId xmlns:a16="http://schemas.microsoft.com/office/drawing/2014/main" id="{4918386D-6053-41C4-9921-BC62D0F630E8}"/>
              </a:ext>
            </a:extLst>
          </p:cNvPr>
          <p:cNvSpPr>
            <a:spLocks noGrp="1"/>
          </p:cNvSpPr>
          <p:nvPr/>
        </p:nvSpPr>
        <p:spPr>
          <a:xfrm>
            <a:off x="9006840" y="4709160"/>
            <a:ext cx="2560320" cy="457200"/>
          </a:xfrm>
          <a:prstGeom prst="rect">
            <a:avLst/>
          </a:prstGeom>
          <a:noFill/>
        </p:spPr>
        <p:txBody>
          <a:bodyPr wrap="square" lIns="0" tIns="0" rIns="0" bIns="0" anchor="ctr"/>
          <a:lstStyle/>
          <a:p>
            <a:pPr marL="0" indent="0" algn="ctr">
              <a:buNone/>
            </a:pPr>
            <a:r>
              <a:rPr sz="1500" b="1">
                <a:solidFill>
                  <a:srgbClr val="2B2430"/>
                </a:solidFill>
                <a:latin typeface="Calibri"/>
                <a:ea typeface="Calibri"/>
                <a:cs typeface="Calibri"/>
              </a:rPr>
              <a:t>Anton Hirsch</a:t>
            </a:r>
            <a:endParaRPr sz="1500"/>
          </a:p>
        </p:txBody>
      </p:sp>
      <p:sp>
        <p:nvSpPr>
          <p:cNvPr id="15" name="Text 9">
            <a:extLst>
              <a:ext uri="{FF2B5EF4-FFF2-40B4-BE49-F238E27FC236}">
                <a16:creationId xmlns:a16="http://schemas.microsoft.com/office/drawing/2014/main" id="{ABBFAB38-D85E-4D6E-9AAF-683F1D0FE35C}"/>
              </a:ext>
            </a:extLst>
          </p:cNvPr>
          <p:cNvSpPr>
            <a:spLocks noGrp="1"/>
          </p:cNvSpPr>
          <p:nvPr/>
        </p:nvSpPr>
        <p:spPr>
          <a:xfrm>
            <a:off x="9067800" y="5219700"/>
            <a:ext cx="2400300" cy="914400"/>
          </a:xfrm>
          <a:prstGeom prst="rect">
            <a:avLst/>
          </a:prstGeom>
          <a:noFill/>
        </p:spPr>
        <p:txBody>
          <a:bodyPr wrap="square" lIns="0" tIns="0" rIns="0" bIns="0" anchor="t">
            <a:noAutofit/>
          </a:bodyPr>
          <a:lstStyle/>
          <a:p>
            <a:pPr marL="0" indent="0" algn="ctr">
              <a:buNone/>
              <a:defRPr sz="1538">
                <a:solidFill>
                  <a:srgbClr val="7A6E74"/>
                </a:solidFill>
                <a:latin typeface="Calibri"/>
                <a:ea typeface="Calibri"/>
                <a:cs typeface="Calibri"/>
              </a:defRPr>
            </a:pPr>
            <a:r>
              <a:rPr sz="1538" dirty="0" err="1">
                <a:solidFill>
                  <a:srgbClr val="7A6E74"/>
                </a:solidFill>
                <a:latin typeface="Calibri"/>
                <a:ea typeface="Calibri"/>
                <a:cs typeface="Calibri"/>
              </a:rPr>
              <a:t>Anforderungen</a:t>
            </a:r>
            <a:r>
              <a:rPr lang="de-DE" sz="1538" dirty="0">
                <a:solidFill>
                  <a:srgbClr val="7A6E74"/>
                </a:solidFill>
                <a:latin typeface="Calibri"/>
                <a:ea typeface="Calibri"/>
                <a:cs typeface="Calibri"/>
              </a:rPr>
              <a:t> und</a:t>
            </a:r>
            <a:r>
              <a:rPr sz="1538" dirty="0">
                <a:solidFill>
                  <a:srgbClr val="7A6E74"/>
                </a:solidFill>
                <a:latin typeface="Calibri"/>
                <a:ea typeface="Calibri"/>
                <a:cs typeface="Calibri"/>
              </a:rPr>
              <a:t> </a:t>
            </a:r>
            <a:r>
              <a:rPr sz="1538" dirty="0" err="1">
                <a:solidFill>
                  <a:srgbClr val="7A6E74"/>
                </a:solidFill>
                <a:latin typeface="Calibri"/>
                <a:ea typeface="Calibri"/>
                <a:cs typeface="Calibri"/>
              </a:rPr>
              <a:t>Dokumentation</a:t>
            </a:r>
            <a:endParaRPr sz="1250" dirty="0"/>
          </a:p>
        </p:txBody>
      </p:sp>
      <p:pic>
        <p:nvPicPr>
          <p:cNvPr id="35" name="Grafik 16"/>
          <p:cNvPicPr>
            <a:picLocks noChangeAspect="1"/>
          </p:cNvPicPr>
          <p:nvPr/>
        </p:nvPicPr>
        <p:blipFill rotWithShape="1">
          <a:blip r:embed="rId3"/>
          <a:srcRect l="8758" r="9887"/>
          <a:stretch>
            <a:fillRect/>
          </a:stretch>
        </p:blipFill>
        <p:spPr>
          <a:xfrm>
            <a:off x="6385561" y="1874520"/>
            <a:ext cx="2194561" cy="2697480"/>
          </a:xfrm>
          <a:prstGeom prst="rect">
            <a:avLst/>
          </a:prstGeom>
        </p:spPr>
      </p:pic>
      <p:pic>
        <p:nvPicPr>
          <p:cNvPr id="36" name="Grafik 18"/>
          <p:cNvPicPr>
            <a:picLocks noChangeAspect="1"/>
          </p:cNvPicPr>
          <p:nvPr/>
        </p:nvPicPr>
        <p:blipFill rotWithShape="1">
          <a:blip r:embed="rId4"/>
          <a:srcRect t="5766" b="12474"/>
          <a:stretch>
            <a:fillRect/>
          </a:stretch>
        </p:blipFill>
        <p:spPr>
          <a:xfrm>
            <a:off x="833272" y="1874521"/>
            <a:ext cx="2199487" cy="2697480"/>
          </a:xfrm>
          <a:prstGeom prst="rect">
            <a:avLst/>
          </a:prstGeom>
        </p:spPr>
      </p:pic>
      <p:pic>
        <p:nvPicPr>
          <p:cNvPr id="37" name="Grafik 20"/>
          <p:cNvPicPr>
            <a:picLocks noChangeAspect="1"/>
          </p:cNvPicPr>
          <p:nvPr/>
        </p:nvPicPr>
        <p:blipFill rotWithShape="1">
          <a:blip r:embed="rId5"/>
          <a:srcRect b="11940"/>
          <a:stretch>
            <a:fillRect/>
          </a:stretch>
        </p:blipFill>
        <p:spPr>
          <a:xfrm>
            <a:off x="9158640" y="1874520"/>
            <a:ext cx="2200088" cy="2697480"/>
          </a:xfrm>
          <a:prstGeom prst="rect">
            <a:avLst/>
          </a:prstGeom>
        </p:spPr>
      </p:pic>
      <p:pic>
        <p:nvPicPr>
          <p:cNvPr id="38" name="Grafik 22"/>
          <p:cNvPicPr>
            <a:picLocks noChangeAspect="1"/>
          </p:cNvPicPr>
          <p:nvPr/>
        </p:nvPicPr>
        <p:blipFill>
          <a:blip r:embed="rId6"/>
          <a:srcRect l="-69" t="1891" r="69" b="6022"/>
          <a:stretch>
            <a:fillRect/>
          </a:stretch>
        </p:blipFill>
        <p:spPr>
          <a:xfrm>
            <a:off x="3608825" y="1874521"/>
            <a:ext cx="2197615" cy="2697480"/>
          </a:xfrm>
          <a:prstGeom prst="rect">
            <a:avLst/>
          </a:prstGeom>
        </p:spPr>
      </p:pic>
      <p:sp>
        <p:nvSpPr>
          <p:cNvPr id="20" name="page-number">
            <a:extLst>
              <a:ext uri="{FF2B5EF4-FFF2-40B4-BE49-F238E27FC236}">
                <a16:creationId xmlns:a16="http://schemas.microsoft.com/office/drawing/2014/main" id="{11F7414A-08EA-4B9C-A586-0D88597F34B2}"/>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7A6E74"/>
                </a:solidFill>
                <a:latin typeface="Calibri"/>
                <a:ea typeface="Calibri"/>
                <a:cs typeface="Calibri"/>
              </a:defRPr>
            </a:pPr>
            <a:r>
              <a:rPr sz="1125" b="0">
                <a:solidFill>
                  <a:srgbClr val="7A6E74"/>
                </a:solidFill>
                <a:latin typeface="Calibri"/>
                <a:ea typeface="Calibri"/>
                <a:cs typeface="Calibri"/>
              </a:rPr>
              <a:t>06</a:t>
            </a:r>
          </a:p>
        </p:txBody>
      </p:sp>
    </p:spTree>
    <p:extLst>
      <p:ext uri="{BB962C8B-B14F-4D97-AF65-F5344CB8AC3E}">
        <p14:creationId xmlns:p14="http://schemas.microsoft.com/office/powerpoint/2010/main" val="804850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ection-label">
            <a:extLst>
              <a:ext uri="{FF2B5EF4-FFF2-40B4-BE49-F238E27FC236}">
                <a16:creationId xmlns:a16="http://schemas.microsoft.com/office/drawing/2014/main" id="{03340314-C512-4D8C-A888-19BD8F16E421}"/>
              </a:ext>
            </a:extLst>
          </p:cNvPr>
          <p:cNvSpPr>
            <a:spLocks noGrp="1"/>
          </p:cNvSpPr>
          <p:nvPr/>
        </p:nvSpPr>
        <p:spPr>
          <a:xfrm>
            <a:off x="647700" y="476250"/>
            <a:ext cx="10896600" cy="285750"/>
          </a:xfrm>
          <a:prstGeom prst="rect">
            <a:avLst/>
          </a:prstGeom>
          <a:noFill/>
          <a:ln w="0">
            <a:noFill/>
          </a:ln>
        </p:spPr>
        <p:txBody>
          <a:bodyPr wrap="square" lIns="0" tIns="0" rIns="0" bIns="0" anchor="ctr">
            <a:noAutofit/>
          </a:bodyPr>
          <a:lstStyle/>
          <a:p>
            <a:pPr algn="l">
              <a:buNone/>
              <a:defRPr sz="1200" b="1">
                <a:solidFill>
                  <a:srgbClr val="C9A227"/>
                </a:solidFill>
                <a:latin typeface="Calibri"/>
                <a:ea typeface="Calibri"/>
                <a:cs typeface="Calibri"/>
              </a:defRPr>
            </a:pPr>
            <a:r>
              <a:rPr sz="1200" b="1">
                <a:solidFill>
                  <a:srgbClr val="C9A227"/>
                </a:solidFill>
                <a:latin typeface="Calibri"/>
                <a:ea typeface="Calibri"/>
                <a:cs typeface="Calibri"/>
              </a:rPr>
              <a:t>UNSER ZIEL FÜR MIA</a:t>
            </a:r>
          </a:p>
        </p:txBody>
      </p:sp>
      <p:sp>
        <p:nvSpPr>
          <p:cNvPr id="2" name="slide-title">
            <a:extLst>
              <a:ext uri="{FF2B5EF4-FFF2-40B4-BE49-F238E27FC236}">
                <a16:creationId xmlns:a16="http://schemas.microsoft.com/office/drawing/2014/main" id="{C30C7DCA-1C64-4C65-986A-CF37F76E4250}"/>
              </a:ext>
            </a:extLst>
          </p:cNvPr>
          <p:cNvSpPr>
            <a:spLocks noGrp="1"/>
          </p:cNvSpPr>
          <p:nvPr/>
        </p:nvSpPr>
        <p:spPr>
          <a:xfrm>
            <a:off x="647700" y="866775"/>
            <a:ext cx="10896600" cy="714375"/>
          </a:xfrm>
          <a:prstGeom prst="rect">
            <a:avLst/>
          </a:prstGeom>
          <a:noFill/>
          <a:ln w="0">
            <a:noFill/>
          </a:ln>
        </p:spPr>
        <p:txBody>
          <a:bodyPr wrap="square" lIns="0" tIns="0" rIns="0" bIns="0" anchor="ctr">
            <a:noAutofit/>
          </a:bodyPr>
          <a:lstStyle/>
          <a:p>
            <a:pPr algn="l">
              <a:buNone/>
              <a:defRPr sz="3400" b="1">
                <a:solidFill>
                  <a:srgbClr val="6D2E46"/>
                </a:solidFill>
                <a:latin typeface="Cambria"/>
                <a:ea typeface="Cambria"/>
                <a:cs typeface="Cambria"/>
              </a:defRPr>
            </a:pPr>
            <a:r>
              <a:rPr sz="3400" b="1">
                <a:solidFill>
                  <a:srgbClr val="6D2E46"/>
                </a:solidFill>
                <a:latin typeface="Cambria"/>
                <a:ea typeface="Cambria"/>
                <a:cs typeface="Cambria"/>
              </a:rPr>
              <a:t>Mehr Überblick. Weniger Geschenkestress.</a:t>
            </a:r>
          </a:p>
        </p:txBody>
      </p:sp>
      <p:sp>
        <p:nvSpPr>
          <p:cNvPr id="4" name="closing-vision">
            <a:extLst>
              <a:ext uri="{FF2B5EF4-FFF2-40B4-BE49-F238E27FC236}">
                <a16:creationId xmlns:a16="http://schemas.microsoft.com/office/drawing/2014/main" id="{99E25F08-46E3-49C0-A496-F0F87CC2C768}"/>
              </a:ext>
            </a:extLst>
          </p:cNvPr>
          <p:cNvSpPr>
            <a:spLocks noGrp="1"/>
          </p:cNvSpPr>
          <p:nvPr/>
        </p:nvSpPr>
        <p:spPr>
          <a:xfrm>
            <a:off x="8220075" y="2238375"/>
            <a:ext cx="3238500" cy="1562100"/>
          </a:xfrm>
          <a:prstGeom prst="rect">
            <a:avLst/>
          </a:prstGeom>
          <a:noFill/>
          <a:ln w="0">
            <a:noFill/>
          </a:ln>
        </p:spPr>
        <p:txBody>
          <a:bodyPr wrap="square" lIns="0" tIns="0" rIns="0" bIns="0" anchor="ctr">
            <a:noAutofit/>
          </a:bodyPr>
          <a:lstStyle/>
          <a:p>
            <a:pPr algn="l">
              <a:buNone/>
              <a:defRPr sz="2175" b="1">
                <a:solidFill>
                  <a:srgbClr val="6D2E46"/>
                </a:solidFill>
                <a:latin typeface="Cambria"/>
                <a:ea typeface="Cambria"/>
                <a:cs typeface="Cambria"/>
              </a:defRPr>
            </a:pPr>
            <a:r>
              <a:rPr sz="2175" b="1">
                <a:solidFill>
                  <a:srgbClr val="6D2E46"/>
                </a:solidFill>
                <a:latin typeface="Cambria"/>
                <a:ea typeface="Cambria"/>
                <a:cs typeface="Cambria"/>
              </a:rPr>
              <a:t>Ideen festhalten.</a:t>
            </a:r>
          </a:p>
          <a:p>
            <a:pPr algn="l">
              <a:buNone/>
              <a:defRPr sz="2175" b="1">
                <a:solidFill>
                  <a:srgbClr val="6D2E46"/>
                </a:solidFill>
                <a:latin typeface="Cambria"/>
                <a:ea typeface="Cambria"/>
                <a:cs typeface="Cambria"/>
              </a:defRPr>
            </a:pPr>
            <a:r>
              <a:rPr sz="2175" b="1">
                <a:solidFill>
                  <a:srgbClr val="6D2E46"/>
                </a:solidFill>
                <a:latin typeface="Cambria"/>
                <a:ea typeface="Cambria"/>
                <a:cs typeface="Cambria"/>
              </a:rPr>
              <a:t>Vorbereitungen überblicken.</a:t>
            </a:r>
          </a:p>
          <a:p>
            <a:pPr algn="l">
              <a:buNone/>
              <a:defRPr sz="2175" b="1">
                <a:solidFill>
                  <a:srgbClr val="6D2E46"/>
                </a:solidFill>
                <a:latin typeface="Cambria"/>
                <a:ea typeface="Cambria"/>
                <a:cs typeface="Cambria"/>
              </a:defRPr>
            </a:pPr>
            <a:r>
              <a:rPr sz="2175" b="1">
                <a:solidFill>
                  <a:srgbClr val="6D2E46"/>
                </a:solidFill>
                <a:latin typeface="Cambria"/>
                <a:ea typeface="Cambria"/>
                <a:cs typeface="Cambria"/>
              </a:rPr>
              <a:t>Rechtzeitig handeln.</a:t>
            </a:r>
          </a:p>
        </p:txBody>
      </p:sp>
      <p:sp>
        <p:nvSpPr>
          <p:cNvPr id="5" name="result-preview">
            <a:extLst>
              <a:ext uri="{FF2B5EF4-FFF2-40B4-BE49-F238E27FC236}">
                <a16:creationId xmlns:a16="http://schemas.microsoft.com/office/drawing/2014/main" id="{852B8E9F-2779-4CF9-B5C8-C69472B0DC6C}"/>
              </a:ext>
            </a:extLst>
          </p:cNvPr>
          <p:cNvSpPr>
            <a:spLocks noGrp="1"/>
          </p:cNvSpPr>
          <p:nvPr/>
        </p:nvSpPr>
        <p:spPr>
          <a:xfrm>
            <a:off x="8220075" y="4105275"/>
            <a:ext cx="3238500" cy="1057275"/>
          </a:xfrm>
          <a:prstGeom prst="rect">
            <a:avLst/>
          </a:prstGeom>
          <a:noFill/>
          <a:ln w="0">
            <a:noFill/>
          </a:ln>
        </p:spPr>
        <p:txBody>
          <a:bodyPr wrap="square" lIns="0" tIns="0" rIns="0" bIns="0" anchor="ctr">
            <a:noAutofit/>
          </a:bodyPr>
          <a:lstStyle/>
          <a:p>
            <a:pPr algn="l">
              <a:buNone/>
              <a:defRPr sz="1800" b="0">
                <a:solidFill>
                  <a:srgbClr val="7A6E74"/>
                </a:solidFill>
                <a:latin typeface="Calibri"/>
                <a:ea typeface="Calibri"/>
                <a:cs typeface="Calibri"/>
              </a:defRPr>
            </a:pPr>
            <a:r>
              <a:rPr sz="1800" b="0">
                <a:solidFill>
                  <a:srgbClr val="7A6E74"/>
                </a:solidFill>
                <a:latin typeface="Calibri"/>
                <a:ea typeface="Calibri"/>
                <a:cs typeface="Calibri"/>
              </a:rPr>
              <a:t>Wie sich das anfühlt,</a:t>
            </a:r>
          </a:p>
          <a:p>
            <a:pPr algn="l">
              <a:buNone/>
              <a:defRPr sz="1800" b="0">
                <a:solidFill>
                  <a:srgbClr val="7A6E74"/>
                </a:solidFill>
                <a:latin typeface="Calibri"/>
                <a:ea typeface="Calibri"/>
                <a:cs typeface="Calibri"/>
              </a:defRPr>
            </a:pPr>
            <a:r>
              <a:rPr sz="1800" b="0">
                <a:solidFill>
                  <a:srgbClr val="7A6E74"/>
                </a:solidFill>
                <a:latin typeface="Calibri"/>
                <a:ea typeface="Calibri"/>
                <a:cs typeface="Calibri"/>
              </a:rPr>
              <a:t>zeigen wir mit dem Prototyp</a:t>
            </a:r>
          </a:p>
          <a:p>
            <a:pPr algn="l">
              <a:buNone/>
              <a:defRPr sz="1800" b="0">
                <a:solidFill>
                  <a:srgbClr val="7A6E74"/>
                </a:solidFill>
                <a:latin typeface="Calibri"/>
                <a:ea typeface="Calibri"/>
                <a:cs typeface="Calibri"/>
              </a:defRPr>
            </a:pPr>
            <a:r>
              <a:rPr sz="1800" b="0">
                <a:solidFill>
                  <a:srgbClr val="7A6E74"/>
                </a:solidFill>
                <a:latin typeface="Calibri"/>
                <a:ea typeface="Calibri"/>
                <a:cs typeface="Calibri"/>
              </a:rPr>
              <a:t>in der Ergebnispräsentation.</a:t>
            </a:r>
          </a:p>
        </p:txBody>
      </p:sp>
      <p:sp>
        <p:nvSpPr>
          <p:cNvPr id="6" name="thanks">
            <a:extLst>
              <a:ext uri="{FF2B5EF4-FFF2-40B4-BE49-F238E27FC236}">
                <a16:creationId xmlns:a16="http://schemas.microsoft.com/office/drawing/2014/main" id="{A190DAA8-89C0-4D19-83FA-74BCEA6455E7}"/>
              </a:ext>
            </a:extLst>
          </p:cNvPr>
          <p:cNvSpPr>
            <a:spLocks noGrp="1"/>
          </p:cNvSpPr>
          <p:nvPr/>
        </p:nvSpPr>
        <p:spPr>
          <a:xfrm>
            <a:off x="8220075" y="5581650"/>
            <a:ext cx="3238500" cy="533400"/>
          </a:xfrm>
          <a:prstGeom prst="rect">
            <a:avLst/>
          </a:prstGeom>
          <a:noFill/>
          <a:ln w="0">
            <a:noFill/>
          </a:ln>
        </p:spPr>
        <p:txBody>
          <a:bodyPr wrap="square" lIns="0" tIns="0" rIns="0" bIns="0" anchor="ctr">
            <a:noAutofit/>
          </a:bodyPr>
          <a:lstStyle/>
          <a:p>
            <a:pPr algn="l">
              <a:buNone/>
              <a:defRPr sz="2625" b="1">
                <a:solidFill>
                  <a:srgbClr val="6D2E46"/>
                </a:solidFill>
                <a:latin typeface="Cambria"/>
                <a:ea typeface="Cambria"/>
                <a:cs typeface="Cambria"/>
              </a:defRPr>
            </a:pPr>
            <a:r>
              <a:rPr sz="2625" b="1">
                <a:solidFill>
                  <a:srgbClr val="6D2E46"/>
                </a:solidFill>
                <a:latin typeface="Cambria"/>
                <a:ea typeface="Cambria"/>
                <a:cs typeface="Cambria"/>
              </a:rPr>
              <a:t>Vielen Dank</a:t>
            </a:r>
          </a:p>
        </p:txBody>
      </p:sp>
      <p:sp>
        <p:nvSpPr>
          <p:cNvPr id="7" name="page-number">
            <a:extLst>
              <a:ext uri="{FF2B5EF4-FFF2-40B4-BE49-F238E27FC236}">
                <a16:creationId xmlns:a16="http://schemas.microsoft.com/office/drawing/2014/main" id="{FAD3121A-192E-4739-98BD-6708BACF5C8E}"/>
              </a:ext>
            </a:extLst>
          </p:cNvPr>
          <p:cNvSpPr>
            <a:spLocks noGrp="1"/>
          </p:cNvSpPr>
          <p:nvPr/>
        </p:nvSpPr>
        <p:spPr>
          <a:xfrm>
            <a:off x="11201400" y="6353175"/>
            <a:ext cx="333375" cy="209550"/>
          </a:xfrm>
          <a:prstGeom prst="rect">
            <a:avLst/>
          </a:prstGeom>
          <a:noFill/>
          <a:ln w="0">
            <a:noFill/>
          </a:ln>
        </p:spPr>
        <p:txBody>
          <a:bodyPr wrap="square" lIns="0" tIns="0" rIns="0" bIns="0" anchor="ctr">
            <a:noAutofit/>
          </a:bodyPr>
          <a:lstStyle/>
          <a:p>
            <a:pPr algn="r">
              <a:buNone/>
              <a:defRPr sz="1125" b="0">
                <a:solidFill>
                  <a:srgbClr val="7A6E74"/>
                </a:solidFill>
                <a:latin typeface="Calibri"/>
                <a:ea typeface="Calibri"/>
                <a:cs typeface="Calibri"/>
              </a:defRPr>
            </a:pPr>
            <a:r>
              <a:rPr sz="1125" b="0">
                <a:solidFill>
                  <a:srgbClr val="7A6E74"/>
                </a:solidFill>
                <a:latin typeface="Calibri"/>
                <a:ea typeface="Calibri"/>
                <a:cs typeface="Calibri"/>
              </a:rPr>
              <a:t>07</a:t>
            </a:r>
          </a:p>
        </p:txBody>
      </p:sp>
      <p:pic>
        <p:nvPicPr>
          <p:cNvPr id="9" name="Grafik 8">
            <a:extLst>
              <a:ext uri="{FF2B5EF4-FFF2-40B4-BE49-F238E27FC236}">
                <a16:creationId xmlns:a16="http://schemas.microsoft.com/office/drawing/2014/main" id="{FF679FA7-429A-E851-D5F2-2FB5CA0D2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 y="1685925"/>
            <a:ext cx="6643688" cy="4429125"/>
          </a:xfrm>
          <a:prstGeom prst="rect">
            <a:avLst/>
          </a:prstGeom>
        </p:spPr>
      </p:pic>
    </p:spTree>
    <p:extLst>
      <p:ext uri="{BB962C8B-B14F-4D97-AF65-F5344CB8AC3E}">
        <p14:creationId xmlns:p14="http://schemas.microsoft.com/office/powerpoint/2010/main" val="5281435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1119</Words>
  <Application>Microsoft Office PowerPoint</Application>
  <DocSecurity>0</DocSecurity>
  <PresentationFormat>Breitbild</PresentationFormat>
  <Paragraphs>134</Paragraphs>
  <Slides>7</Slides>
  <Notes>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Arial</vt:lpstr>
      <vt:lpstr>Calibri</vt:lpstr>
      <vt:lpstr>Cambria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Anton Hirsch</cp:lastModifiedBy>
  <cp:revision>2</cp:revision>
  <dcterms:created xsi:type="dcterms:W3CDTF">2026-09-13T14:31:30Z</dcterms:created>
  <dcterms:modified xsi:type="dcterms:W3CDTF">2026-09-13T16:05:43Z</dcterms:modified>
</cp:coreProperties>
</file>