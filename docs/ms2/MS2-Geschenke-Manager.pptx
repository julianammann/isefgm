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7" d="100"/>
          <a:sy n="157" d="100"/>
        </p:scale>
        <p:origin x="11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71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Hallo und herzlich willkommen zu unserer Projektvorstellung. Wir sind ein vierköpfiges Team im Modul Projekt Software Engineering und stellen euch heute unser Projekt vor: den Geschenke-Manager. Eine Web-Anwendung, die dabei hilft, dass man nie wieder einen Anlass vergisst, niemandem aus Versehen dasselbe zweimal schenkt und den Beschaffungsstress vor Geburtstagen und Weihnachten loswird.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zu uns: Ich bin Kevin und übernehme die Projektleitung und das Datenmodell. Julian ist unser Senior Full-Stack-Entwickler und kümmert sich um die technische Leitung und die Infrastruktur. Yin ist Detection Engineer und bringt Security und Frontend mit. Und Anton verantwortet Anforderungen und Dokumentation. Wir alle arbeiten berufsbegleitend und bringen viel Praxiserfahrung mit.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drei Situationen kennt wirklich jede Person: Man vergisst Anlässe, man verschenkt aus Versehen etwas doppelt, und kurz vor dem Termin fehlt Idee und Zeit. Genau hier setzen wir an. Unsere Idee ist, alles Wichtige an einer zentralen Stelle zu bündeln: die Personen, die Anlässe, die Geschenkideen, die bereits verschenkten Geschenke und die offenen Aufgaben.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Unsere Antwort ist der Geschenke-Manager: eine browserbasierte Web-App, bei der Datenschutz von Anfang an mitgedacht ist. Das Besondere: Personen, Anlässe und Ideen sind unabhängig voneinander. Man kann eine Idee sofort festhalten, selbst wenn noch nicht feststeht, für wen oder zu welchem Anlass sie ist. Die App deckt sechs Bausteine ab: Personen und Anlässe verwalten, Ideen erfassen, Erinnerungen, Listen teilen, automatische Vorschläge und durchgängiger Datenschutz.</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die wichtigsten Funktionen im Überblick. Man verwaltet Personen und Anlässe. Jede Geschenkidee durchläuft einen klaren Status von der ersten Idee bis zum verschenkten Geschenk. Automatische Erinnerungen warnen rechtzeitig vor Geburtstagen und Weihnachten. Ideenlisten lassen sich über sichere, widerrufbare Links teilen, zum Beispiel für ein Gruppengeschenk. Dazu kommen intelligente Vorschläge aus anonymisierten Daten und durchgängiger Datenschutz mit strikter Kontotrennung.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Technisch setzen wir auf einen modernen, containerisierten Aufbau. Frontend, Backend, ein Scheduler für die Erinnerungen und die Datenbank laufen getrennt in Docker-Containern. Nach außen gibt es nur einen einzigen Eingang: Traefik kümmert sich um Routing und um HTTPS mit automatischen Zertifikaten. Das Backend bauen wir mit Python, FastAPI und Uvicorn. Durch die getrennten Dienste können wir später einzelne Teile gezielt skalieren, falls die Nutzung wächst.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Projekt wird spannend durch die kniffligen Details. Vier Beispiele, an denen wir gerade arbeiten: Erstens die Zeit. Ein Geburtstag darf sich durch Zeitzonen nicht um einen Tag verschieben. Zweitens: Eine Erinnerung darf auch bei parallelen Abläufen nur ein einziges Mal versendet werden. Drittens das sichere Teilen ohne Login, aber mit Links, die niemand erraten kann. Und viertens Vorschläge, die ausschließlich anonymisierte Merkmale nutzen. Wie wir das genau lösen? Das zeigen wir euch in der Ergebnispräsentation.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 stehen wir und wie geht es weiter? Aktuell steht das Konzept: die Anforderungen, das Datenmodell und die Architektur sind ausgearbeitet. Als Nächstes bauen wir den lauffähigen Prototyp Schritt für Schritt. Und zum Schluss gibt es eine echte Live-Demo, direkt im Browser und ganz ohne Installation. Darauf freuen wir uns am meisten.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Damit sind wir am Ende unserer kurzen Vorstellung. Ihr habt gesehen, welches Problem wir lösen, was die App kann und wie wir sie bauen. Wie wir die kniffligen Details am Ende umsetzen und wie sich das Ganze anfühlt, zeigen wir euch in der Ergebnispräsentation. Bleibt neugierig und vielen Dank fürs Zuschauen.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E1B2C"/>
        </a:solidFill>
        <a:effectLst/>
      </p:bgPr>
    </p:bg>
    <p:spTree>
      <p:nvGrpSpPr>
        <p:cNvPr id="1" name=""/>
        <p:cNvGrpSpPr/>
        <p:nvPr/>
      </p:nvGrpSpPr>
      <p:grpSpPr>
        <a:xfrm>
          <a:off x="0" y="0"/>
          <a:ext cx="0" cy="0"/>
          <a:chOff x="0" y="0"/>
          <a:chExt cx="0" cy="0"/>
        </a:xfrm>
      </p:grpSpPr>
      <p:sp>
        <p:nvSpPr>
          <p:cNvPr id="2" name="Shape 0"/>
          <p:cNvSpPr/>
          <p:nvPr/>
        </p:nvSpPr>
        <p:spPr>
          <a:xfrm>
            <a:off x="8778240" y="-2103120"/>
            <a:ext cx="5943600" cy="5943600"/>
          </a:xfrm>
          <a:prstGeom prst="ellipse">
            <a:avLst/>
          </a:prstGeom>
          <a:solidFill>
            <a:srgbClr val="6D2E46">
              <a:alpha val="60000"/>
            </a:srgbClr>
          </a:solidFill>
          <a:ln/>
        </p:spPr>
        <p:txBody>
          <a:bodyPr/>
          <a:lstStyle/>
          <a:p>
            <a:endParaRPr lang="de-DE"/>
          </a:p>
        </p:txBody>
      </p:sp>
      <p:sp>
        <p:nvSpPr>
          <p:cNvPr id="3" name="Shape 1"/>
          <p:cNvSpPr/>
          <p:nvPr/>
        </p:nvSpPr>
        <p:spPr>
          <a:xfrm>
            <a:off x="10241280" y="3566160"/>
            <a:ext cx="3840480" cy="3840480"/>
          </a:xfrm>
          <a:prstGeom prst="ellipse">
            <a:avLst/>
          </a:prstGeom>
          <a:solidFill>
            <a:srgbClr val="C9A227">
              <a:alpha val="18000"/>
            </a:srgbClr>
          </a:solidFill>
          <a:ln/>
        </p:spPr>
        <p:txBody>
          <a:bodyPr/>
          <a:lstStyle/>
          <a:p>
            <a:endParaRPr lang="de-DE"/>
          </a:p>
        </p:txBody>
      </p:sp>
      <p:sp>
        <p:nvSpPr>
          <p:cNvPr id="4" name="Text 2"/>
          <p:cNvSpPr txBox="1"/>
          <p:nvPr/>
        </p:nvSpPr>
        <p:spPr>
          <a:xfrm>
            <a:off x="777240" y="1371600"/>
            <a:ext cx="7315200" cy="320040"/>
          </a:xfrm>
          <a:prstGeom prst="rect">
            <a:avLst/>
          </a:prstGeom>
          <a:noFill/>
          <a:ln/>
        </p:spPr>
        <p:txBody>
          <a:bodyPr wrap="square" lIns="0" tIns="0" rIns="0" bIns="0" rtlCol="0" anchor="ctr"/>
          <a:lstStyle/>
          <a:p>
            <a:pPr marL="0" indent="0" algn="l">
              <a:buNone/>
            </a:pPr>
            <a:r>
              <a:rPr lang="en-US" sz="1200" b="1" kern="0" spc="300" dirty="0">
                <a:solidFill>
                  <a:srgbClr val="C9A227"/>
                </a:solidFill>
                <a:latin typeface="Calibri" pitchFamily="34" charset="0"/>
                <a:ea typeface="Calibri" pitchFamily="34" charset="-122"/>
                <a:cs typeface="Calibri" pitchFamily="34" charset="-120"/>
              </a:rPr>
              <a:t>ISEF01 · PROJEKT SOFTWARE ENGINEERING</a:t>
            </a:r>
            <a:endParaRPr lang="en-US" sz="1200" dirty="0"/>
          </a:p>
        </p:txBody>
      </p:sp>
      <p:sp>
        <p:nvSpPr>
          <p:cNvPr id="5" name="Text 3"/>
          <p:cNvSpPr txBox="1"/>
          <p:nvPr/>
        </p:nvSpPr>
        <p:spPr>
          <a:xfrm>
            <a:off x="731520" y="2148840"/>
            <a:ext cx="10607040" cy="1280160"/>
          </a:xfrm>
          <a:prstGeom prst="rect">
            <a:avLst/>
          </a:prstGeom>
          <a:noFill/>
          <a:ln/>
        </p:spPr>
        <p:txBody>
          <a:bodyPr wrap="square" lIns="0" tIns="0" rIns="0" bIns="0" rtlCol="0" anchor="ctr"/>
          <a:lstStyle/>
          <a:p>
            <a:pPr marL="0" indent="0" algn="l">
              <a:buNone/>
            </a:pPr>
            <a:r>
              <a:rPr lang="en-US" sz="6000" b="1" dirty="0">
                <a:solidFill>
                  <a:srgbClr val="C9A227"/>
                </a:solidFill>
                <a:latin typeface="Cambria" pitchFamily="34" charset="0"/>
                <a:ea typeface="Cambria" pitchFamily="34" charset="-122"/>
                <a:cs typeface="Cambria" pitchFamily="34" charset="-120"/>
              </a:rPr>
              <a:t>Geschenke</a:t>
            </a:r>
            <a:r>
              <a:rPr lang="en-US" sz="6000" b="1" dirty="0">
                <a:solidFill>
                  <a:srgbClr val="FFFFFF"/>
                </a:solidFill>
                <a:latin typeface="Cambria" pitchFamily="34" charset="0"/>
                <a:ea typeface="Cambria" pitchFamily="34" charset="-122"/>
                <a:cs typeface="Cambria" pitchFamily="34" charset="-120"/>
              </a:rPr>
              <a:t>-Manager</a:t>
            </a:r>
            <a:endParaRPr lang="en-US" sz="6000" dirty="0"/>
          </a:p>
        </p:txBody>
      </p:sp>
      <p:sp>
        <p:nvSpPr>
          <p:cNvPr id="6" name="Text 4"/>
          <p:cNvSpPr txBox="1"/>
          <p:nvPr/>
        </p:nvSpPr>
        <p:spPr>
          <a:xfrm>
            <a:off x="777240" y="3429000"/>
            <a:ext cx="9601200" cy="548640"/>
          </a:xfrm>
          <a:prstGeom prst="rect">
            <a:avLst/>
          </a:prstGeom>
          <a:noFill/>
          <a:ln/>
        </p:spPr>
        <p:txBody>
          <a:bodyPr wrap="square" lIns="0" tIns="0" rIns="0" bIns="0" rtlCol="0" anchor="ctr"/>
          <a:lstStyle/>
          <a:p>
            <a:pPr marL="0" indent="0" algn="l">
              <a:buNone/>
            </a:pPr>
            <a:r>
              <a:rPr lang="en-US" sz="2100" i="1" dirty="0">
                <a:solidFill>
                  <a:srgbClr val="EBDDE3"/>
                </a:solidFill>
                <a:latin typeface="Calibri" pitchFamily="34" charset="0"/>
                <a:ea typeface="Calibri" pitchFamily="34" charset="-122"/>
                <a:cs typeface="Calibri" pitchFamily="34" charset="-120"/>
              </a:rPr>
              <a:t>Nie wieder Anlässe vergessen, doppelt schenken oder in Stress geraten.</a:t>
            </a:r>
            <a:endParaRPr lang="en-US" sz="2100" dirty="0"/>
          </a:p>
        </p:txBody>
      </p:sp>
      <p:sp>
        <p:nvSpPr>
          <p:cNvPr id="7" name="Text 5"/>
          <p:cNvSpPr txBox="1"/>
          <p:nvPr/>
        </p:nvSpPr>
        <p:spPr>
          <a:xfrm>
            <a:off x="777240" y="4114800"/>
            <a:ext cx="8229600" cy="457200"/>
          </a:xfrm>
          <a:prstGeom prst="rect">
            <a:avLst/>
          </a:prstGeom>
          <a:noFill/>
          <a:ln/>
        </p:spPr>
        <p:txBody>
          <a:bodyPr wrap="square" lIns="0" tIns="0" rIns="0" bIns="0" rtlCol="0" anchor="ctr"/>
          <a:lstStyle/>
          <a:p>
            <a:pPr marL="0" indent="0" algn="l">
              <a:buNone/>
            </a:pPr>
            <a:r>
              <a:rPr lang="en-US" sz="1600" b="1" dirty="0">
                <a:solidFill>
                  <a:srgbClr val="A26769"/>
                </a:solidFill>
                <a:latin typeface="Calibri" pitchFamily="34" charset="0"/>
                <a:ea typeface="Calibri" pitchFamily="34" charset="-122"/>
                <a:cs typeface="Calibri" pitchFamily="34" charset="-120"/>
              </a:rPr>
              <a:t>Projektvorstellung · Meilenstein 2</a:t>
            </a:r>
            <a:endParaRPr lang="en-US" sz="1600" dirty="0"/>
          </a:p>
        </p:txBody>
      </p:sp>
      <p:sp>
        <p:nvSpPr>
          <p:cNvPr id="8" name="Text 6"/>
          <p:cNvSpPr txBox="1"/>
          <p:nvPr/>
        </p:nvSpPr>
        <p:spPr>
          <a:xfrm>
            <a:off x="777240" y="6172200"/>
            <a:ext cx="10515600" cy="365760"/>
          </a:xfrm>
          <a:prstGeom prst="rect">
            <a:avLst/>
          </a:prstGeom>
          <a:noFill/>
          <a:ln/>
        </p:spPr>
        <p:txBody>
          <a:bodyPr wrap="square" lIns="0" tIns="0" rIns="0" bIns="0" rtlCol="0" anchor="ctr"/>
          <a:lstStyle/>
          <a:p>
            <a:pPr marL="0" indent="0" algn="l">
              <a:buNone/>
            </a:pPr>
            <a:r>
              <a:rPr lang="en-US" sz="1300" dirty="0">
                <a:solidFill>
                  <a:srgbClr val="A26769"/>
                </a:solidFill>
                <a:latin typeface="Calibri" pitchFamily="34" charset="0"/>
                <a:ea typeface="Calibri" pitchFamily="34" charset="-122"/>
                <a:cs typeface="Calibri" pitchFamily="34" charset="-120"/>
              </a:rPr>
              <a:t>Kevin Jordan Taghu  ·  Julian Ammann  ·  Yin Yin Wu-Hanke  ·  Anton Hirsch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marL="0" indent="0" algn="l">
              <a:buNone/>
            </a:pPr>
            <a:r>
              <a:rPr lang="en-US" sz="1200" b="1" kern="0" spc="300" dirty="0">
                <a:solidFill>
                  <a:srgbClr val="C9A227"/>
                </a:solidFill>
                <a:latin typeface="Calibri" pitchFamily="34" charset="0"/>
                <a:ea typeface="Calibri" pitchFamily="34" charset="-122"/>
                <a:cs typeface="Calibri" pitchFamily="34" charset="-120"/>
              </a:rPr>
              <a:t>WER WIR SIND</a:t>
            </a:r>
            <a:endParaRPr lang="en-US" sz="1200" dirty="0"/>
          </a:p>
        </p:txBody>
      </p:sp>
      <p:sp>
        <p:nvSpPr>
          <p:cNvPr id="3" name="Text 1"/>
          <p:cNvSpPr txBox="1"/>
          <p:nvPr/>
        </p:nvSpPr>
        <p:spPr>
          <a:xfrm>
            <a:off x="640080" y="822960"/>
            <a:ext cx="10972800" cy="868680"/>
          </a:xfrm>
          <a:prstGeom prst="rect">
            <a:avLst/>
          </a:prstGeom>
          <a:noFill/>
          <a:ln/>
        </p:spPr>
        <p:txBody>
          <a:bodyPr wrap="square" lIns="0" tIns="0" rIns="0" bIns="0"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Das Team</a:t>
            </a:r>
            <a:endParaRPr lang="en-US" sz="3400" dirty="0"/>
          </a:p>
        </p:txBody>
      </p:sp>
      <p:pic>
        <p:nvPicPr>
          <p:cNvPr id="4" name="Image 0" descr="../Overleaf-MS1-flat/team_jordan.png"/>
          <p:cNvPicPr>
            <a:picLocks noChangeAspect="1"/>
          </p:cNvPicPr>
          <p:nvPr/>
        </p:nvPicPr>
        <p:blipFill>
          <a:blip r:embed="rId3"/>
          <a:srcRect/>
          <a:stretch/>
        </p:blipFill>
        <p:spPr>
          <a:xfrm>
            <a:off x="822960" y="1874520"/>
            <a:ext cx="2194560" cy="2697480"/>
          </a:xfrm>
          <a:prstGeom prst="rect">
            <a:avLst/>
          </a:prstGeom>
        </p:spPr>
      </p:pic>
      <p:sp>
        <p:nvSpPr>
          <p:cNvPr id="5" name="Text 2"/>
          <p:cNvSpPr txBox="1"/>
          <p:nvPr/>
        </p:nvSpPr>
        <p:spPr>
          <a:xfrm>
            <a:off x="640080" y="4709160"/>
            <a:ext cx="2560320" cy="457200"/>
          </a:xfrm>
          <a:prstGeom prst="rect">
            <a:avLst/>
          </a:prstGeom>
          <a:noFill/>
          <a:ln/>
        </p:spPr>
        <p:txBody>
          <a:bodyPr wrap="square" lIns="0" tIns="0" rIns="0" bIns="0" rtlCol="0" anchor="ctr"/>
          <a:lstStyle/>
          <a:p>
            <a:pPr marL="0" indent="0" algn="ctr">
              <a:buNone/>
            </a:pPr>
            <a:r>
              <a:rPr lang="en-US" sz="1500" b="1" dirty="0">
                <a:solidFill>
                  <a:srgbClr val="2B2430"/>
                </a:solidFill>
                <a:latin typeface="Calibri" pitchFamily="34" charset="0"/>
                <a:ea typeface="Calibri" pitchFamily="34" charset="-122"/>
                <a:cs typeface="Calibri" pitchFamily="34" charset="-120"/>
              </a:rPr>
              <a:t>Kevin Jordan Taghu</a:t>
            </a:r>
            <a:endParaRPr lang="en-US" sz="1500" dirty="0"/>
          </a:p>
        </p:txBody>
      </p:sp>
      <p:sp>
        <p:nvSpPr>
          <p:cNvPr id="6" name="Text 3"/>
          <p:cNvSpPr txBox="1"/>
          <p:nvPr/>
        </p:nvSpPr>
        <p:spPr>
          <a:xfrm>
            <a:off x="640080" y="5120640"/>
            <a:ext cx="2560320" cy="548640"/>
          </a:xfrm>
          <a:prstGeom prst="rect">
            <a:avLst/>
          </a:prstGeom>
          <a:noFill/>
          <a:ln/>
        </p:spPr>
        <p:txBody>
          <a:bodyPr wrap="square" lIns="0" tIns="0" rIns="0" bIns="0" rtlCol="0" anchor="ctr"/>
          <a:lstStyle/>
          <a:p>
            <a:pPr marL="0" indent="0" algn="ctr">
              <a:buNone/>
            </a:pPr>
            <a:r>
              <a:rPr lang="en-US" sz="1250" dirty="0">
                <a:solidFill>
                  <a:srgbClr val="7A6E74"/>
                </a:solidFill>
                <a:latin typeface="Calibri" pitchFamily="34" charset="0"/>
                <a:ea typeface="Calibri" pitchFamily="34" charset="-122"/>
                <a:cs typeface="Calibri" pitchFamily="34" charset="-120"/>
              </a:rPr>
              <a:t>Projektleitung &amp; Datenmodell</a:t>
            </a:r>
            <a:endParaRPr lang="en-US" sz="1250" dirty="0"/>
          </a:p>
        </p:txBody>
      </p:sp>
      <p:pic>
        <p:nvPicPr>
          <p:cNvPr id="7" name="Image 1" descr="../Overleaf-MS1-flat/team_julian.jpg"/>
          <p:cNvPicPr>
            <a:picLocks noChangeAspect="1"/>
          </p:cNvPicPr>
          <p:nvPr/>
        </p:nvPicPr>
        <p:blipFill>
          <a:blip r:embed="rId4"/>
          <a:srcRect/>
          <a:stretch/>
        </p:blipFill>
        <p:spPr>
          <a:xfrm>
            <a:off x="3611880" y="1874520"/>
            <a:ext cx="2194560" cy="2697480"/>
          </a:xfrm>
          <a:prstGeom prst="rect">
            <a:avLst/>
          </a:prstGeom>
        </p:spPr>
      </p:pic>
      <p:sp>
        <p:nvSpPr>
          <p:cNvPr id="8" name="Text 4"/>
          <p:cNvSpPr txBox="1"/>
          <p:nvPr/>
        </p:nvSpPr>
        <p:spPr>
          <a:xfrm>
            <a:off x="3429000" y="4709160"/>
            <a:ext cx="2560320" cy="457200"/>
          </a:xfrm>
          <a:prstGeom prst="rect">
            <a:avLst/>
          </a:prstGeom>
          <a:noFill/>
          <a:ln/>
        </p:spPr>
        <p:txBody>
          <a:bodyPr wrap="square" lIns="0" tIns="0" rIns="0" bIns="0" rtlCol="0" anchor="ctr"/>
          <a:lstStyle/>
          <a:p>
            <a:pPr marL="0" indent="0" algn="ctr">
              <a:buNone/>
            </a:pPr>
            <a:r>
              <a:rPr lang="en-US" sz="1500" b="1" dirty="0">
                <a:solidFill>
                  <a:srgbClr val="2B2430"/>
                </a:solidFill>
                <a:latin typeface="Calibri" pitchFamily="34" charset="0"/>
                <a:ea typeface="Calibri" pitchFamily="34" charset="-122"/>
                <a:cs typeface="Calibri" pitchFamily="34" charset="-120"/>
              </a:rPr>
              <a:t>Julian Ammann</a:t>
            </a:r>
            <a:endParaRPr lang="en-US" sz="1500" dirty="0"/>
          </a:p>
        </p:txBody>
      </p:sp>
      <p:sp>
        <p:nvSpPr>
          <p:cNvPr id="9" name="Text 5"/>
          <p:cNvSpPr txBox="1"/>
          <p:nvPr/>
        </p:nvSpPr>
        <p:spPr>
          <a:xfrm>
            <a:off x="3429000" y="5120640"/>
            <a:ext cx="2560320" cy="548640"/>
          </a:xfrm>
          <a:prstGeom prst="rect">
            <a:avLst/>
          </a:prstGeom>
          <a:noFill/>
          <a:ln/>
        </p:spPr>
        <p:txBody>
          <a:bodyPr wrap="square" lIns="0" tIns="0" rIns="0" bIns="0" rtlCol="0" anchor="ctr"/>
          <a:lstStyle/>
          <a:p>
            <a:pPr marL="0" indent="0" algn="ctr">
              <a:buNone/>
            </a:pPr>
            <a:r>
              <a:rPr lang="en-US" sz="1250" dirty="0">
                <a:solidFill>
                  <a:srgbClr val="7A6E74"/>
                </a:solidFill>
                <a:latin typeface="Calibri" pitchFamily="34" charset="0"/>
                <a:ea typeface="Calibri" pitchFamily="34" charset="-122"/>
                <a:cs typeface="Calibri" pitchFamily="34" charset="-120"/>
              </a:rPr>
              <a:t>Technische Leitung &amp; Full-Stack</a:t>
            </a:r>
            <a:endParaRPr lang="en-US" sz="1250" dirty="0"/>
          </a:p>
        </p:txBody>
      </p:sp>
      <p:pic>
        <p:nvPicPr>
          <p:cNvPr id="10" name="Image 2" descr="../Overleaf-MS1-flat/team_yin.jpg"/>
          <p:cNvPicPr>
            <a:picLocks noChangeAspect="1"/>
          </p:cNvPicPr>
          <p:nvPr/>
        </p:nvPicPr>
        <p:blipFill>
          <a:blip r:embed="rId5"/>
          <a:srcRect/>
          <a:stretch/>
        </p:blipFill>
        <p:spPr>
          <a:xfrm>
            <a:off x="6400800" y="1874520"/>
            <a:ext cx="2194560" cy="2697480"/>
          </a:xfrm>
          <a:prstGeom prst="rect">
            <a:avLst/>
          </a:prstGeom>
        </p:spPr>
      </p:pic>
      <p:sp>
        <p:nvSpPr>
          <p:cNvPr id="11" name="Text 6"/>
          <p:cNvSpPr txBox="1"/>
          <p:nvPr/>
        </p:nvSpPr>
        <p:spPr>
          <a:xfrm>
            <a:off x="6217920" y="4709160"/>
            <a:ext cx="2560320" cy="457200"/>
          </a:xfrm>
          <a:prstGeom prst="rect">
            <a:avLst/>
          </a:prstGeom>
          <a:noFill/>
          <a:ln/>
        </p:spPr>
        <p:txBody>
          <a:bodyPr wrap="square" lIns="0" tIns="0" rIns="0" bIns="0" rtlCol="0" anchor="ctr"/>
          <a:lstStyle/>
          <a:p>
            <a:pPr marL="0" indent="0" algn="ctr">
              <a:buNone/>
            </a:pPr>
            <a:r>
              <a:rPr lang="en-US" sz="1500" b="1" dirty="0">
                <a:solidFill>
                  <a:srgbClr val="2B2430"/>
                </a:solidFill>
                <a:latin typeface="Calibri" pitchFamily="34" charset="0"/>
                <a:ea typeface="Calibri" pitchFamily="34" charset="-122"/>
                <a:cs typeface="Calibri" pitchFamily="34" charset="-120"/>
              </a:rPr>
              <a:t>Yin Yin Wu-Hanke</a:t>
            </a:r>
            <a:endParaRPr lang="en-US" sz="1500" dirty="0"/>
          </a:p>
        </p:txBody>
      </p:sp>
      <p:sp>
        <p:nvSpPr>
          <p:cNvPr id="12" name="Text 7"/>
          <p:cNvSpPr txBox="1"/>
          <p:nvPr/>
        </p:nvSpPr>
        <p:spPr>
          <a:xfrm>
            <a:off x="6217920" y="5120640"/>
            <a:ext cx="2560320" cy="548640"/>
          </a:xfrm>
          <a:prstGeom prst="rect">
            <a:avLst/>
          </a:prstGeom>
          <a:noFill/>
          <a:ln/>
        </p:spPr>
        <p:txBody>
          <a:bodyPr wrap="square" lIns="0" tIns="0" rIns="0" bIns="0" rtlCol="0" anchor="ctr"/>
          <a:lstStyle/>
          <a:p>
            <a:pPr marL="0" indent="0" algn="ctr">
              <a:buNone/>
            </a:pPr>
            <a:r>
              <a:rPr lang="en-US" sz="1250" dirty="0">
                <a:solidFill>
                  <a:srgbClr val="7A6E74"/>
                </a:solidFill>
                <a:latin typeface="Calibri" pitchFamily="34" charset="0"/>
                <a:ea typeface="Calibri" pitchFamily="34" charset="-122"/>
                <a:cs typeface="Calibri" pitchFamily="34" charset="-120"/>
              </a:rPr>
              <a:t>Security &amp; Frontend</a:t>
            </a:r>
            <a:endParaRPr lang="en-US" sz="1250" dirty="0"/>
          </a:p>
        </p:txBody>
      </p:sp>
      <p:pic>
        <p:nvPicPr>
          <p:cNvPr id="13" name="Image 3" descr="../Overleaf-MS1-flat/team_anton.jpg"/>
          <p:cNvPicPr>
            <a:picLocks noChangeAspect="1"/>
          </p:cNvPicPr>
          <p:nvPr/>
        </p:nvPicPr>
        <p:blipFill>
          <a:blip r:embed="rId6"/>
          <a:srcRect/>
          <a:stretch/>
        </p:blipFill>
        <p:spPr>
          <a:xfrm>
            <a:off x="9189720" y="1874520"/>
            <a:ext cx="2194560" cy="2697480"/>
          </a:xfrm>
          <a:prstGeom prst="rect">
            <a:avLst/>
          </a:prstGeom>
        </p:spPr>
      </p:pic>
      <p:sp>
        <p:nvSpPr>
          <p:cNvPr id="14" name="Text 8"/>
          <p:cNvSpPr txBox="1"/>
          <p:nvPr/>
        </p:nvSpPr>
        <p:spPr>
          <a:xfrm>
            <a:off x="9006840" y="4709160"/>
            <a:ext cx="2560320" cy="457200"/>
          </a:xfrm>
          <a:prstGeom prst="rect">
            <a:avLst/>
          </a:prstGeom>
          <a:noFill/>
          <a:ln/>
        </p:spPr>
        <p:txBody>
          <a:bodyPr wrap="square" lIns="0" tIns="0" rIns="0" bIns="0" rtlCol="0" anchor="ctr"/>
          <a:lstStyle/>
          <a:p>
            <a:pPr marL="0" indent="0" algn="ctr">
              <a:buNone/>
            </a:pPr>
            <a:r>
              <a:rPr lang="en-US" sz="1500" b="1" dirty="0">
                <a:solidFill>
                  <a:srgbClr val="2B2430"/>
                </a:solidFill>
                <a:latin typeface="Calibri" pitchFamily="34" charset="0"/>
                <a:ea typeface="Calibri" pitchFamily="34" charset="-122"/>
                <a:cs typeface="Calibri" pitchFamily="34" charset="-120"/>
              </a:rPr>
              <a:t>Anton Hirsch</a:t>
            </a:r>
            <a:endParaRPr lang="en-US" sz="1500" dirty="0"/>
          </a:p>
        </p:txBody>
      </p:sp>
      <p:sp>
        <p:nvSpPr>
          <p:cNvPr id="15" name="Text 9"/>
          <p:cNvSpPr txBox="1"/>
          <p:nvPr/>
        </p:nvSpPr>
        <p:spPr>
          <a:xfrm>
            <a:off x="9006840" y="5120640"/>
            <a:ext cx="2560320" cy="548640"/>
          </a:xfrm>
          <a:prstGeom prst="rect">
            <a:avLst/>
          </a:prstGeom>
          <a:noFill/>
          <a:ln/>
        </p:spPr>
        <p:txBody>
          <a:bodyPr wrap="square" lIns="0" tIns="0" rIns="0" bIns="0" rtlCol="0" anchor="ctr"/>
          <a:lstStyle/>
          <a:p>
            <a:pPr marL="0" indent="0" algn="ctr">
              <a:buNone/>
            </a:pPr>
            <a:r>
              <a:rPr lang="en-US" sz="1250" dirty="0">
                <a:solidFill>
                  <a:srgbClr val="7A6E74"/>
                </a:solidFill>
                <a:latin typeface="Calibri" pitchFamily="34" charset="0"/>
                <a:ea typeface="Calibri" pitchFamily="34" charset="-122"/>
                <a:cs typeface="Calibri" pitchFamily="34" charset="-120"/>
              </a:rPr>
              <a:t>Anforderungen &amp; Dokumentation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marL="0" indent="0" algn="l">
              <a:buNone/>
            </a:pPr>
            <a:r>
              <a:rPr lang="en-US" sz="1200" b="1" kern="0" spc="300" dirty="0">
                <a:solidFill>
                  <a:srgbClr val="C9A227"/>
                </a:solidFill>
                <a:latin typeface="Calibri" pitchFamily="34" charset="0"/>
                <a:ea typeface="Calibri" pitchFamily="34" charset="-122"/>
                <a:cs typeface="Calibri" pitchFamily="34" charset="-120"/>
              </a:rPr>
              <a:t>WARUM ÜBERHAUPT</a:t>
            </a:r>
            <a:endParaRPr lang="en-US" sz="1200" dirty="0"/>
          </a:p>
        </p:txBody>
      </p:sp>
      <p:sp>
        <p:nvSpPr>
          <p:cNvPr id="3" name="Text 1"/>
          <p:cNvSpPr txBox="1"/>
          <p:nvPr/>
        </p:nvSpPr>
        <p:spPr>
          <a:xfrm>
            <a:off x="640080" y="822960"/>
            <a:ext cx="10972800" cy="868680"/>
          </a:xfrm>
          <a:prstGeom prst="rect">
            <a:avLst/>
          </a:prstGeom>
          <a:noFill/>
          <a:ln/>
        </p:spPr>
        <p:txBody>
          <a:bodyPr wrap="square" lIns="0" tIns="0" rIns="0" bIns="0"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Das kennt jede:r</a:t>
            </a:r>
            <a:endParaRPr lang="en-US" sz="3400" dirty="0"/>
          </a:p>
        </p:txBody>
      </p:sp>
      <p:sp>
        <p:nvSpPr>
          <p:cNvPr id="4" name="Shape 2"/>
          <p:cNvSpPr/>
          <p:nvPr/>
        </p:nvSpPr>
        <p:spPr>
          <a:xfrm>
            <a:off x="685800" y="1965960"/>
            <a:ext cx="640080" cy="640080"/>
          </a:xfrm>
          <a:prstGeom prst="ellipse">
            <a:avLst/>
          </a:prstGeom>
          <a:solidFill>
            <a:srgbClr val="6D2E46"/>
          </a:solidFill>
          <a:ln/>
        </p:spPr>
        <p:txBody>
          <a:bodyPr/>
          <a:lstStyle/>
          <a:p>
            <a:endParaRPr lang="de-DE"/>
          </a:p>
        </p:txBody>
      </p:sp>
      <p:sp>
        <p:nvSpPr>
          <p:cNvPr id="5" name="Text 3"/>
          <p:cNvSpPr txBox="1"/>
          <p:nvPr/>
        </p:nvSpPr>
        <p:spPr>
          <a:xfrm>
            <a:off x="685800" y="1965960"/>
            <a:ext cx="640080" cy="640080"/>
          </a:xfrm>
          <a:prstGeom prst="rect">
            <a:avLst/>
          </a:prstGeom>
          <a:noFill/>
          <a:ln/>
        </p:spPr>
        <p:txBody>
          <a:bodyPr wrap="square" lIns="0" tIns="0" rIns="0" bIns="0" rtlCol="0" anchor="ctr"/>
          <a:lstStyle/>
          <a:p>
            <a:pPr marL="0" indent="0" algn="ctr">
              <a:buNone/>
            </a:pPr>
            <a:r>
              <a:rPr lang="en-US" sz="2400" b="1" dirty="0">
                <a:solidFill>
                  <a:srgbClr val="C9A227"/>
                </a:solidFill>
                <a:latin typeface="Cambria" pitchFamily="34" charset="0"/>
                <a:ea typeface="Cambria" pitchFamily="34" charset="-122"/>
                <a:cs typeface="Cambria" pitchFamily="34" charset="-120"/>
              </a:rPr>
              <a:t>1</a:t>
            </a:r>
            <a:endParaRPr lang="en-US" sz="2400" dirty="0"/>
          </a:p>
        </p:txBody>
      </p:sp>
      <p:sp>
        <p:nvSpPr>
          <p:cNvPr id="6" name="Text 4"/>
          <p:cNvSpPr txBox="1"/>
          <p:nvPr/>
        </p:nvSpPr>
        <p:spPr>
          <a:xfrm>
            <a:off x="1554480" y="1920240"/>
            <a:ext cx="5486400" cy="457200"/>
          </a:xfrm>
          <a:prstGeom prst="rect">
            <a:avLst/>
          </a:prstGeom>
          <a:noFill/>
          <a:ln/>
        </p:spPr>
        <p:txBody>
          <a:bodyPr wrap="square" lIns="0" tIns="0" rIns="0" bIns="0" rtlCol="0" anchor="ctr"/>
          <a:lstStyle/>
          <a:p>
            <a:pPr marL="0" indent="0" algn="l">
              <a:buNone/>
            </a:pPr>
            <a:r>
              <a:rPr lang="en-US" sz="2000" b="1" dirty="0">
                <a:solidFill>
                  <a:srgbClr val="2B2430"/>
                </a:solidFill>
                <a:latin typeface="Calibri" pitchFamily="34" charset="0"/>
                <a:ea typeface="Calibri" pitchFamily="34" charset="-122"/>
                <a:cs typeface="Calibri" pitchFamily="34" charset="-120"/>
              </a:rPr>
              <a:t>Vergessene Anlässe</a:t>
            </a:r>
            <a:endParaRPr lang="en-US" sz="2000" dirty="0"/>
          </a:p>
        </p:txBody>
      </p:sp>
      <p:sp>
        <p:nvSpPr>
          <p:cNvPr id="7" name="Text 5"/>
          <p:cNvSpPr txBox="1"/>
          <p:nvPr/>
        </p:nvSpPr>
        <p:spPr>
          <a:xfrm>
            <a:off x="1554480" y="2350008"/>
            <a:ext cx="5669280" cy="640080"/>
          </a:xfrm>
          <a:prstGeom prst="rect">
            <a:avLst/>
          </a:prstGeom>
          <a:noFill/>
          <a:ln/>
        </p:spPr>
        <p:txBody>
          <a:bodyPr wrap="square" lIns="0" tIns="0" rIns="0" bIns="0" rtlCol="0" anchor="ctr"/>
          <a:lstStyle/>
          <a:p>
            <a:pPr marL="0" indent="0" algn="l">
              <a:buNone/>
            </a:pPr>
            <a:r>
              <a:rPr lang="en-US" sz="1400" dirty="0">
                <a:solidFill>
                  <a:srgbClr val="7A6E74"/>
                </a:solidFill>
                <a:latin typeface="Calibri" pitchFamily="34" charset="0"/>
                <a:ea typeface="Calibri" pitchFamily="34" charset="-122"/>
                <a:cs typeface="Calibri" pitchFamily="34" charset="-120"/>
              </a:rPr>
              <a:t>Geburtstage und Feste tauchen plötzlich auf und man wird überrascht.</a:t>
            </a:r>
            <a:endParaRPr lang="en-US" sz="1400" dirty="0"/>
          </a:p>
        </p:txBody>
      </p:sp>
      <p:sp>
        <p:nvSpPr>
          <p:cNvPr id="8" name="Shape 6"/>
          <p:cNvSpPr/>
          <p:nvPr/>
        </p:nvSpPr>
        <p:spPr>
          <a:xfrm>
            <a:off x="685800" y="3383280"/>
            <a:ext cx="640080" cy="640080"/>
          </a:xfrm>
          <a:prstGeom prst="ellipse">
            <a:avLst/>
          </a:prstGeom>
          <a:solidFill>
            <a:srgbClr val="6D2E46"/>
          </a:solidFill>
          <a:ln/>
        </p:spPr>
        <p:txBody>
          <a:bodyPr/>
          <a:lstStyle/>
          <a:p>
            <a:endParaRPr lang="de-DE"/>
          </a:p>
        </p:txBody>
      </p:sp>
      <p:sp>
        <p:nvSpPr>
          <p:cNvPr id="9" name="Text 7"/>
          <p:cNvSpPr txBox="1"/>
          <p:nvPr/>
        </p:nvSpPr>
        <p:spPr>
          <a:xfrm>
            <a:off x="685800" y="3383280"/>
            <a:ext cx="640080" cy="640080"/>
          </a:xfrm>
          <a:prstGeom prst="rect">
            <a:avLst/>
          </a:prstGeom>
          <a:noFill/>
          <a:ln/>
        </p:spPr>
        <p:txBody>
          <a:bodyPr wrap="square" lIns="0" tIns="0" rIns="0" bIns="0" rtlCol="0" anchor="ctr"/>
          <a:lstStyle/>
          <a:p>
            <a:pPr marL="0" indent="0" algn="ctr">
              <a:buNone/>
            </a:pPr>
            <a:r>
              <a:rPr lang="en-US" sz="2400" b="1" dirty="0">
                <a:solidFill>
                  <a:srgbClr val="C9A227"/>
                </a:solidFill>
                <a:latin typeface="Cambria" pitchFamily="34" charset="0"/>
                <a:ea typeface="Cambria" pitchFamily="34" charset="-122"/>
                <a:cs typeface="Cambria" pitchFamily="34" charset="-120"/>
              </a:rPr>
              <a:t>2</a:t>
            </a:r>
            <a:endParaRPr lang="en-US" sz="2400" dirty="0"/>
          </a:p>
        </p:txBody>
      </p:sp>
      <p:sp>
        <p:nvSpPr>
          <p:cNvPr id="10" name="Text 8"/>
          <p:cNvSpPr txBox="1"/>
          <p:nvPr/>
        </p:nvSpPr>
        <p:spPr>
          <a:xfrm>
            <a:off x="1554480" y="3337560"/>
            <a:ext cx="5486400" cy="457200"/>
          </a:xfrm>
          <a:prstGeom prst="rect">
            <a:avLst/>
          </a:prstGeom>
          <a:noFill/>
          <a:ln/>
        </p:spPr>
        <p:txBody>
          <a:bodyPr wrap="square" lIns="0" tIns="0" rIns="0" bIns="0" rtlCol="0" anchor="ctr"/>
          <a:lstStyle/>
          <a:p>
            <a:pPr marL="0" indent="0" algn="l">
              <a:buNone/>
            </a:pPr>
            <a:r>
              <a:rPr lang="en-US" sz="2000" b="1" dirty="0">
                <a:solidFill>
                  <a:srgbClr val="2B2430"/>
                </a:solidFill>
                <a:latin typeface="Calibri" pitchFamily="34" charset="0"/>
                <a:ea typeface="Calibri" pitchFamily="34" charset="-122"/>
                <a:cs typeface="Calibri" pitchFamily="34" charset="-120"/>
              </a:rPr>
              <a:t>Doppelte Geschenke</a:t>
            </a:r>
            <a:endParaRPr lang="en-US" sz="2000" dirty="0"/>
          </a:p>
        </p:txBody>
      </p:sp>
      <p:sp>
        <p:nvSpPr>
          <p:cNvPr id="11" name="Text 9"/>
          <p:cNvSpPr txBox="1"/>
          <p:nvPr/>
        </p:nvSpPr>
        <p:spPr>
          <a:xfrm>
            <a:off x="1554480" y="3767328"/>
            <a:ext cx="5669280" cy="640080"/>
          </a:xfrm>
          <a:prstGeom prst="rect">
            <a:avLst/>
          </a:prstGeom>
          <a:noFill/>
          <a:ln/>
        </p:spPr>
        <p:txBody>
          <a:bodyPr wrap="square" lIns="0" tIns="0" rIns="0" bIns="0" rtlCol="0" anchor="ctr"/>
          <a:lstStyle/>
          <a:p>
            <a:pPr marL="0" indent="0" algn="l">
              <a:buNone/>
            </a:pPr>
            <a:r>
              <a:rPr lang="en-US" sz="1400" dirty="0">
                <a:solidFill>
                  <a:srgbClr val="7A6E74"/>
                </a:solidFill>
                <a:latin typeface="Calibri" pitchFamily="34" charset="0"/>
                <a:ea typeface="Calibri" pitchFamily="34" charset="-122"/>
                <a:cs typeface="Calibri" pitchFamily="34" charset="-120"/>
              </a:rPr>
              <a:t>Man verschenkt etwas, das die Person längst hat oder schon bekam.</a:t>
            </a:r>
            <a:endParaRPr lang="en-US" sz="1400" dirty="0"/>
          </a:p>
        </p:txBody>
      </p:sp>
      <p:sp>
        <p:nvSpPr>
          <p:cNvPr id="12" name="Shape 10"/>
          <p:cNvSpPr/>
          <p:nvPr/>
        </p:nvSpPr>
        <p:spPr>
          <a:xfrm>
            <a:off x="685800" y="4800600"/>
            <a:ext cx="640080" cy="640080"/>
          </a:xfrm>
          <a:prstGeom prst="ellipse">
            <a:avLst/>
          </a:prstGeom>
          <a:solidFill>
            <a:srgbClr val="6D2E46"/>
          </a:solidFill>
          <a:ln/>
        </p:spPr>
        <p:txBody>
          <a:bodyPr/>
          <a:lstStyle/>
          <a:p>
            <a:endParaRPr lang="de-DE"/>
          </a:p>
        </p:txBody>
      </p:sp>
      <p:sp>
        <p:nvSpPr>
          <p:cNvPr id="13" name="Text 11"/>
          <p:cNvSpPr txBox="1"/>
          <p:nvPr/>
        </p:nvSpPr>
        <p:spPr>
          <a:xfrm>
            <a:off x="685800" y="4800600"/>
            <a:ext cx="640080" cy="640080"/>
          </a:xfrm>
          <a:prstGeom prst="rect">
            <a:avLst/>
          </a:prstGeom>
          <a:noFill/>
          <a:ln/>
        </p:spPr>
        <p:txBody>
          <a:bodyPr wrap="square" lIns="0" tIns="0" rIns="0" bIns="0" rtlCol="0" anchor="ctr"/>
          <a:lstStyle/>
          <a:p>
            <a:pPr marL="0" indent="0" algn="ctr">
              <a:buNone/>
            </a:pPr>
            <a:r>
              <a:rPr lang="en-US" sz="2400" b="1" dirty="0">
                <a:solidFill>
                  <a:srgbClr val="C9A227"/>
                </a:solidFill>
                <a:latin typeface="Cambria" pitchFamily="34" charset="0"/>
                <a:ea typeface="Cambria" pitchFamily="34" charset="-122"/>
                <a:cs typeface="Cambria" pitchFamily="34" charset="-120"/>
              </a:rPr>
              <a:t>3</a:t>
            </a:r>
            <a:endParaRPr lang="en-US" sz="2400" dirty="0"/>
          </a:p>
        </p:txBody>
      </p:sp>
      <p:sp>
        <p:nvSpPr>
          <p:cNvPr id="14" name="Text 12"/>
          <p:cNvSpPr txBox="1"/>
          <p:nvPr/>
        </p:nvSpPr>
        <p:spPr>
          <a:xfrm>
            <a:off x="1554480" y="4754880"/>
            <a:ext cx="5486400" cy="457200"/>
          </a:xfrm>
          <a:prstGeom prst="rect">
            <a:avLst/>
          </a:prstGeom>
          <a:noFill/>
          <a:ln/>
        </p:spPr>
        <p:txBody>
          <a:bodyPr wrap="square" lIns="0" tIns="0" rIns="0" bIns="0" rtlCol="0" anchor="ctr"/>
          <a:lstStyle/>
          <a:p>
            <a:pPr marL="0" indent="0" algn="l">
              <a:buNone/>
            </a:pPr>
            <a:r>
              <a:rPr lang="en-US" sz="2000" b="1" dirty="0">
                <a:solidFill>
                  <a:srgbClr val="2B2430"/>
                </a:solidFill>
                <a:latin typeface="Calibri" pitchFamily="34" charset="0"/>
                <a:ea typeface="Calibri" pitchFamily="34" charset="-122"/>
                <a:cs typeface="Calibri" pitchFamily="34" charset="-120"/>
              </a:rPr>
              <a:t>Beschaffungsstress</a:t>
            </a:r>
            <a:endParaRPr lang="en-US" sz="2000" dirty="0"/>
          </a:p>
        </p:txBody>
      </p:sp>
      <p:sp>
        <p:nvSpPr>
          <p:cNvPr id="15" name="Text 13"/>
          <p:cNvSpPr txBox="1"/>
          <p:nvPr/>
        </p:nvSpPr>
        <p:spPr>
          <a:xfrm>
            <a:off x="1554480" y="5184648"/>
            <a:ext cx="5669280" cy="640080"/>
          </a:xfrm>
          <a:prstGeom prst="rect">
            <a:avLst/>
          </a:prstGeom>
          <a:noFill/>
          <a:ln/>
        </p:spPr>
        <p:txBody>
          <a:bodyPr wrap="square" lIns="0" tIns="0" rIns="0" bIns="0" rtlCol="0" anchor="ctr"/>
          <a:lstStyle/>
          <a:p>
            <a:pPr marL="0" indent="0" algn="l">
              <a:buNone/>
            </a:pPr>
            <a:r>
              <a:rPr lang="en-US" sz="1400" dirty="0">
                <a:solidFill>
                  <a:srgbClr val="7A6E74"/>
                </a:solidFill>
                <a:latin typeface="Calibri" pitchFamily="34" charset="0"/>
                <a:ea typeface="Calibri" pitchFamily="34" charset="-122"/>
                <a:cs typeface="Calibri" pitchFamily="34" charset="-120"/>
              </a:rPr>
              <a:t>In letzter Minute fehlt die Idee und die Zeit zum Besorgen.</a:t>
            </a:r>
            <a:endParaRPr lang="en-US" sz="1400" dirty="0"/>
          </a:p>
        </p:txBody>
      </p:sp>
      <p:sp>
        <p:nvSpPr>
          <p:cNvPr id="16" name="Shape 14"/>
          <p:cNvSpPr/>
          <p:nvPr/>
        </p:nvSpPr>
        <p:spPr>
          <a:xfrm>
            <a:off x="7772400" y="1920240"/>
            <a:ext cx="3749040" cy="3794760"/>
          </a:xfrm>
          <a:prstGeom prst="roundRect">
            <a:avLst>
              <a:gd name="adj" fmla="val 2927"/>
            </a:avLst>
          </a:prstGeom>
          <a:solidFill>
            <a:srgbClr val="3E1B2C"/>
          </a:solidFill>
          <a:ln/>
          <a:effectLst>
            <a:outerShdw blurRad="127000" dist="38100" dir="5400000" algn="bl" rotWithShape="0">
              <a:srgbClr val="000000">
                <a:alpha val="25000"/>
              </a:srgbClr>
            </a:outerShdw>
          </a:effectLst>
        </p:spPr>
        <p:txBody>
          <a:bodyPr/>
          <a:lstStyle/>
          <a:p>
            <a:endParaRPr lang="de-DE"/>
          </a:p>
        </p:txBody>
      </p:sp>
      <p:sp>
        <p:nvSpPr>
          <p:cNvPr id="17" name="Text 15"/>
          <p:cNvSpPr txBox="1"/>
          <p:nvPr/>
        </p:nvSpPr>
        <p:spPr>
          <a:xfrm>
            <a:off x="8092440" y="2468880"/>
            <a:ext cx="3200400" cy="146304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Alles Wichtige an einem Ort</a:t>
            </a:r>
            <a:endParaRPr lang="en-US" sz="2600" dirty="0"/>
          </a:p>
        </p:txBody>
      </p:sp>
      <p:sp>
        <p:nvSpPr>
          <p:cNvPr id="18" name="Text 16"/>
          <p:cNvSpPr txBox="1"/>
          <p:nvPr/>
        </p:nvSpPr>
        <p:spPr>
          <a:xfrm>
            <a:off x="8092440" y="4160520"/>
            <a:ext cx="3200400" cy="1280160"/>
          </a:xfrm>
          <a:prstGeom prst="rect">
            <a:avLst/>
          </a:prstGeom>
          <a:noFill/>
          <a:ln/>
        </p:spPr>
        <p:txBody>
          <a:bodyPr wrap="square" lIns="0" tIns="0" rIns="0" bIns="0" rtlCol="0" anchor="ctr"/>
          <a:lstStyle/>
          <a:p>
            <a:pPr marL="0" indent="0" algn="l">
              <a:buNone/>
            </a:pPr>
            <a:r>
              <a:rPr lang="en-US" sz="1500" i="1" dirty="0">
                <a:solidFill>
                  <a:srgbClr val="C9A227"/>
                </a:solidFill>
                <a:latin typeface="Calibri" pitchFamily="34" charset="0"/>
                <a:ea typeface="Calibri" pitchFamily="34" charset="-122"/>
                <a:cs typeface="Calibri" pitchFamily="34" charset="-120"/>
              </a:rPr>
              <a:t>Personen · Anlässe · Ideen · Geschenke · Aufgaben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D2E46"/>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7315200" cy="320040"/>
          </a:xfrm>
          <a:prstGeom prst="rect">
            <a:avLst/>
          </a:prstGeom>
          <a:noFill/>
          <a:ln/>
        </p:spPr>
        <p:txBody>
          <a:bodyPr wrap="square" lIns="0" tIns="0" rIns="0" bIns="0" rtlCol="0" anchor="ctr"/>
          <a:lstStyle/>
          <a:p>
            <a:pPr marL="0" indent="0" algn="l">
              <a:buNone/>
            </a:pPr>
            <a:r>
              <a:rPr lang="en-US" sz="1200" b="1" kern="0" spc="300" dirty="0">
                <a:solidFill>
                  <a:srgbClr val="C9A227"/>
                </a:solidFill>
                <a:latin typeface="Calibri" pitchFamily="34" charset="0"/>
                <a:ea typeface="Calibri" pitchFamily="34" charset="-122"/>
                <a:cs typeface="Calibri" pitchFamily="34" charset="-120"/>
              </a:rPr>
              <a:t>UNSERE LÖSUNG</a:t>
            </a:r>
            <a:endParaRPr lang="en-US" sz="1200" dirty="0"/>
          </a:p>
        </p:txBody>
      </p:sp>
      <p:sp>
        <p:nvSpPr>
          <p:cNvPr id="3" name="Text 1"/>
          <p:cNvSpPr txBox="1"/>
          <p:nvPr/>
        </p:nvSpPr>
        <p:spPr>
          <a:xfrm>
            <a:off x="640080" y="868680"/>
            <a:ext cx="10972800" cy="86868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Der Geschenke-Manager</a:t>
            </a:r>
            <a:endParaRPr lang="en-US" sz="3400" dirty="0"/>
          </a:p>
        </p:txBody>
      </p:sp>
      <p:sp>
        <p:nvSpPr>
          <p:cNvPr id="4" name="Text 2"/>
          <p:cNvSpPr txBox="1"/>
          <p:nvPr/>
        </p:nvSpPr>
        <p:spPr>
          <a:xfrm>
            <a:off x="658368" y="1874520"/>
            <a:ext cx="10881360" cy="1188720"/>
          </a:xfrm>
          <a:prstGeom prst="rect">
            <a:avLst/>
          </a:prstGeom>
          <a:noFill/>
          <a:ln/>
        </p:spPr>
        <p:txBody>
          <a:bodyPr wrap="square" lIns="0" tIns="0" rIns="0" bIns="0" rtlCol="0" anchor="ctr"/>
          <a:lstStyle/>
          <a:p>
            <a:pPr marL="0" indent="0" algn="l">
              <a:lnSpc>
                <a:spcPct val="115000"/>
              </a:lnSpc>
              <a:buNone/>
            </a:pPr>
            <a:r>
              <a:rPr lang="en-US" sz="1800" dirty="0">
                <a:solidFill>
                  <a:srgbClr val="EBDDE3"/>
                </a:solidFill>
                <a:latin typeface="Calibri" pitchFamily="34" charset="0"/>
                <a:ea typeface="Calibri" pitchFamily="34" charset="-122"/>
                <a:cs typeface="Calibri" pitchFamily="34" charset="-120"/>
              </a:rPr>
              <a:t>Eine datenschutzorientierte Web-App, die Personen, Anlässe und Geschenkideen unabhängig erfasst und flexibel verknüpft. Eine Idee lässt sich sofort festhalten, auch wenn Anlass oder Empfänger:in noch offen sind.</a:t>
            </a:r>
            <a:endParaRPr lang="en-US" sz="1800" dirty="0"/>
          </a:p>
        </p:txBody>
      </p:sp>
      <p:sp>
        <p:nvSpPr>
          <p:cNvPr id="5" name="Shape 3"/>
          <p:cNvSpPr/>
          <p:nvPr/>
        </p:nvSpPr>
        <p:spPr>
          <a:xfrm>
            <a:off x="658368" y="3520440"/>
            <a:ext cx="3429000" cy="914400"/>
          </a:xfrm>
          <a:prstGeom prst="roundRect">
            <a:avLst>
              <a:gd name="adj" fmla="val 10000"/>
            </a:avLst>
          </a:prstGeom>
          <a:solidFill>
            <a:srgbClr val="3E1B2C"/>
          </a:solidFill>
          <a:ln/>
        </p:spPr>
        <p:txBody>
          <a:bodyPr/>
          <a:lstStyle/>
          <a:p>
            <a:endParaRPr lang="de-DE"/>
          </a:p>
        </p:txBody>
      </p:sp>
      <p:sp>
        <p:nvSpPr>
          <p:cNvPr id="6" name="Shape 4"/>
          <p:cNvSpPr/>
          <p:nvPr/>
        </p:nvSpPr>
        <p:spPr>
          <a:xfrm>
            <a:off x="914400" y="3904488"/>
            <a:ext cx="146304" cy="146304"/>
          </a:xfrm>
          <a:prstGeom prst="ellipse">
            <a:avLst/>
          </a:prstGeom>
          <a:solidFill>
            <a:srgbClr val="C9A227"/>
          </a:solidFill>
          <a:ln/>
        </p:spPr>
        <p:txBody>
          <a:bodyPr/>
          <a:lstStyle/>
          <a:p>
            <a:endParaRPr lang="de-DE"/>
          </a:p>
        </p:txBody>
      </p:sp>
      <p:sp>
        <p:nvSpPr>
          <p:cNvPr id="7" name="Text 5"/>
          <p:cNvSpPr txBox="1"/>
          <p:nvPr/>
        </p:nvSpPr>
        <p:spPr>
          <a:xfrm>
            <a:off x="1207008" y="3520440"/>
            <a:ext cx="2743200" cy="914400"/>
          </a:xfrm>
          <a:prstGeom prst="rect">
            <a:avLst/>
          </a:prstGeom>
          <a:noFill/>
          <a:ln/>
        </p:spPr>
        <p:txBody>
          <a:bodyPr wrap="square" lIns="0" tIns="0" rIns="0" bIns="0" rtlCol="0" anchor="ctr"/>
          <a:lstStyle/>
          <a:p>
            <a:pPr marL="0" indent="0" algn="l">
              <a:buNone/>
            </a:pPr>
            <a:r>
              <a:rPr lang="en-US" sz="1550" b="1" dirty="0">
                <a:solidFill>
                  <a:srgbClr val="FFFFFF"/>
                </a:solidFill>
                <a:latin typeface="Calibri" pitchFamily="34" charset="0"/>
                <a:ea typeface="Calibri" pitchFamily="34" charset="-122"/>
                <a:cs typeface="Calibri" pitchFamily="34" charset="-120"/>
              </a:rPr>
              <a:t>Personen &amp; Anlässe</a:t>
            </a:r>
            <a:endParaRPr lang="en-US" sz="1550" dirty="0"/>
          </a:p>
        </p:txBody>
      </p:sp>
      <p:sp>
        <p:nvSpPr>
          <p:cNvPr id="8" name="Shape 6"/>
          <p:cNvSpPr/>
          <p:nvPr/>
        </p:nvSpPr>
        <p:spPr>
          <a:xfrm>
            <a:off x="4407408" y="3520440"/>
            <a:ext cx="3429000" cy="914400"/>
          </a:xfrm>
          <a:prstGeom prst="roundRect">
            <a:avLst>
              <a:gd name="adj" fmla="val 10000"/>
            </a:avLst>
          </a:prstGeom>
          <a:solidFill>
            <a:srgbClr val="3E1B2C"/>
          </a:solidFill>
          <a:ln/>
        </p:spPr>
        <p:txBody>
          <a:bodyPr/>
          <a:lstStyle/>
          <a:p>
            <a:endParaRPr lang="de-DE"/>
          </a:p>
        </p:txBody>
      </p:sp>
      <p:sp>
        <p:nvSpPr>
          <p:cNvPr id="9" name="Shape 7"/>
          <p:cNvSpPr/>
          <p:nvPr/>
        </p:nvSpPr>
        <p:spPr>
          <a:xfrm>
            <a:off x="4663440" y="3904488"/>
            <a:ext cx="146304" cy="146304"/>
          </a:xfrm>
          <a:prstGeom prst="ellipse">
            <a:avLst/>
          </a:prstGeom>
          <a:solidFill>
            <a:srgbClr val="C9A227"/>
          </a:solidFill>
          <a:ln/>
        </p:spPr>
        <p:txBody>
          <a:bodyPr/>
          <a:lstStyle/>
          <a:p>
            <a:endParaRPr lang="de-DE"/>
          </a:p>
        </p:txBody>
      </p:sp>
      <p:sp>
        <p:nvSpPr>
          <p:cNvPr id="10" name="Text 8"/>
          <p:cNvSpPr txBox="1"/>
          <p:nvPr/>
        </p:nvSpPr>
        <p:spPr>
          <a:xfrm>
            <a:off x="4956048" y="3520440"/>
            <a:ext cx="2743200" cy="914400"/>
          </a:xfrm>
          <a:prstGeom prst="rect">
            <a:avLst/>
          </a:prstGeom>
          <a:noFill/>
          <a:ln/>
        </p:spPr>
        <p:txBody>
          <a:bodyPr wrap="square" lIns="0" tIns="0" rIns="0" bIns="0" rtlCol="0" anchor="ctr"/>
          <a:lstStyle/>
          <a:p>
            <a:pPr marL="0" indent="0" algn="l">
              <a:buNone/>
            </a:pPr>
            <a:r>
              <a:rPr lang="en-US" sz="1550" b="1" dirty="0">
                <a:solidFill>
                  <a:srgbClr val="FFFFFF"/>
                </a:solidFill>
                <a:latin typeface="Calibri" pitchFamily="34" charset="0"/>
                <a:ea typeface="Calibri" pitchFamily="34" charset="-122"/>
                <a:cs typeface="Calibri" pitchFamily="34" charset="-120"/>
              </a:rPr>
              <a:t>Ideen erfassen</a:t>
            </a:r>
            <a:endParaRPr lang="en-US" sz="1550" dirty="0"/>
          </a:p>
        </p:txBody>
      </p:sp>
      <p:sp>
        <p:nvSpPr>
          <p:cNvPr id="11" name="Shape 9"/>
          <p:cNvSpPr/>
          <p:nvPr/>
        </p:nvSpPr>
        <p:spPr>
          <a:xfrm>
            <a:off x="8156448" y="3520440"/>
            <a:ext cx="3429000" cy="914400"/>
          </a:xfrm>
          <a:prstGeom prst="roundRect">
            <a:avLst>
              <a:gd name="adj" fmla="val 10000"/>
            </a:avLst>
          </a:prstGeom>
          <a:solidFill>
            <a:srgbClr val="3E1B2C"/>
          </a:solidFill>
          <a:ln/>
        </p:spPr>
        <p:txBody>
          <a:bodyPr/>
          <a:lstStyle/>
          <a:p>
            <a:endParaRPr lang="de-DE"/>
          </a:p>
        </p:txBody>
      </p:sp>
      <p:sp>
        <p:nvSpPr>
          <p:cNvPr id="12" name="Shape 10"/>
          <p:cNvSpPr/>
          <p:nvPr/>
        </p:nvSpPr>
        <p:spPr>
          <a:xfrm>
            <a:off x="8412480" y="3904488"/>
            <a:ext cx="146304" cy="146304"/>
          </a:xfrm>
          <a:prstGeom prst="ellipse">
            <a:avLst/>
          </a:prstGeom>
          <a:solidFill>
            <a:srgbClr val="C9A227"/>
          </a:solidFill>
          <a:ln/>
        </p:spPr>
        <p:txBody>
          <a:bodyPr/>
          <a:lstStyle/>
          <a:p>
            <a:endParaRPr lang="de-DE"/>
          </a:p>
        </p:txBody>
      </p:sp>
      <p:sp>
        <p:nvSpPr>
          <p:cNvPr id="13" name="Text 11"/>
          <p:cNvSpPr txBox="1"/>
          <p:nvPr/>
        </p:nvSpPr>
        <p:spPr>
          <a:xfrm>
            <a:off x="8705088" y="3520440"/>
            <a:ext cx="2743200" cy="914400"/>
          </a:xfrm>
          <a:prstGeom prst="rect">
            <a:avLst/>
          </a:prstGeom>
          <a:noFill/>
          <a:ln/>
        </p:spPr>
        <p:txBody>
          <a:bodyPr wrap="square" lIns="0" tIns="0" rIns="0" bIns="0" rtlCol="0" anchor="ctr"/>
          <a:lstStyle/>
          <a:p>
            <a:pPr marL="0" indent="0" algn="l">
              <a:buNone/>
            </a:pPr>
            <a:r>
              <a:rPr lang="en-US" sz="1550" b="1" dirty="0">
                <a:solidFill>
                  <a:srgbClr val="FFFFFF"/>
                </a:solidFill>
                <a:latin typeface="Calibri" pitchFamily="34" charset="0"/>
                <a:ea typeface="Calibri" pitchFamily="34" charset="-122"/>
                <a:cs typeface="Calibri" pitchFamily="34" charset="-120"/>
              </a:rPr>
              <a:t>Erinnerungen</a:t>
            </a:r>
            <a:endParaRPr lang="en-US" sz="1550" dirty="0"/>
          </a:p>
        </p:txBody>
      </p:sp>
      <p:sp>
        <p:nvSpPr>
          <p:cNvPr id="14" name="Shape 12"/>
          <p:cNvSpPr/>
          <p:nvPr/>
        </p:nvSpPr>
        <p:spPr>
          <a:xfrm>
            <a:off x="658368" y="4800600"/>
            <a:ext cx="3429000" cy="914400"/>
          </a:xfrm>
          <a:prstGeom prst="roundRect">
            <a:avLst>
              <a:gd name="adj" fmla="val 10000"/>
            </a:avLst>
          </a:prstGeom>
          <a:solidFill>
            <a:srgbClr val="3E1B2C"/>
          </a:solidFill>
          <a:ln/>
        </p:spPr>
        <p:txBody>
          <a:bodyPr/>
          <a:lstStyle/>
          <a:p>
            <a:endParaRPr lang="de-DE"/>
          </a:p>
        </p:txBody>
      </p:sp>
      <p:sp>
        <p:nvSpPr>
          <p:cNvPr id="15" name="Shape 13"/>
          <p:cNvSpPr/>
          <p:nvPr/>
        </p:nvSpPr>
        <p:spPr>
          <a:xfrm>
            <a:off x="914400" y="5184648"/>
            <a:ext cx="146304" cy="146304"/>
          </a:xfrm>
          <a:prstGeom prst="ellipse">
            <a:avLst/>
          </a:prstGeom>
          <a:solidFill>
            <a:srgbClr val="C9A227"/>
          </a:solidFill>
          <a:ln/>
        </p:spPr>
        <p:txBody>
          <a:bodyPr/>
          <a:lstStyle/>
          <a:p>
            <a:endParaRPr lang="de-DE"/>
          </a:p>
        </p:txBody>
      </p:sp>
      <p:sp>
        <p:nvSpPr>
          <p:cNvPr id="16" name="Text 14"/>
          <p:cNvSpPr txBox="1"/>
          <p:nvPr/>
        </p:nvSpPr>
        <p:spPr>
          <a:xfrm>
            <a:off x="1207008" y="4800600"/>
            <a:ext cx="2743200" cy="914400"/>
          </a:xfrm>
          <a:prstGeom prst="rect">
            <a:avLst/>
          </a:prstGeom>
          <a:noFill/>
          <a:ln/>
        </p:spPr>
        <p:txBody>
          <a:bodyPr wrap="square" lIns="0" tIns="0" rIns="0" bIns="0" rtlCol="0" anchor="ctr"/>
          <a:lstStyle/>
          <a:p>
            <a:pPr marL="0" indent="0" algn="l">
              <a:buNone/>
            </a:pPr>
            <a:r>
              <a:rPr lang="en-US" sz="1550" b="1" dirty="0">
                <a:solidFill>
                  <a:srgbClr val="FFFFFF"/>
                </a:solidFill>
                <a:latin typeface="Calibri" pitchFamily="34" charset="0"/>
                <a:ea typeface="Calibri" pitchFamily="34" charset="-122"/>
                <a:cs typeface="Calibri" pitchFamily="34" charset="-120"/>
              </a:rPr>
              <a:t>Listen teilen</a:t>
            </a:r>
            <a:endParaRPr lang="en-US" sz="1550" dirty="0"/>
          </a:p>
        </p:txBody>
      </p:sp>
      <p:sp>
        <p:nvSpPr>
          <p:cNvPr id="17" name="Shape 15"/>
          <p:cNvSpPr/>
          <p:nvPr/>
        </p:nvSpPr>
        <p:spPr>
          <a:xfrm>
            <a:off x="4407408" y="4800600"/>
            <a:ext cx="3429000" cy="914400"/>
          </a:xfrm>
          <a:prstGeom prst="roundRect">
            <a:avLst>
              <a:gd name="adj" fmla="val 10000"/>
            </a:avLst>
          </a:prstGeom>
          <a:solidFill>
            <a:srgbClr val="3E1B2C"/>
          </a:solidFill>
          <a:ln/>
        </p:spPr>
        <p:txBody>
          <a:bodyPr/>
          <a:lstStyle/>
          <a:p>
            <a:endParaRPr lang="de-DE"/>
          </a:p>
        </p:txBody>
      </p:sp>
      <p:sp>
        <p:nvSpPr>
          <p:cNvPr id="18" name="Shape 16"/>
          <p:cNvSpPr/>
          <p:nvPr/>
        </p:nvSpPr>
        <p:spPr>
          <a:xfrm>
            <a:off x="4663440" y="5184648"/>
            <a:ext cx="146304" cy="146304"/>
          </a:xfrm>
          <a:prstGeom prst="ellipse">
            <a:avLst/>
          </a:prstGeom>
          <a:solidFill>
            <a:srgbClr val="C9A227"/>
          </a:solidFill>
          <a:ln/>
        </p:spPr>
        <p:txBody>
          <a:bodyPr/>
          <a:lstStyle/>
          <a:p>
            <a:endParaRPr lang="de-DE"/>
          </a:p>
        </p:txBody>
      </p:sp>
      <p:sp>
        <p:nvSpPr>
          <p:cNvPr id="19" name="Text 17"/>
          <p:cNvSpPr txBox="1"/>
          <p:nvPr/>
        </p:nvSpPr>
        <p:spPr>
          <a:xfrm>
            <a:off x="4956048" y="4800600"/>
            <a:ext cx="2743200" cy="914400"/>
          </a:xfrm>
          <a:prstGeom prst="rect">
            <a:avLst/>
          </a:prstGeom>
          <a:noFill/>
          <a:ln/>
        </p:spPr>
        <p:txBody>
          <a:bodyPr wrap="square" lIns="0" tIns="0" rIns="0" bIns="0" rtlCol="0" anchor="ctr"/>
          <a:lstStyle/>
          <a:p>
            <a:pPr marL="0" indent="0" algn="l">
              <a:buNone/>
            </a:pPr>
            <a:r>
              <a:rPr lang="en-US" sz="1550" b="1" dirty="0">
                <a:solidFill>
                  <a:srgbClr val="FFFFFF"/>
                </a:solidFill>
                <a:latin typeface="Calibri" pitchFamily="34" charset="0"/>
                <a:ea typeface="Calibri" pitchFamily="34" charset="-122"/>
                <a:cs typeface="Calibri" pitchFamily="34" charset="-120"/>
              </a:rPr>
              <a:t>Automatische Vorschläge</a:t>
            </a:r>
            <a:endParaRPr lang="en-US" sz="1550" dirty="0"/>
          </a:p>
        </p:txBody>
      </p:sp>
      <p:sp>
        <p:nvSpPr>
          <p:cNvPr id="20" name="Shape 18"/>
          <p:cNvSpPr/>
          <p:nvPr/>
        </p:nvSpPr>
        <p:spPr>
          <a:xfrm>
            <a:off x="8156448" y="4800600"/>
            <a:ext cx="3429000" cy="914400"/>
          </a:xfrm>
          <a:prstGeom prst="roundRect">
            <a:avLst>
              <a:gd name="adj" fmla="val 10000"/>
            </a:avLst>
          </a:prstGeom>
          <a:solidFill>
            <a:srgbClr val="3E1B2C"/>
          </a:solidFill>
          <a:ln/>
        </p:spPr>
        <p:txBody>
          <a:bodyPr/>
          <a:lstStyle/>
          <a:p>
            <a:endParaRPr lang="de-DE"/>
          </a:p>
        </p:txBody>
      </p:sp>
      <p:sp>
        <p:nvSpPr>
          <p:cNvPr id="21" name="Shape 19"/>
          <p:cNvSpPr/>
          <p:nvPr/>
        </p:nvSpPr>
        <p:spPr>
          <a:xfrm>
            <a:off x="8412480" y="5184648"/>
            <a:ext cx="146304" cy="146304"/>
          </a:xfrm>
          <a:prstGeom prst="ellipse">
            <a:avLst/>
          </a:prstGeom>
          <a:solidFill>
            <a:srgbClr val="C9A227"/>
          </a:solidFill>
          <a:ln/>
        </p:spPr>
        <p:txBody>
          <a:bodyPr/>
          <a:lstStyle/>
          <a:p>
            <a:endParaRPr lang="de-DE"/>
          </a:p>
        </p:txBody>
      </p:sp>
      <p:sp>
        <p:nvSpPr>
          <p:cNvPr id="22" name="Text 20"/>
          <p:cNvSpPr txBox="1"/>
          <p:nvPr/>
        </p:nvSpPr>
        <p:spPr>
          <a:xfrm>
            <a:off x="8705088" y="4800600"/>
            <a:ext cx="2743200" cy="914400"/>
          </a:xfrm>
          <a:prstGeom prst="rect">
            <a:avLst/>
          </a:prstGeom>
          <a:noFill/>
          <a:ln/>
        </p:spPr>
        <p:txBody>
          <a:bodyPr wrap="square" lIns="0" tIns="0" rIns="0" bIns="0" rtlCol="0" anchor="ctr"/>
          <a:lstStyle/>
          <a:p>
            <a:pPr marL="0" indent="0" algn="l">
              <a:buNone/>
            </a:pPr>
            <a:r>
              <a:rPr lang="en-US" sz="1550" b="1" dirty="0">
                <a:solidFill>
                  <a:srgbClr val="FFFFFF"/>
                </a:solidFill>
                <a:latin typeface="Calibri" pitchFamily="34" charset="0"/>
                <a:ea typeface="Calibri" pitchFamily="34" charset="-122"/>
                <a:cs typeface="Calibri" pitchFamily="34" charset="-120"/>
              </a:rPr>
              <a:t>Datenschutz by Design</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marL="0" indent="0" algn="l">
              <a:buNone/>
            </a:pPr>
            <a:r>
              <a:rPr lang="en-US" sz="1200" b="1" kern="0" spc="300" dirty="0">
                <a:solidFill>
                  <a:srgbClr val="C9A227"/>
                </a:solidFill>
                <a:latin typeface="Calibri" pitchFamily="34" charset="0"/>
                <a:ea typeface="Calibri" pitchFamily="34" charset="-122"/>
                <a:cs typeface="Calibri" pitchFamily="34" charset="-120"/>
              </a:rPr>
              <a:t>WAS DIE APP KANN</a:t>
            </a:r>
            <a:endParaRPr lang="en-US" sz="1200" dirty="0"/>
          </a:p>
        </p:txBody>
      </p:sp>
      <p:sp>
        <p:nvSpPr>
          <p:cNvPr id="3" name="Text 1"/>
          <p:cNvSpPr txBox="1"/>
          <p:nvPr/>
        </p:nvSpPr>
        <p:spPr>
          <a:xfrm>
            <a:off x="640080" y="822960"/>
            <a:ext cx="10972800" cy="868680"/>
          </a:xfrm>
          <a:prstGeom prst="rect">
            <a:avLst/>
          </a:prstGeom>
          <a:noFill/>
          <a:ln/>
        </p:spPr>
        <p:txBody>
          <a:bodyPr wrap="square" lIns="0" tIns="0" rIns="0" bIns="0"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Kernfunktionen</a:t>
            </a:r>
            <a:endParaRPr lang="en-US" sz="3400" dirty="0"/>
          </a:p>
        </p:txBody>
      </p:sp>
      <p:sp>
        <p:nvSpPr>
          <p:cNvPr id="4" name="Shape 2"/>
          <p:cNvSpPr/>
          <p:nvPr/>
        </p:nvSpPr>
        <p:spPr>
          <a:xfrm>
            <a:off x="640080" y="1828800"/>
            <a:ext cx="3520440" cy="1783080"/>
          </a:xfrm>
          <a:prstGeom prst="roundRect">
            <a:avLst>
              <a:gd name="adj" fmla="val 5128"/>
            </a:avLst>
          </a:prstGeom>
          <a:solidFill>
            <a:srgbClr val="F7F1F3"/>
          </a:solidFill>
          <a:ln/>
        </p:spPr>
        <p:txBody>
          <a:bodyPr/>
          <a:lstStyle/>
          <a:p>
            <a:endParaRPr lang="de-DE"/>
          </a:p>
        </p:txBody>
      </p:sp>
      <p:sp>
        <p:nvSpPr>
          <p:cNvPr id="5" name="Shape 3"/>
          <p:cNvSpPr/>
          <p:nvPr/>
        </p:nvSpPr>
        <p:spPr>
          <a:xfrm>
            <a:off x="914400" y="2148840"/>
            <a:ext cx="146304" cy="146304"/>
          </a:xfrm>
          <a:prstGeom prst="ellipse">
            <a:avLst/>
          </a:prstGeom>
          <a:solidFill>
            <a:srgbClr val="C9A227"/>
          </a:solidFill>
          <a:ln/>
        </p:spPr>
        <p:txBody>
          <a:bodyPr/>
          <a:lstStyle/>
          <a:p>
            <a:endParaRPr lang="de-DE"/>
          </a:p>
        </p:txBody>
      </p:sp>
      <p:sp>
        <p:nvSpPr>
          <p:cNvPr id="6" name="Text 4"/>
          <p:cNvSpPr txBox="1"/>
          <p:nvPr/>
        </p:nvSpPr>
        <p:spPr>
          <a:xfrm>
            <a:off x="914400" y="2331720"/>
            <a:ext cx="2971800" cy="502920"/>
          </a:xfrm>
          <a:prstGeom prst="rect">
            <a:avLst/>
          </a:prstGeom>
          <a:noFill/>
          <a:ln/>
        </p:spPr>
        <p:txBody>
          <a:bodyPr wrap="square" lIns="0" tIns="0" rIns="0" bIns="0" rtlCol="0" anchor="ctr"/>
          <a:lstStyle/>
          <a:p>
            <a:pPr marL="0" indent="0" algn="l">
              <a:buNone/>
            </a:pPr>
            <a:r>
              <a:rPr lang="en-US" sz="1600" b="1" dirty="0">
                <a:solidFill>
                  <a:srgbClr val="6D2E46"/>
                </a:solidFill>
                <a:latin typeface="Calibri" pitchFamily="34" charset="0"/>
                <a:ea typeface="Calibri" pitchFamily="34" charset="-122"/>
                <a:cs typeface="Calibri" pitchFamily="34" charset="-120"/>
              </a:rPr>
              <a:t>Personen &amp; Anlässe</a:t>
            </a:r>
            <a:endParaRPr lang="en-US" sz="1600" dirty="0"/>
          </a:p>
        </p:txBody>
      </p:sp>
      <p:sp>
        <p:nvSpPr>
          <p:cNvPr id="7" name="Text 5"/>
          <p:cNvSpPr txBox="1"/>
          <p:nvPr/>
        </p:nvSpPr>
        <p:spPr>
          <a:xfrm>
            <a:off x="914400" y="2788920"/>
            <a:ext cx="2971800" cy="731520"/>
          </a:xfrm>
          <a:prstGeom prst="rect">
            <a:avLst/>
          </a:prstGeom>
          <a:noFill/>
          <a:ln/>
        </p:spPr>
        <p:txBody>
          <a:bodyPr wrap="square" lIns="0" tIns="0" rIns="0" bIns="0" rtlCol="0" anchor="ctr"/>
          <a:lstStyle/>
          <a:p>
            <a:pPr marL="0" indent="0" algn="l">
              <a:lnSpc>
                <a:spcPct val="105000"/>
              </a:lnSpc>
              <a:buNone/>
            </a:pPr>
            <a:r>
              <a:rPr lang="en-US" sz="1250" dirty="0">
                <a:solidFill>
                  <a:srgbClr val="7A6E74"/>
                </a:solidFill>
                <a:latin typeface="Calibri" pitchFamily="34" charset="0"/>
                <a:ea typeface="Calibri" pitchFamily="34" charset="-122"/>
                <a:cs typeface="Calibri" pitchFamily="34" charset="-120"/>
              </a:rPr>
              <a:t>Anlegen, verknüpfen, im Blick behalten. Geburtstag und Weihnachten sind fest dabei.</a:t>
            </a:r>
            <a:endParaRPr lang="en-US" sz="1250" dirty="0"/>
          </a:p>
        </p:txBody>
      </p:sp>
      <p:sp>
        <p:nvSpPr>
          <p:cNvPr id="8" name="Shape 6"/>
          <p:cNvSpPr/>
          <p:nvPr/>
        </p:nvSpPr>
        <p:spPr>
          <a:xfrm>
            <a:off x="4480560" y="1828800"/>
            <a:ext cx="3520440" cy="1783080"/>
          </a:xfrm>
          <a:prstGeom prst="roundRect">
            <a:avLst>
              <a:gd name="adj" fmla="val 5128"/>
            </a:avLst>
          </a:prstGeom>
          <a:solidFill>
            <a:srgbClr val="F7F1F3"/>
          </a:solidFill>
          <a:ln/>
        </p:spPr>
        <p:txBody>
          <a:bodyPr/>
          <a:lstStyle/>
          <a:p>
            <a:endParaRPr lang="de-DE"/>
          </a:p>
        </p:txBody>
      </p:sp>
      <p:sp>
        <p:nvSpPr>
          <p:cNvPr id="9" name="Shape 7"/>
          <p:cNvSpPr/>
          <p:nvPr/>
        </p:nvSpPr>
        <p:spPr>
          <a:xfrm>
            <a:off x="4754880" y="2148840"/>
            <a:ext cx="146304" cy="146304"/>
          </a:xfrm>
          <a:prstGeom prst="ellipse">
            <a:avLst/>
          </a:prstGeom>
          <a:solidFill>
            <a:srgbClr val="C9A227"/>
          </a:solidFill>
          <a:ln/>
        </p:spPr>
        <p:txBody>
          <a:bodyPr/>
          <a:lstStyle/>
          <a:p>
            <a:endParaRPr lang="de-DE"/>
          </a:p>
        </p:txBody>
      </p:sp>
      <p:sp>
        <p:nvSpPr>
          <p:cNvPr id="10" name="Text 8"/>
          <p:cNvSpPr txBox="1"/>
          <p:nvPr/>
        </p:nvSpPr>
        <p:spPr>
          <a:xfrm>
            <a:off x="4754880" y="2331720"/>
            <a:ext cx="2971800" cy="502920"/>
          </a:xfrm>
          <a:prstGeom prst="rect">
            <a:avLst/>
          </a:prstGeom>
          <a:noFill/>
          <a:ln/>
        </p:spPr>
        <p:txBody>
          <a:bodyPr wrap="square" lIns="0" tIns="0" rIns="0" bIns="0" rtlCol="0" anchor="ctr"/>
          <a:lstStyle/>
          <a:p>
            <a:pPr marL="0" indent="0" algn="l">
              <a:buNone/>
            </a:pPr>
            <a:r>
              <a:rPr lang="en-US" sz="1600" b="1" dirty="0">
                <a:solidFill>
                  <a:srgbClr val="6D2E46"/>
                </a:solidFill>
                <a:latin typeface="Calibri" pitchFamily="34" charset="0"/>
                <a:ea typeface="Calibri" pitchFamily="34" charset="-122"/>
                <a:cs typeface="Calibri" pitchFamily="34" charset="-120"/>
              </a:rPr>
              <a:t>Von der Idee zum Geschenk</a:t>
            </a:r>
            <a:endParaRPr lang="en-US" sz="1600" dirty="0"/>
          </a:p>
        </p:txBody>
      </p:sp>
      <p:sp>
        <p:nvSpPr>
          <p:cNvPr id="11" name="Text 9"/>
          <p:cNvSpPr txBox="1"/>
          <p:nvPr/>
        </p:nvSpPr>
        <p:spPr>
          <a:xfrm>
            <a:off x="4754880" y="2788920"/>
            <a:ext cx="2971800" cy="731520"/>
          </a:xfrm>
          <a:prstGeom prst="rect">
            <a:avLst/>
          </a:prstGeom>
          <a:noFill/>
          <a:ln/>
        </p:spPr>
        <p:txBody>
          <a:bodyPr wrap="square" lIns="0" tIns="0" rIns="0" bIns="0" rtlCol="0" anchor="ctr"/>
          <a:lstStyle/>
          <a:p>
            <a:pPr marL="0" indent="0" algn="l">
              <a:lnSpc>
                <a:spcPct val="105000"/>
              </a:lnSpc>
              <a:buNone/>
            </a:pPr>
            <a:r>
              <a:rPr lang="en-US" sz="1250" dirty="0">
                <a:solidFill>
                  <a:srgbClr val="7A6E74"/>
                </a:solidFill>
                <a:latin typeface="Calibri" pitchFamily="34" charset="0"/>
                <a:ea typeface="Calibri" pitchFamily="34" charset="-122"/>
                <a:cs typeface="Calibri" pitchFamily="34" charset="-120"/>
              </a:rPr>
              <a:t>Ein Status begleitet jede Idee: von Idee über Geplant und Besorgt bis Verschenkt.</a:t>
            </a:r>
            <a:endParaRPr lang="en-US" sz="1250" dirty="0"/>
          </a:p>
        </p:txBody>
      </p:sp>
      <p:sp>
        <p:nvSpPr>
          <p:cNvPr id="12" name="Shape 10"/>
          <p:cNvSpPr/>
          <p:nvPr/>
        </p:nvSpPr>
        <p:spPr>
          <a:xfrm>
            <a:off x="8321040" y="1828800"/>
            <a:ext cx="3520440" cy="1783080"/>
          </a:xfrm>
          <a:prstGeom prst="roundRect">
            <a:avLst>
              <a:gd name="adj" fmla="val 5128"/>
            </a:avLst>
          </a:prstGeom>
          <a:solidFill>
            <a:srgbClr val="F7F1F3"/>
          </a:solidFill>
          <a:ln/>
        </p:spPr>
        <p:txBody>
          <a:bodyPr/>
          <a:lstStyle/>
          <a:p>
            <a:endParaRPr lang="de-DE"/>
          </a:p>
        </p:txBody>
      </p:sp>
      <p:sp>
        <p:nvSpPr>
          <p:cNvPr id="13" name="Shape 11"/>
          <p:cNvSpPr/>
          <p:nvPr/>
        </p:nvSpPr>
        <p:spPr>
          <a:xfrm>
            <a:off x="8595360" y="2148840"/>
            <a:ext cx="146304" cy="146304"/>
          </a:xfrm>
          <a:prstGeom prst="ellipse">
            <a:avLst/>
          </a:prstGeom>
          <a:solidFill>
            <a:srgbClr val="C9A227"/>
          </a:solidFill>
          <a:ln/>
        </p:spPr>
        <p:txBody>
          <a:bodyPr/>
          <a:lstStyle/>
          <a:p>
            <a:endParaRPr lang="de-DE"/>
          </a:p>
        </p:txBody>
      </p:sp>
      <p:sp>
        <p:nvSpPr>
          <p:cNvPr id="14" name="Text 12"/>
          <p:cNvSpPr txBox="1"/>
          <p:nvPr/>
        </p:nvSpPr>
        <p:spPr>
          <a:xfrm>
            <a:off x="8595360" y="2331720"/>
            <a:ext cx="2971800" cy="502920"/>
          </a:xfrm>
          <a:prstGeom prst="rect">
            <a:avLst/>
          </a:prstGeom>
          <a:noFill/>
          <a:ln/>
        </p:spPr>
        <p:txBody>
          <a:bodyPr wrap="square" lIns="0" tIns="0" rIns="0" bIns="0" rtlCol="0" anchor="ctr"/>
          <a:lstStyle/>
          <a:p>
            <a:pPr marL="0" indent="0" algn="l">
              <a:buNone/>
            </a:pPr>
            <a:r>
              <a:rPr lang="en-US" sz="1600" b="1" dirty="0">
                <a:solidFill>
                  <a:srgbClr val="6D2E46"/>
                </a:solidFill>
                <a:latin typeface="Calibri" pitchFamily="34" charset="0"/>
                <a:ea typeface="Calibri" pitchFamily="34" charset="-122"/>
                <a:cs typeface="Calibri" pitchFamily="34" charset="-120"/>
              </a:rPr>
              <a:t>Automatische Erinnerungen</a:t>
            </a:r>
            <a:endParaRPr lang="en-US" sz="1600" dirty="0"/>
          </a:p>
        </p:txBody>
      </p:sp>
      <p:sp>
        <p:nvSpPr>
          <p:cNvPr id="15" name="Text 13"/>
          <p:cNvSpPr txBox="1"/>
          <p:nvPr/>
        </p:nvSpPr>
        <p:spPr>
          <a:xfrm>
            <a:off x="8595360" y="2788920"/>
            <a:ext cx="2971800" cy="731520"/>
          </a:xfrm>
          <a:prstGeom prst="rect">
            <a:avLst/>
          </a:prstGeom>
          <a:noFill/>
          <a:ln/>
        </p:spPr>
        <p:txBody>
          <a:bodyPr wrap="square" lIns="0" tIns="0" rIns="0" bIns="0" rtlCol="0" anchor="ctr"/>
          <a:lstStyle/>
          <a:p>
            <a:pPr marL="0" indent="0" algn="l">
              <a:lnSpc>
                <a:spcPct val="105000"/>
              </a:lnSpc>
              <a:buNone/>
            </a:pPr>
            <a:r>
              <a:rPr lang="en-US" sz="1250" dirty="0">
                <a:solidFill>
                  <a:srgbClr val="7A6E74"/>
                </a:solidFill>
                <a:latin typeface="Calibri" pitchFamily="34" charset="0"/>
                <a:ea typeface="Calibri" pitchFamily="34" charset="-122"/>
                <a:cs typeface="Calibri" pitchFamily="34" charset="-120"/>
              </a:rPr>
              <a:t>Rechtzeitige Hinweise vor Geburtstagen und Weihnachten, inklusive Beschaffungsstand.</a:t>
            </a:r>
            <a:endParaRPr lang="en-US" sz="1250" dirty="0"/>
          </a:p>
        </p:txBody>
      </p:sp>
      <p:sp>
        <p:nvSpPr>
          <p:cNvPr id="16" name="Shape 14"/>
          <p:cNvSpPr/>
          <p:nvPr/>
        </p:nvSpPr>
        <p:spPr>
          <a:xfrm>
            <a:off x="640080" y="3931920"/>
            <a:ext cx="3520440" cy="1783080"/>
          </a:xfrm>
          <a:prstGeom prst="roundRect">
            <a:avLst>
              <a:gd name="adj" fmla="val 5128"/>
            </a:avLst>
          </a:prstGeom>
          <a:solidFill>
            <a:srgbClr val="F7F1F3"/>
          </a:solidFill>
          <a:ln/>
        </p:spPr>
        <p:txBody>
          <a:bodyPr/>
          <a:lstStyle/>
          <a:p>
            <a:endParaRPr lang="de-DE"/>
          </a:p>
        </p:txBody>
      </p:sp>
      <p:sp>
        <p:nvSpPr>
          <p:cNvPr id="17" name="Shape 15"/>
          <p:cNvSpPr/>
          <p:nvPr/>
        </p:nvSpPr>
        <p:spPr>
          <a:xfrm>
            <a:off x="914400" y="4251960"/>
            <a:ext cx="146304" cy="146304"/>
          </a:xfrm>
          <a:prstGeom prst="ellipse">
            <a:avLst/>
          </a:prstGeom>
          <a:solidFill>
            <a:srgbClr val="C9A227"/>
          </a:solidFill>
          <a:ln/>
        </p:spPr>
        <p:txBody>
          <a:bodyPr/>
          <a:lstStyle/>
          <a:p>
            <a:endParaRPr lang="de-DE"/>
          </a:p>
        </p:txBody>
      </p:sp>
      <p:sp>
        <p:nvSpPr>
          <p:cNvPr id="18" name="Text 16"/>
          <p:cNvSpPr txBox="1"/>
          <p:nvPr/>
        </p:nvSpPr>
        <p:spPr>
          <a:xfrm>
            <a:off x="914400" y="4434840"/>
            <a:ext cx="2971800" cy="502920"/>
          </a:xfrm>
          <a:prstGeom prst="rect">
            <a:avLst/>
          </a:prstGeom>
          <a:noFill/>
          <a:ln/>
        </p:spPr>
        <p:txBody>
          <a:bodyPr wrap="square" lIns="0" tIns="0" rIns="0" bIns="0" rtlCol="0" anchor="ctr"/>
          <a:lstStyle/>
          <a:p>
            <a:pPr marL="0" indent="0" algn="l">
              <a:buNone/>
            </a:pPr>
            <a:r>
              <a:rPr lang="en-US" sz="1600" b="1" dirty="0">
                <a:solidFill>
                  <a:srgbClr val="6D2E46"/>
                </a:solidFill>
                <a:latin typeface="Calibri" pitchFamily="34" charset="0"/>
                <a:ea typeface="Calibri" pitchFamily="34" charset="-122"/>
                <a:cs typeface="Calibri" pitchFamily="34" charset="-120"/>
              </a:rPr>
              <a:t>Listen sicher teilen</a:t>
            </a:r>
            <a:endParaRPr lang="en-US" sz="1600" dirty="0"/>
          </a:p>
        </p:txBody>
      </p:sp>
      <p:sp>
        <p:nvSpPr>
          <p:cNvPr id="19" name="Text 17"/>
          <p:cNvSpPr txBox="1"/>
          <p:nvPr/>
        </p:nvSpPr>
        <p:spPr>
          <a:xfrm>
            <a:off x="914400" y="4892040"/>
            <a:ext cx="2971800" cy="731520"/>
          </a:xfrm>
          <a:prstGeom prst="rect">
            <a:avLst/>
          </a:prstGeom>
          <a:noFill/>
          <a:ln/>
        </p:spPr>
        <p:txBody>
          <a:bodyPr wrap="square" lIns="0" tIns="0" rIns="0" bIns="0" rtlCol="0" anchor="ctr"/>
          <a:lstStyle/>
          <a:p>
            <a:pPr marL="0" indent="0" algn="l">
              <a:lnSpc>
                <a:spcPct val="105000"/>
              </a:lnSpc>
              <a:buNone/>
            </a:pPr>
            <a:r>
              <a:rPr lang="en-US" sz="1250" dirty="0">
                <a:solidFill>
                  <a:srgbClr val="7A6E74"/>
                </a:solidFill>
                <a:latin typeface="Calibri" pitchFamily="34" charset="0"/>
                <a:ea typeface="Calibri" pitchFamily="34" charset="-122"/>
                <a:cs typeface="Calibri" pitchFamily="34" charset="-120"/>
              </a:rPr>
              <a:t>Ideen über einen nicht erratbaren, jederzeit widerrufbaren Nur-Lese-Link teilen.</a:t>
            </a:r>
            <a:endParaRPr lang="en-US" sz="1250" dirty="0"/>
          </a:p>
        </p:txBody>
      </p:sp>
      <p:sp>
        <p:nvSpPr>
          <p:cNvPr id="20" name="Shape 18"/>
          <p:cNvSpPr/>
          <p:nvPr/>
        </p:nvSpPr>
        <p:spPr>
          <a:xfrm>
            <a:off x="4480560" y="3931920"/>
            <a:ext cx="3520440" cy="1783080"/>
          </a:xfrm>
          <a:prstGeom prst="roundRect">
            <a:avLst>
              <a:gd name="adj" fmla="val 5128"/>
            </a:avLst>
          </a:prstGeom>
          <a:solidFill>
            <a:srgbClr val="F7F1F3"/>
          </a:solidFill>
          <a:ln/>
        </p:spPr>
        <p:txBody>
          <a:bodyPr/>
          <a:lstStyle/>
          <a:p>
            <a:endParaRPr lang="de-DE"/>
          </a:p>
        </p:txBody>
      </p:sp>
      <p:sp>
        <p:nvSpPr>
          <p:cNvPr id="21" name="Shape 19"/>
          <p:cNvSpPr/>
          <p:nvPr/>
        </p:nvSpPr>
        <p:spPr>
          <a:xfrm>
            <a:off x="4754880" y="4251960"/>
            <a:ext cx="146304" cy="146304"/>
          </a:xfrm>
          <a:prstGeom prst="ellipse">
            <a:avLst/>
          </a:prstGeom>
          <a:solidFill>
            <a:srgbClr val="C9A227"/>
          </a:solidFill>
          <a:ln/>
        </p:spPr>
        <p:txBody>
          <a:bodyPr/>
          <a:lstStyle/>
          <a:p>
            <a:endParaRPr lang="de-DE"/>
          </a:p>
        </p:txBody>
      </p:sp>
      <p:sp>
        <p:nvSpPr>
          <p:cNvPr id="22" name="Text 20"/>
          <p:cNvSpPr txBox="1"/>
          <p:nvPr/>
        </p:nvSpPr>
        <p:spPr>
          <a:xfrm>
            <a:off x="4754880" y="4434840"/>
            <a:ext cx="2971800" cy="502920"/>
          </a:xfrm>
          <a:prstGeom prst="rect">
            <a:avLst/>
          </a:prstGeom>
          <a:noFill/>
          <a:ln/>
        </p:spPr>
        <p:txBody>
          <a:bodyPr wrap="square" lIns="0" tIns="0" rIns="0" bIns="0" rtlCol="0" anchor="ctr"/>
          <a:lstStyle/>
          <a:p>
            <a:pPr marL="0" indent="0" algn="l">
              <a:buNone/>
            </a:pPr>
            <a:r>
              <a:rPr lang="en-US" sz="1600" b="1" dirty="0">
                <a:solidFill>
                  <a:srgbClr val="6D2E46"/>
                </a:solidFill>
                <a:latin typeface="Calibri" pitchFamily="34" charset="0"/>
                <a:ea typeface="Calibri" pitchFamily="34" charset="-122"/>
                <a:cs typeface="Calibri" pitchFamily="34" charset="-120"/>
              </a:rPr>
              <a:t>Intelligente Vorschläge</a:t>
            </a:r>
            <a:endParaRPr lang="en-US" sz="1600" dirty="0"/>
          </a:p>
        </p:txBody>
      </p:sp>
      <p:sp>
        <p:nvSpPr>
          <p:cNvPr id="23" name="Text 21"/>
          <p:cNvSpPr txBox="1"/>
          <p:nvPr/>
        </p:nvSpPr>
        <p:spPr>
          <a:xfrm>
            <a:off x="4754880" y="4892040"/>
            <a:ext cx="2971800" cy="731520"/>
          </a:xfrm>
          <a:prstGeom prst="rect">
            <a:avLst/>
          </a:prstGeom>
          <a:noFill/>
          <a:ln/>
        </p:spPr>
        <p:txBody>
          <a:bodyPr wrap="square" lIns="0" tIns="0" rIns="0" bIns="0" rtlCol="0" anchor="ctr"/>
          <a:lstStyle/>
          <a:p>
            <a:pPr marL="0" indent="0" algn="l">
              <a:lnSpc>
                <a:spcPct val="105000"/>
              </a:lnSpc>
              <a:buNone/>
            </a:pPr>
            <a:r>
              <a:rPr lang="en-US" sz="1250" dirty="0">
                <a:solidFill>
                  <a:srgbClr val="7A6E74"/>
                </a:solidFill>
                <a:latin typeface="Calibri" pitchFamily="34" charset="0"/>
                <a:ea typeface="Calibri" pitchFamily="34" charset="-122"/>
                <a:cs typeface="Calibri" pitchFamily="34" charset="-120"/>
              </a:rPr>
              <a:t>Neue Ideen aus anonymisierten Merkmalen früherer Geschenke, ohne fremde Daten.</a:t>
            </a:r>
            <a:endParaRPr lang="en-US" sz="1250" dirty="0"/>
          </a:p>
        </p:txBody>
      </p:sp>
      <p:sp>
        <p:nvSpPr>
          <p:cNvPr id="24" name="Shape 22"/>
          <p:cNvSpPr/>
          <p:nvPr/>
        </p:nvSpPr>
        <p:spPr>
          <a:xfrm>
            <a:off x="8321040" y="3931920"/>
            <a:ext cx="3520440" cy="1783080"/>
          </a:xfrm>
          <a:prstGeom prst="roundRect">
            <a:avLst>
              <a:gd name="adj" fmla="val 5128"/>
            </a:avLst>
          </a:prstGeom>
          <a:solidFill>
            <a:srgbClr val="F7F1F3"/>
          </a:solidFill>
          <a:ln/>
        </p:spPr>
        <p:txBody>
          <a:bodyPr/>
          <a:lstStyle/>
          <a:p>
            <a:endParaRPr lang="de-DE"/>
          </a:p>
        </p:txBody>
      </p:sp>
      <p:sp>
        <p:nvSpPr>
          <p:cNvPr id="25" name="Shape 23"/>
          <p:cNvSpPr/>
          <p:nvPr/>
        </p:nvSpPr>
        <p:spPr>
          <a:xfrm>
            <a:off x="8595360" y="4251960"/>
            <a:ext cx="146304" cy="146304"/>
          </a:xfrm>
          <a:prstGeom prst="ellipse">
            <a:avLst/>
          </a:prstGeom>
          <a:solidFill>
            <a:srgbClr val="C9A227"/>
          </a:solidFill>
          <a:ln/>
        </p:spPr>
        <p:txBody>
          <a:bodyPr/>
          <a:lstStyle/>
          <a:p>
            <a:endParaRPr lang="de-DE"/>
          </a:p>
        </p:txBody>
      </p:sp>
      <p:sp>
        <p:nvSpPr>
          <p:cNvPr id="26" name="Text 24"/>
          <p:cNvSpPr txBox="1"/>
          <p:nvPr/>
        </p:nvSpPr>
        <p:spPr>
          <a:xfrm>
            <a:off x="8595360" y="4434840"/>
            <a:ext cx="2971800" cy="502920"/>
          </a:xfrm>
          <a:prstGeom prst="rect">
            <a:avLst/>
          </a:prstGeom>
          <a:noFill/>
          <a:ln/>
        </p:spPr>
        <p:txBody>
          <a:bodyPr wrap="square" lIns="0" tIns="0" rIns="0" bIns="0" rtlCol="0" anchor="ctr"/>
          <a:lstStyle/>
          <a:p>
            <a:pPr marL="0" indent="0" algn="l">
              <a:buNone/>
            </a:pPr>
            <a:r>
              <a:rPr lang="en-US" sz="1600" b="1" dirty="0">
                <a:solidFill>
                  <a:srgbClr val="6D2E46"/>
                </a:solidFill>
                <a:latin typeface="Calibri" pitchFamily="34" charset="0"/>
                <a:ea typeface="Calibri" pitchFamily="34" charset="-122"/>
                <a:cs typeface="Calibri" pitchFamily="34" charset="-120"/>
              </a:rPr>
              <a:t>Datenschutz by Design</a:t>
            </a:r>
            <a:endParaRPr lang="en-US" sz="1600" dirty="0"/>
          </a:p>
        </p:txBody>
      </p:sp>
      <p:sp>
        <p:nvSpPr>
          <p:cNvPr id="27" name="Text 25"/>
          <p:cNvSpPr txBox="1"/>
          <p:nvPr/>
        </p:nvSpPr>
        <p:spPr>
          <a:xfrm>
            <a:off x="8595360" y="4892040"/>
            <a:ext cx="2971800" cy="731520"/>
          </a:xfrm>
          <a:prstGeom prst="rect">
            <a:avLst/>
          </a:prstGeom>
          <a:noFill/>
          <a:ln/>
        </p:spPr>
        <p:txBody>
          <a:bodyPr wrap="square" lIns="0" tIns="0" rIns="0" bIns="0" rtlCol="0" anchor="ctr"/>
          <a:lstStyle/>
          <a:p>
            <a:pPr marL="0" indent="0" algn="l">
              <a:lnSpc>
                <a:spcPct val="105000"/>
              </a:lnSpc>
              <a:buNone/>
            </a:pPr>
            <a:r>
              <a:rPr lang="en-US" sz="1250" dirty="0">
                <a:solidFill>
                  <a:srgbClr val="7A6E74"/>
                </a:solidFill>
                <a:latin typeface="Calibri" pitchFamily="34" charset="0"/>
                <a:ea typeface="Calibri" pitchFamily="34" charset="-122"/>
                <a:cs typeface="Calibri" pitchFamily="34" charset="-120"/>
              </a:rPr>
              <a:t>Strikte Kontotrennung: jede:r sieht ausschließlich die eigenen Daten.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marL="0" indent="0" algn="l">
              <a:buNone/>
            </a:pPr>
            <a:r>
              <a:rPr lang="en-US" sz="1200" b="1" kern="0" spc="300" dirty="0">
                <a:solidFill>
                  <a:srgbClr val="C9A227"/>
                </a:solidFill>
                <a:latin typeface="Calibri" pitchFamily="34" charset="0"/>
                <a:ea typeface="Calibri" pitchFamily="34" charset="-122"/>
                <a:cs typeface="Calibri" pitchFamily="34" charset="-120"/>
              </a:rPr>
              <a:t>WIE WIR ES BAUEN</a:t>
            </a:r>
            <a:endParaRPr lang="en-US" sz="1200" dirty="0"/>
          </a:p>
        </p:txBody>
      </p:sp>
      <p:sp>
        <p:nvSpPr>
          <p:cNvPr id="3" name="Text 1"/>
          <p:cNvSpPr txBox="1"/>
          <p:nvPr/>
        </p:nvSpPr>
        <p:spPr>
          <a:xfrm>
            <a:off x="640080" y="822960"/>
            <a:ext cx="10972800" cy="868680"/>
          </a:xfrm>
          <a:prstGeom prst="rect">
            <a:avLst/>
          </a:prstGeom>
          <a:noFill/>
          <a:ln/>
        </p:spPr>
        <p:txBody>
          <a:bodyPr wrap="square" lIns="0" tIns="0" rIns="0" bIns="0"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Ein moderner, skalierbarer Aufbau</a:t>
            </a:r>
            <a:endParaRPr lang="en-US" sz="3400" dirty="0"/>
          </a:p>
        </p:txBody>
      </p:sp>
      <p:sp>
        <p:nvSpPr>
          <p:cNvPr id="4" name="Shape 2"/>
          <p:cNvSpPr/>
          <p:nvPr/>
        </p:nvSpPr>
        <p:spPr>
          <a:xfrm>
            <a:off x="713232" y="2048256"/>
            <a:ext cx="146304" cy="146304"/>
          </a:xfrm>
          <a:prstGeom prst="ellipse">
            <a:avLst/>
          </a:prstGeom>
          <a:solidFill>
            <a:srgbClr val="C9A227"/>
          </a:solidFill>
          <a:ln/>
        </p:spPr>
        <p:txBody>
          <a:bodyPr/>
          <a:lstStyle/>
          <a:p>
            <a:endParaRPr lang="de-DE"/>
          </a:p>
        </p:txBody>
      </p:sp>
      <p:sp>
        <p:nvSpPr>
          <p:cNvPr id="5" name="Text 3"/>
          <p:cNvSpPr txBox="1"/>
          <p:nvPr/>
        </p:nvSpPr>
        <p:spPr>
          <a:xfrm>
            <a:off x="1051560" y="1874520"/>
            <a:ext cx="6126480" cy="411480"/>
          </a:xfrm>
          <a:prstGeom prst="rect">
            <a:avLst/>
          </a:prstGeom>
          <a:noFill/>
          <a:ln/>
        </p:spPr>
        <p:txBody>
          <a:bodyPr wrap="square" lIns="0" tIns="0" rIns="0" bIns="0" rtlCol="0" anchor="ctr"/>
          <a:lstStyle/>
          <a:p>
            <a:pPr marL="0" indent="0" algn="l">
              <a:buNone/>
            </a:pPr>
            <a:r>
              <a:rPr lang="en-US" sz="1700" b="1" dirty="0">
                <a:solidFill>
                  <a:srgbClr val="2B2430"/>
                </a:solidFill>
                <a:latin typeface="Calibri" pitchFamily="34" charset="0"/>
                <a:ea typeface="Calibri" pitchFamily="34" charset="-122"/>
                <a:cs typeface="Calibri" pitchFamily="34" charset="-120"/>
              </a:rPr>
              <a:t>Getrennte Container</a:t>
            </a:r>
            <a:endParaRPr lang="en-US" sz="1700" dirty="0"/>
          </a:p>
        </p:txBody>
      </p:sp>
      <p:sp>
        <p:nvSpPr>
          <p:cNvPr id="6" name="Text 4"/>
          <p:cNvSpPr txBox="1"/>
          <p:nvPr/>
        </p:nvSpPr>
        <p:spPr>
          <a:xfrm>
            <a:off x="1051560" y="2267712"/>
            <a:ext cx="6400800" cy="640080"/>
          </a:xfrm>
          <a:prstGeom prst="rect">
            <a:avLst/>
          </a:prstGeom>
          <a:noFill/>
          <a:ln/>
        </p:spPr>
        <p:txBody>
          <a:bodyPr wrap="square" lIns="0" tIns="0" rIns="0" bIns="0" rtlCol="0" anchor="ctr"/>
          <a:lstStyle/>
          <a:p>
            <a:pPr marL="0" indent="0" algn="l">
              <a:lnSpc>
                <a:spcPct val="105000"/>
              </a:lnSpc>
              <a:buNone/>
            </a:pPr>
            <a:r>
              <a:rPr lang="en-US" sz="1350" dirty="0">
                <a:solidFill>
                  <a:srgbClr val="7A6E74"/>
                </a:solidFill>
                <a:latin typeface="Calibri" pitchFamily="34" charset="0"/>
                <a:ea typeface="Calibri" pitchFamily="34" charset="-122"/>
                <a:cs typeface="Calibri" pitchFamily="34" charset="-120"/>
              </a:rPr>
              <a:t>Frontend, Backend, Scheduler und Datenbank laufen isoliert in Docker.</a:t>
            </a:r>
            <a:endParaRPr lang="en-US" sz="1350" dirty="0"/>
          </a:p>
        </p:txBody>
      </p:sp>
      <p:sp>
        <p:nvSpPr>
          <p:cNvPr id="7" name="Shape 5"/>
          <p:cNvSpPr/>
          <p:nvPr/>
        </p:nvSpPr>
        <p:spPr>
          <a:xfrm>
            <a:off x="713232" y="3145536"/>
            <a:ext cx="146304" cy="146304"/>
          </a:xfrm>
          <a:prstGeom prst="ellipse">
            <a:avLst/>
          </a:prstGeom>
          <a:solidFill>
            <a:srgbClr val="C9A227"/>
          </a:solidFill>
          <a:ln/>
        </p:spPr>
        <p:txBody>
          <a:bodyPr/>
          <a:lstStyle/>
          <a:p>
            <a:endParaRPr lang="de-DE"/>
          </a:p>
        </p:txBody>
      </p:sp>
      <p:sp>
        <p:nvSpPr>
          <p:cNvPr id="8" name="Text 6"/>
          <p:cNvSpPr txBox="1"/>
          <p:nvPr/>
        </p:nvSpPr>
        <p:spPr>
          <a:xfrm>
            <a:off x="1051560" y="2971800"/>
            <a:ext cx="6126480" cy="411480"/>
          </a:xfrm>
          <a:prstGeom prst="rect">
            <a:avLst/>
          </a:prstGeom>
          <a:noFill/>
          <a:ln/>
        </p:spPr>
        <p:txBody>
          <a:bodyPr wrap="square" lIns="0" tIns="0" rIns="0" bIns="0" rtlCol="0" anchor="ctr"/>
          <a:lstStyle/>
          <a:p>
            <a:pPr marL="0" indent="0" algn="l">
              <a:buNone/>
            </a:pPr>
            <a:r>
              <a:rPr lang="en-US" sz="1700" b="1" dirty="0">
                <a:solidFill>
                  <a:srgbClr val="2B2430"/>
                </a:solidFill>
                <a:latin typeface="Calibri" pitchFamily="34" charset="0"/>
                <a:ea typeface="Calibri" pitchFamily="34" charset="-122"/>
                <a:cs typeface="Calibri" pitchFamily="34" charset="-120"/>
              </a:rPr>
              <a:t>Ein sicherer Eingang</a:t>
            </a:r>
            <a:endParaRPr lang="en-US" sz="1700" dirty="0"/>
          </a:p>
        </p:txBody>
      </p:sp>
      <p:sp>
        <p:nvSpPr>
          <p:cNvPr id="9" name="Text 7"/>
          <p:cNvSpPr txBox="1"/>
          <p:nvPr/>
        </p:nvSpPr>
        <p:spPr>
          <a:xfrm>
            <a:off x="1051560" y="3364992"/>
            <a:ext cx="6400800" cy="640080"/>
          </a:xfrm>
          <a:prstGeom prst="rect">
            <a:avLst/>
          </a:prstGeom>
          <a:noFill/>
          <a:ln/>
        </p:spPr>
        <p:txBody>
          <a:bodyPr wrap="square" lIns="0" tIns="0" rIns="0" bIns="0" rtlCol="0" anchor="ctr"/>
          <a:lstStyle/>
          <a:p>
            <a:pPr marL="0" indent="0" algn="l">
              <a:lnSpc>
                <a:spcPct val="105000"/>
              </a:lnSpc>
              <a:buNone/>
            </a:pPr>
            <a:r>
              <a:rPr lang="en-US" sz="1350" dirty="0">
                <a:solidFill>
                  <a:srgbClr val="7A6E74"/>
                </a:solidFill>
                <a:latin typeface="Calibri" pitchFamily="34" charset="0"/>
                <a:ea typeface="Calibri" pitchFamily="34" charset="-122"/>
                <a:cs typeface="Calibri" pitchFamily="34" charset="-120"/>
              </a:rPr>
              <a:t>Traefik übernimmt Routing und HTTPS per Let's Encrypt als einziger Publisher.</a:t>
            </a:r>
            <a:endParaRPr lang="en-US" sz="1350" dirty="0"/>
          </a:p>
        </p:txBody>
      </p:sp>
      <p:sp>
        <p:nvSpPr>
          <p:cNvPr id="10" name="Shape 8"/>
          <p:cNvSpPr/>
          <p:nvPr/>
        </p:nvSpPr>
        <p:spPr>
          <a:xfrm>
            <a:off x="713232" y="4242816"/>
            <a:ext cx="146304" cy="146304"/>
          </a:xfrm>
          <a:prstGeom prst="ellipse">
            <a:avLst/>
          </a:prstGeom>
          <a:solidFill>
            <a:srgbClr val="C9A227"/>
          </a:solidFill>
          <a:ln/>
        </p:spPr>
        <p:txBody>
          <a:bodyPr/>
          <a:lstStyle/>
          <a:p>
            <a:endParaRPr lang="de-DE"/>
          </a:p>
        </p:txBody>
      </p:sp>
      <p:sp>
        <p:nvSpPr>
          <p:cNvPr id="11" name="Text 9"/>
          <p:cNvSpPr txBox="1"/>
          <p:nvPr/>
        </p:nvSpPr>
        <p:spPr>
          <a:xfrm>
            <a:off x="1051560" y="4069080"/>
            <a:ext cx="6126480" cy="411480"/>
          </a:xfrm>
          <a:prstGeom prst="rect">
            <a:avLst/>
          </a:prstGeom>
          <a:noFill/>
          <a:ln/>
        </p:spPr>
        <p:txBody>
          <a:bodyPr wrap="square" lIns="0" tIns="0" rIns="0" bIns="0" rtlCol="0" anchor="ctr"/>
          <a:lstStyle/>
          <a:p>
            <a:pPr marL="0" indent="0" algn="l">
              <a:buNone/>
            </a:pPr>
            <a:r>
              <a:rPr lang="en-US" sz="1700" b="1" dirty="0">
                <a:solidFill>
                  <a:srgbClr val="2B2430"/>
                </a:solidFill>
                <a:latin typeface="Calibri" pitchFamily="34" charset="0"/>
                <a:ea typeface="Calibri" pitchFamily="34" charset="-122"/>
                <a:cs typeface="Calibri" pitchFamily="34" charset="-120"/>
              </a:rPr>
              <a:t>Python-Backend</a:t>
            </a:r>
            <a:endParaRPr lang="en-US" sz="1700" dirty="0"/>
          </a:p>
        </p:txBody>
      </p:sp>
      <p:sp>
        <p:nvSpPr>
          <p:cNvPr id="12" name="Text 10"/>
          <p:cNvSpPr txBox="1"/>
          <p:nvPr/>
        </p:nvSpPr>
        <p:spPr>
          <a:xfrm>
            <a:off x="1051560" y="4462272"/>
            <a:ext cx="6400800" cy="640080"/>
          </a:xfrm>
          <a:prstGeom prst="rect">
            <a:avLst/>
          </a:prstGeom>
          <a:noFill/>
          <a:ln/>
        </p:spPr>
        <p:txBody>
          <a:bodyPr wrap="square" lIns="0" tIns="0" rIns="0" bIns="0" rtlCol="0" anchor="ctr"/>
          <a:lstStyle/>
          <a:p>
            <a:pPr marL="0" indent="0" algn="l">
              <a:lnSpc>
                <a:spcPct val="105000"/>
              </a:lnSpc>
              <a:buNone/>
            </a:pPr>
            <a:r>
              <a:rPr lang="en-US" sz="1350" dirty="0">
                <a:solidFill>
                  <a:srgbClr val="7A6E74"/>
                </a:solidFill>
                <a:latin typeface="Calibri" pitchFamily="34" charset="0"/>
                <a:ea typeface="Calibri" pitchFamily="34" charset="-122"/>
                <a:cs typeface="Calibri" pitchFamily="34" charset="-120"/>
              </a:rPr>
              <a:t>FastAPI und Uvicorn liefern die API, ein Scheduler erledigt Erinnerungen.</a:t>
            </a:r>
            <a:endParaRPr lang="en-US" sz="1350" dirty="0"/>
          </a:p>
        </p:txBody>
      </p:sp>
      <p:sp>
        <p:nvSpPr>
          <p:cNvPr id="13" name="Shape 11"/>
          <p:cNvSpPr/>
          <p:nvPr/>
        </p:nvSpPr>
        <p:spPr>
          <a:xfrm>
            <a:off x="713232" y="5340096"/>
            <a:ext cx="146304" cy="146304"/>
          </a:xfrm>
          <a:prstGeom prst="ellipse">
            <a:avLst/>
          </a:prstGeom>
          <a:solidFill>
            <a:srgbClr val="C9A227"/>
          </a:solidFill>
          <a:ln/>
        </p:spPr>
        <p:txBody>
          <a:bodyPr/>
          <a:lstStyle/>
          <a:p>
            <a:endParaRPr lang="de-DE"/>
          </a:p>
        </p:txBody>
      </p:sp>
      <p:sp>
        <p:nvSpPr>
          <p:cNvPr id="14" name="Text 12"/>
          <p:cNvSpPr txBox="1"/>
          <p:nvPr/>
        </p:nvSpPr>
        <p:spPr>
          <a:xfrm>
            <a:off x="1051560" y="5166360"/>
            <a:ext cx="6126480" cy="411480"/>
          </a:xfrm>
          <a:prstGeom prst="rect">
            <a:avLst/>
          </a:prstGeom>
          <a:noFill/>
          <a:ln/>
        </p:spPr>
        <p:txBody>
          <a:bodyPr wrap="square" lIns="0" tIns="0" rIns="0" bIns="0" rtlCol="0" anchor="ctr"/>
          <a:lstStyle/>
          <a:p>
            <a:pPr marL="0" indent="0" algn="l">
              <a:buNone/>
            </a:pPr>
            <a:r>
              <a:rPr lang="en-US" sz="1700" b="1" dirty="0">
                <a:solidFill>
                  <a:srgbClr val="2B2430"/>
                </a:solidFill>
                <a:latin typeface="Calibri" pitchFamily="34" charset="0"/>
                <a:ea typeface="Calibri" pitchFamily="34" charset="-122"/>
                <a:cs typeface="Calibri" pitchFamily="34" charset="-120"/>
              </a:rPr>
              <a:t>Skalierbar gedacht</a:t>
            </a:r>
            <a:endParaRPr lang="en-US" sz="1700" dirty="0"/>
          </a:p>
        </p:txBody>
      </p:sp>
      <p:sp>
        <p:nvSpPr>
          <p:cNvPr id="15" name="Text 13"/>
          <p:cNvSpPr txBox="1"/>
          <p:nvPr/>
        </p:nvSpPr>
        <p:spPr>
          <a:xfrm>
            <a:off x="1051560" y="5559552"/>
            <a:ext cx="6400800" cy="640080"/>
          </a:xfrm>
          <a:prstGeom prst="rect">
            <a:avLst/>
          </a:prstGeom>
          <a:noFill/>
          <a:ln/>
        </p:spPr>
        <p:txBody>
          <a:bodyPr wrap="square" lIns="0" tIns="0" rIns="0" bIns="0" rtlCol="0" anchor="ctr"/>
          <a:lstStyle/>
          <a:p>
            <a:pPr marL="0" indent="0" algn="l">
              <a:lnSpc>
                <a:spcPct val="105000"/>
              </a:lnSpc>
              <a:buNone/>
            </a:pPr>
            <a:r>
              <a:rPr lang="en-US" sz="1350" dirty="0">
                <a:solidFill>
                  <a:srgbClr val="7A6E74"/>
                </a:solidFill>
                <a:latin typeface="Calibri" pitchFamily="34" charset="0"/>
                <a:ea typeface="Calibri" pitchFamily="34" charset="-122"/>
                <a:cs typeface="Calibri" pitchFamily="34" charset="-120"/>
              </a:rPr>
              <a:t>Getrennte Dienste lassen sich bei Bedarf horizontal wie vertikal skalieren.</a:t>
            </a:r>
            <a:endParaRPr lang="en-US" sz="1350" dirty="0"/>
          </a:p>
        </p:txBody>
      </p:sp>
      <p:pic>
        <p:nvPicPr>
          <p:cNvPr id="16" name="Image 0" descr="../Overleaf-MS1-flat/infra.png"/>
          <p:cNvPicPr>
            <a:picLocks noChangeAspect="1"/>
          </p:cNvPicPr>
          <p:nvPr/>
        </p:nvPicPr>
        <p:blipFill>
          <a:blip r:embed="rId3"/>
          <a:stretch>
            <a:fillRect/>
          </a:stretch>
        </p:blipFill>
        <p:spPr>
          <a:xfrm>
            <a:off x="8275320" y="1143000"/>
            <a:ext cx="3246120" cy="4937760"/>
          </a:xfrm>
          <a:prstGeom prst="rect">
            <a:avLst/>
          </a:prstGeom>
        </p:spPr>
      </p:pic>
      <p:sp>
        <p:nvSpPr>
          <p:cNvPr id="17" name="Text 14"/>
          <p:cNvSpPr txBox="1"/>
          <p:nvPr/>
        </p:nvSpPr>
        <p:spPr>
          <a:xfrm>
            <a:off x="8275320" y="6080760"/>
            <a:ext cx="3246120" cy="320040"/>
          </a:xfrm>
          <a:prstGeom prst="rect">
            <a:avLst/>
          </a:prstGeom>
          <a:noFill/>
          <a:ln/>
        </p:spPr>
        <p:txBody>
          <a:bodyPr wrap="square" lIns="0" tIns="0" rIns="0" bIns="0" rtlCol="0" anchor="ctr"/>
          <a:lstStyle/>
          <a:p>
            <a:pPr marL="0" indent="0" algn="ctr">
              <a:buNone/>
            </a:pPr>
            <a:r>
              <a:rPr lang="en-US" sz="1100" i="1" dirty="0">
                <a:solidFill>
                  <a:srgbClr val="7A6E74"/>
                </a:solidFill>
                <a:latin typeface="Calibri" pitchFamily="34" charset="0"/>
                <a:ea typeface="Calibri" pitchFamily="34" charset="-122"/>
                <a:cs typeface="Calibri" pitchFamily="34" charset="-120"/>
              </a:rPr>
              <a:t>Grober technischer Aufbau</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E1B2C"/>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7315200" cy="320040"/>
          </a:xfrm>
          <a:prstGeom prst="rect">
            <a:avLst/>
          </a:prstGeom>
          <a:noFill/>
          <a:ln/>
        </p:spPr>
        <p:txBody>
          <a:bodyPr wrap="square" lIns="0" tIns="0" rIns="0" bIns="0" rtlCol="0" anchor="ctr"/>
          <a:lstStyle/>
          <a:p>
            <a:pPr marL="0" indent="0" algn="l">
              <a:buNone/>
            </a:pPr>
            <a:r>
              <a:rPr lang="en-US" sz="1200" b="1" kern="0" spc="300" dirty="0">
                <a:solidFill>
                  <a:srgbClr val="C9A227"/>
                </a:solidFill>
                <a:latin typeface="Calibri" pitchFamily="34" charset="0"/>
                <a:ea typeface="Calibri" pitchFamily="34" charset="-122"/>
                <a:cs typeface="Calibri" pitchFamily="34" charset="-120"/>
              </a:rPr>
              <a:t>DIE SPANNENDEN FRAGEN</a:t>
            </a:r>
            <a:endParaRPr lang="en-US" sz="1200" dirty="0"/>
          </a:p>
        </p:txBody>
      </p:sp>
      <p:sp>
        <p:nvSpPr>
          <p:cNvPr id="3" name="Text 1"/>
          <p:cNvSpPr txBox="1"/>
          <p:nvPr/>
        </p:nvSpPr>
        <p:spPr>
          <a:xfrm>
            <a:off x="640080" y="868680"/>
            <a:ext cx="10972800" cy="86868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Woran wir gerade tüfteln</a:t>
            </a:r>
            <a:endParaRPr lang="en-US" sz="3400" dirty="0"/>
          </a:p>
        </p:txBody>
      </p:sp>
      <p:sp>
        <p:nvSpPr>
          <p:cNvPr id="4" name="Shape 2"/>
          <p:cNvSpPr/>
          <p:nvPr/>
        </p:nvSpPr>
        <p:spPr>
          <a:xfrm>
            <a:off x="658368" y="1965960"/>
            <a:ext cx="5303520" cy="1371600"/>
          </a:xfrm>
          <a:prstGeom prst="roundRect">
            <a:avLst>
              <a:gd name="adj" fmla="val 6667"/>
            </a:avLst>
          </a:prstGeom>
          <a:solidFill>
            <a:srgbClr val="6D2E46"/>
          </a:solidFill>
          <a:ln/>
        </p:spPr>
        <p:txBody>
          <a:bodyPr/>
          <a:lstStyle/>
          <a:p>
            <a:endParaRPr lang="de-DE"/>
          </a:p>
        </p:txBody>
      </p:sp>
      <p:sp>
        <p:nvSpPr>
          <p:cNvPr id="5" name="Shape 3"/>
          <p:cNvSpPr/>
          <p:nvPr/>
        </p:nvSpPr>
        <p:spPr>
          <a:xfrm>
            <a:off x="950976" y="2350008"/>
            <a:ext cx="146304" cy="146304"/>
          </a:xfrm>
          <a:prstGeom prst="ellipse">
            <a:avLst/>
          </a:prstGeom>
          <a:solidFill>
            <a:srgbClr val="C9A227"/>
          </a:solidFill>
          <a:ln/>
        </p:spPr>
        <p:txBody>
          <a:bodyPr/>
          <a:lstStyle/>
          <a:p>
            <a:endParaRPr lang="de-DE"/>
          </a:p>
        </p:txBody>
      </p:sp>
      <p:sp>
        <p:nvSpPr>
          <p:cNvPr id="6" name="Text 4"/>
          <p:cNvSpPr txBox="1"/>
          <p:nvPr/>
        </p:nvSpPr>
        <p:spPr>
          <a:xfrm>
            <a:off x="1225296" y="2167128"/>
            <a:ext cx="44805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Zeit richtig behandeln</a:t>
            </a:r>
            <a:endParaRPr lang="en-US" sz="1600" dirty="0"/>
          </a:p>
        </p:txBody>
      </p:sp>
      <p:sp>
        <p:nvSpPr>
          <p:cNvPr id="7" name="Text 5"/>
          <p:cNvSpPr txBox="1"/>
          <p:nvPr/>
        </p:nvSpPr>
        <p:spPr>
          <a:xfrm>
            <a:off x="1225296" y="2587752"/>
            <a:ext cx="4480560" cy="640080"/>
          </a:xfrm>
          <a:prstGeom prst="rect">
            <a:avLst/>
          </a:prstGeom>
          <a:noFill/>
          <a:ln/>
        </p:spPr>
        <p:txBody>
          <a:bodyPr wrap="square" lIns="0" tIns="0" rIns="0" bIns="0" rtlCol="0" anchor="ctr"/>
          <a:lstStyle/>
          <a:p>
            <a:pPr marL="0" indent="0" algn="l">
              <a:lnSpc>
                <a:spcPct val="105000"/>
              </a:lnSpc>
              <a:buNone/>
            </a:pPr>
            <a:r>
              <a:rPr lang="en-US" sz="1250" dirty="0">
                <a:solidFill>
                  <a:srgbClr val="EBDDE3"/>
                </a:solidFill>
                <a:latin typeface="Calibri" pitchFamily="34" charset="0"/>
                <a:ea typeface="Calibri" pitchFamily="34" charset="-122"/>
                <a:cs typeface="Calibri" pitchFamily="34" charset="-120"/>
              </a:rPr>
              <a:t>Geburtstage dürfen sich nicht durch Zeitzonen um einen Tag verschieben.</a:t>
            </a:r>
            <a:endParaRPr lang="en-US" sz="1250" dirty="0"/>
          </a:p>
        </p:txBody>
      </p:sp>
      <p:sp>
        <p:nvSpPr>
          <p:cNvPr id="8" name="Shape 6"/>
          <p:cNvSpPr/>
          <p:nvPr/>
        </p:nvSpPr>
        <p:spPr>
          <a:xfrm>
            <a:off x="6281928" y="1965960"/>
            <a:ext cx="5303520" cy="1371600"/>
          </a:xfrm>
          <a:prstGeom prst="roundRect">
            <a:avLst>
              <a:gd name="adj" fmla="val 6667"/>
            </a:avLst>
          </a:prstGeom>
          <a:solidFill>
            <a:srgbClr val="6D2E46"/>
          </a:solidFill>
          <a:ln/>
        </p:spPr>
        <p:txBody>
          <a:bodyPr/>
          <a:lstStyle/>
          <a:p>
            <a:endParaRPr lang="de-DE"/>
          </a:p>
        </p:txBody>
      </p:sp>
      <p:sp>
        <p:nvSpPr>
          <p:cNvPr id="9" name="Shape 7"/>
          <p:cNvSpPr/>
          <p:nvPr/>
        </p:nvSpPr>
        <p:spPr>
          <a:xfrm>
            <a:off x="6574536" y="2350008"/>
            <a:ext cx="146304" cy="146304"/>
          </a:xfrm>
          <a:prstGeom prst="ellipse">
            <a:avLst/>
          </a:prstGeom>
          <a:solidFill>
            <a:srgbClr val="C9A227"/>
          </a:solidFill>
          <a:ln/>
        </p:spPr>
        <p:txBody>
          <a:bodyPr/>
          <a:lstStyle/>
          <a:p>
            <a:endParaRPr lang="de-DE"/>
          </a:p>
        </p:txBody>
      </p:sp>
      <p:sp>
        <p:nvSpPr>
          <p:cNvPr id="10" name="Text 8"/>
          <p:cNvSpPr txBox="1"/>
          <p:nvPr/>
        </p:nvSpPr>
        <p:spPr>
          <a:xfrm>
            <a:off x="6848856" y="2167128"/>
            <a:ext cx="44805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Keine doppelten Nachrichten</a:t>
            </a:r>
            <a:endParaRPr lang="en-US" sz="1600" dirty="0"/>
          </a:p>
        </p:txBody>
      </p:sp>
      <p:sp>
        <p:nvSpPr>
          <p:cNvPr id="11" name="Text 9"/>
          <p:cNvSpPr txBox="1"/>
          <p:nvPr/>
        </p:nvSpPr>
        <p:spPr>
          <a:xfrm>
            <a:off x="6848856" y="2587752"/>
            <a:ext cx="4480560" cy="640080"/>
          </a:xfrm>
          <a:prstGeom prst="rect">
            <a:avLst/>
          </a:prstGeom>
          <a:noFill/>
          <a:ln/>
        </p:spPr>
        <p:txBody>
          <a:bodyPr wrap="square" lIns="0" tIns="0" rIns="0" bIns="0" rtlCol="0" anchor="ctr"/>
          <a:lstStyle/>
          <a:p>
            <a:pPr marL="0" indent="0" algn="l">
              <a:lnSpc>
                <a:spcPct val="105000"/>
              </a:lnSpc>
              <a:buNone/>
            </a:pPr>
            <a:r>
              <a:rPr lang="en-US" sz="1250" dirty="0">
                <a:solidFill>
                  <a:srgbClr val="EBDDE3"/>
                </a:solidFill>
                <a:latin typeface="Calibri" pitchFamily="34" charset="0"/>
                <a:ea typeface="Calibri" pitchFamily="34" charset="-122"/>
                <a:cs typeface="Calibri" pitchFamily="34" charset="-120"/>
              </a:rPr>
              <a:t>Auch bei parallelen Läufen darf eine Erinnerung nur einmal rausgehen.</a:t>
            </a:r>
            <a:endParaRPr lang="en-US" sz="1250" dirty="0"/>
          </a:p>
        </p:txBody>
      </p:sp>
      <p:sp>
        <p:nvSpPr>
          <p:cNvPr id="12" name="Shape 10"/>
          <p:cNvSpPr/>
          <p:nvPr/>
        </p:nvSpPr>
        <p:spPr>
          <a:xfrm>
            <a:off x="658368" y="3657600"/>
            <a:ext cx="5303520" cy="1371600"/>
          </a:xfrm>
          <a:prstGeom prst="roundRect">
            <a:avLst>
              <a:gd name="adj" fmla="val 6667"/>
            </a:avLst>
          </a:prstGeom>
          <a:solidFill>
            <a:srgbClr val="6D2E46"/>
          </a:solidFill>
          <a:ln/>
        </p:spPr>
        <p:txBody>
          <a:bodyPr/>
          <a:lstStyle/>
          <a:p>
            <a:endParaRPr lang="de-DE"/>
          </a:p>
        </p:txBody>
      </p:sp>
      <p:sp>
        <p:nvSpPr>
          <p:cNvPr id="13" name="Shape 11"/>
          <p:cNvSpPr/>
          <p:nvPr/>
        </p:nvSpPr>
        <p:spPr>
          <a:xfrm>
            <a:off x="950976" y="4041648"/>
            <a:ext cx="146304" cy="146304"/>
          </a:xfrm>
          <a:prstGeom prst="ellipse">
            <a:avLst/>
          </a:prstGeom>
          <a:solidFill>
            <a:srgbClr val="C9A227"/>
          </a:solidFill>
          <a:ln/>
        </p:spPr>
        <p:txBody>
          <a:bodyPr/>
          <a:lstStyle/>
          <a:p>
            <a:endParaRPr lang="de-DE"/>
          </a:p>
        </p:txBody>
      </p:sp>
      <p:sp>
        <p:nvSpPr>
          <p:cNvPr id="14" name="Text 12"/>
          <p:cNvSpPr txBox="1"/>
          <p:nvPr/>
        </p:nvSpPr>
        <p:spPr>
          <a:xfrm>
            <a:off x="1225296" y="3858768"/>
            <a:ext cx="44805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Sicher teilen</a:t>
            </a:r>
            <a:endParaRPr lang="en-US" sz="1600" dirty="0"/>
          </a:p>
        </p:txBody>
      </p:sp>
      <p:sp>
        <p:nvSpPr>
          <p:cNvPr id="15" name="Text 13"/>
          <p:cNvSpPr txBox="1"/>
          <p:nvPr/>
        </p:nvSpPr>
        <p:spPr>
          <a:xfrm>
            <a:off x="1225296" y="4279392"/>
            <a:ext cx="4480560" cy="640080"/>
          </a:xfrm>
          <a:prstGeom prst="rect">
            <a:avLst/>
          </a:prstGeom>
          <a:noFill/>
          <a:ln/>
        </p:spPr>
        <p:txBody>
          <a:bodyPr wrap="square" lIns="0" tIns="0" rIns="0" bIns="0" rtlCol="0" anchor="ctr"/>
          <a:lstStyle/>
          <a:p>
            <a:pPr marL="0" indent="0" algn="l">
              <a:lnSpc>
                <a:spcPct val="105000"/>
              </a:lnSpc>
              <a:buNone/>
            </a:pPr>
            <a:r>
              <a:rPr lang="en-US" sz="1250" dirty="0">
                <a:solidFill>
                  <a:srgbClr val="EBDDE3"/>
                </a:solidFill>
                <a:latin typeface="Calibri" pitchFamily="34" charset="0"/>
                <a:ea typeface="Calibri" pitchFamily="34" charset="-122"/>
                <a:cs typeface="Calibri" pitchFamily="34" charset="-120"/>
              </a:rPr>
              <a:t>Geteilte Listen ohne Login, aber mit nicht erratbaren Zugriffslinks.</a:t>
            </a:r>
            <a:endParaRPr lang="en-US" sz="1250" dirty="0"/>
          </a:p>
        </p:txBody>
      </p:sp>
      <p:sp>
        <p:nvSpPr>
          <p:cNvPr id="16" name="Shape 14"/>
          <p:cNvSpPr/>
          <p:nvPr/>
        </p:nvSpPr>
        <p:spPr>
          <a:xfrm>
            <a:off x="6281928" y="3657600"/>
            <a:ext cx="5303520" cy="1371600"/>
          </a:xfrm>
          <a:prstGeom prst="roundRect">
            <a:avLst>
              <a:gd name="adj" fmla="val 6667"/>
            </a:avLst>
          </a:prstGeom>
          <a:solidFill>
            <a:srgbClr val="6D2E46"/>
          </a:solidFill>
          <a:ln/>
        </p:spPr>
        <p:txBody>
          <a:bodyPr/>
          <a:lstStyle/>
          <a:p>
            <a:endParaRPr lang="de-DE"/>
          </a:p>
        </p:txBody>
      </p:sp>
      <p:sp>
        <p:nvSpPr>
          <p:cNvPr id="17" name="Shape 15"/>
          <p:cNvSpPr/>
          <p:nvPr/>
        </p:nvSpPr>
        <p:spPr>
          <a:xfrm>
            <a:off x="6574536" y="4041648"/>
            <a:ext cx="146304" cy="146304"/>
          </a:xfrm>
          <a:prstGeom prst="ellipse">
            <a:avLst/>
          </a:prstGeom>
          <a:solidFill>
            <a:srgbClr val="C9A227"/>
          </a:solidFill>
          <a:ln/>
        </p:spPr>
        <p:txBody>
          <a:bodyPr/>
          <a:lstStyle/>
          <a:p>
            <a:endParaRPr lang="de-DE"/>
          </a:p>
        </p:txBody>
      </p:sp>
      <p:sp>
        <p:nvSpPr>
          <p:cNvPr id="18" name="Text 16"/>
          <p:cNvSpPr txBox="1"/>
          <p:nvPr/>
        </p:nvSpPr>
        <p:spPr>
          <a:xfrm>
            <a:off x="6848856" y="3858768"/>
            <a:ext cx="44805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Vorschläge ohne Datenleck</a:t>
            </a:r>
            <a:endParaRPr lang="en-US" sz="1600" dirty="0"/>
          </a:p>
        </p:txBody>
      </p:sp>
      <p:sp>
        <p:nvSpPr>
          <p:cNvPr id="19" name="Text 17"/>
          <p:cNvSpPr txBox="1"/>
          <p:nvPr/>
        </p:nvSpPr>
        <p:spPr>
          <a:xfrm>
            <a:off x="6848856" y="4279392"/>
            <a:ext cx="4480560" cy="640080"/>
          </a:xfrm>
          <a:prstGeom prst="rect">
            <a:avLst/>
          </a:prstGeom>
          <a:noFill/>
          <a:ln/>
        </p:spPr>
        <p:txBody>
          <a:bodyPr wrap="square" lIns="0" tIns="0" rIns="0" bIns="0" rtlCol="0" anchor="ctr"/>
          <a:lstStyle/>
          <a:p>
            <a:pPr marL="0" indent="0" algn="l">
              <a:lnSpc>
                <a:spcPct val="105000"/>
              </a:lnSpc>
              <a:buNone/>
            </a:pPr>
            <a:r>
              <a:rPr lang="en-US" sz="1250" dirty="0">
                <a:solidFill>
                  <a:srgbClr val="EBDDE3"/>
                </a:solidFill>
                <a:latin typeface="Calibri" pitchFamily="34" charset="0"/>
                <a:ea typeface="Calibri" pitchFamily="34" charset="-122"/>
                <a:cs typeface="Calibri" pitchFamily="34" charset="-120"/>
              </a:rPr>
              <a:t>Empfehlungen nur aus anonymisierten Merkmalen, nie aus fremden Details.</a:t>
            </a:r>
            <a:endParaRPr lang="en-US" sz="1250" dirty="0"/>
          </a:p>
        </p:txBody>
      </p:sp>
      <p:sp>
        <p:nvSpPr>
          <p:cNvPr id="20" name="Text 18"/>
          <p:cNvSpPr txBox="1"/>
          <p:nvPr/>
        </p:nvSpPr>
        <p:spPr>
          <a:xfrm>
            <a:off x="658368" y="5897880"/>
            <a:ext cx="10881360" cy="548640"/>
          </a:xfrm>
          <a:prstGeom prst="rect">
            <a:avLst/>
          </a:prstGeom>
          <a:noFill/>
          <a:ln/>
        </p:spPr>
        <p:txBody>
          <a:bodyPr wrap="square" lIns="0" tIns="0" rIns="0" bIns="0" rtlCol="0" anchor="ctr"/>
          <a:lstStyle/>
          <a:p>
            <a:pPr marL="0" indent="0" algn="ctr">
              <a:buNone/>
            </a:pPr>
            <a:r>
              <a:rPr lang="en-US" sz="2000" b="1" i="1" dirty="0">
                <a:solidFill>
                  <a:srgbClr val="C9A227"/>
                </a:solidFill>
                <a:latin typeface="Cambria" pitchFamily="34" charset="0"/>
                <a:ea typeface="Cambria" pitchFamily="34" charset="-122"/>
                <a:cs typeface="Cambria" pitchFamily="34" charset="-120"/>
              </a:rPr>
              <a:t>Wie wir das lösen? Lasst euch überraschen.</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marL="0" indent="0" algn="l">
              <a:buNone/>
            </a:pPr>
            <a:r>
              <a:rPr lang="en-US" sz="1200" b="1" kern="0" spc="300" dirty="0">
                <a:solidFill>
                  <a:srgbClr val="C9A227"/>
                </a:solidFill>
                <a:latin typeface="Calibri" pitchFamily="34" charset="0"/>
                <a:ea typeface="Calibri" pitchFamily="34" charset="-122"/>
                <a:cs typeface="Calibri" pitchFamily="34" charset="-120"/>
              </a:rPr>
              <a:t>WAS EUCH ERWARTET</a:t>
            </a:r>
            <a:endParaRPr lang="en-US" sz="1200" dirty="0"/>
          </a:p>
        </p:txBody>
      </p:sp>
      <p:sp>
        <p:nvSpPr>
          <p:cNvPr id="3" name="Text 1"/>
          <p:cNvSpPr txBox="1"/>
          <p:nvPr/>
        </p:nvSpPr>
        <p:spPr>
          <a:xfrm>
            <a:off x="640080" y="822960"/>
            <a:ext cx="10972800" cy="868680"/>
          </a:xfrm>
          <a:prstGeom prst="rect">
            <a:avLst/>
          </a:prstGeom>
          <a:noFill/>
          <a:ln/>
        </p:spPr>
        <p:txBody>
          <a:bodyPr wrap="square" lIns="0" tIns="0" rIns="0" bIns="0" rtlCol="0" anchor="ctr"/>
          <a:lstStyle/>
          <a:p>
            <a:pPr marL="0" indent="0" algn="l">
              <a:buNone/>
            </a:pPr>
            <a:r>
              <a:rPr lang="en-US" sz="3400" b="1" dirty="0">
                <a:solidFill>
                  <a:srgbClr val="6D2E46"/>
                </a:solidFill>
                <a:latin typeface="Cambria" pitchFamily="34" charset="0"/>
                <a:ea typeface="Cambria" pitchFamily="34" charset="-122"/>
                <a:cs typeface="Cambria" pitchFamily="34" charset="-120"/>
              </a:rPr>
              <a:t>Der Weg zum Ergebnis</a:t>
            </a:r>
            <a:endParaRPr lang="en-US" sz="3400" dirty="0"/>
          </a:p>
        </p:txBody>
      </p:sp>
      <p:sp>
        <p:nvSpPr>
          <p:cNvPr id="4" name="Shape 2"/>
          <p:cNvSpPr/>
          <p:nvPr/>
        </p:nvSpPr>
        <p:spPr>
          <a:xfrm>
            <a:off x="640080" y="2011680"/>
            <a:ext cx="3520440" cy="2743200"/>
          </a:xfrm>
          <a:prstGeom prst="roundRect">
            <a:avLst>
              <a:gd name="adj" fmla="val 3333"/>
            </a:avLst>
          </a:prstGeom>
          <a:solidFill>
            <a:srgbClr val="F7F1F3"/>
          </a:solidFill>
          <a:ln/>
        </p:spPr>
        <p:txBody>
          <a:bodyPr/>
          <a:lstStyle/>
          <a:p>
            <a:endParaRPr lang="de-DE"/>
          </a:p>
        </p:txBody>
      </p:sp>
      <p:sp>
        <p:nvSpPr>
          <p:cNvPr id="5" name="Text 3"/>
          <p:cNvSpPr txBox="1"/>
          <p:nvPr/>
        </p:nvSpPr>
        <p:spPr>
          <a:xfrm>
            <a:off x="960120" y="2331720"/>
            <a:ext cx="2880360" cy="365760"/>
          </a:xfrm>
          <a:prstGeom prst="rect">
            <a:avLst/>
          </a:prstGeom>
          <a:noFill/>
          <a:ln/>
        </p:spPr>
        <p:txBody>
          <a:bodyPr wrap="square" lIns="0" tIns="0" rIns="0" bIns="0" rtlCol="0" anchor="ctr"/>
          <a:lstStyle/>
          <a:p>
            <a:pPr marL="0" indent="0" algn="l">
              <a:buNone/>
            </a:pPr>
            <a:r>
              <a:rPr lang="en-US" sz="1200" b="1" kern="0" spc="200" dirty="0">
                <a:solidFill>
                  <a:srgbClr val="C9A227"/>
                </a:solidFill>
                <a:latin typeface="Calibri" pitchFamily="34" charset="0"/>
                <a:ea typeface="Calibri" pitchFamily="34" charset="-122"/>
                <a:cs typeface="Calibri" pitchFamily="34" charset="-120"/>
              </a:rPr>
              <a:t>JETZT</a:t>
            </a:r>
            <a:endParaRPr lang="en-US" sz="1200" dirty="0"/>
          </a:p>
        </p:txBody>
      </p:sp>
      <p:sp>
        <p:nvSpPr>
          <p:cNvPr id="6" name="Text 4"/>
          <p:cNvSpPr txBox="1"/>
          <p:nvPr/>
        </p:nvSpPr>
        <p:spPr>
          <a:xfrm>
            <a:off x="960120" y="2834640"/>
            <a:ext cx="2880360" cy="548640"/>
          </a:xfrm>
          <a:prstGeom prst="rect">
            <a:avLst/>
          </a:prstGeom>
          <a:noFill/>
          <a:ln/>
        </p:spPr>
        <p:txBody>
          <a:bodyPr wrap="square" lIns="0" tIns="0" rIns="0" bIns="0" rtlCol="0" anchor="ctr"/>
          <a:lstStyle/>
          <a:p>
            <a:pPr marL="0" indent="0" algn="l">
              <a:buNone/>
            </a:pPr>
            <a:r>
              <a:rPr lang="en-US" sz="2200" b="1" dirty="0">
                <a:solidFill>
                  <a:srgbClr val="6D2E46"/>
                </a:solidFill>
                <a:latin typeface="Cambria" pitchFamily="34" charset="0"/>
                <a:ea typeface="Cambria" pitchFamily="34" charset="-122"/>
                <a:cs typeface="Cambria" pitchFamily="34" charset="-120"/>
              </a:rPr>
              <a:t>Konzept steht</a:t>
            </a:r>
            <a:endParaRPr lang="en-US" sz="2200" dirty="0"/>
          </a:p>
        </p:txBody>
      </p:sp>
      <p:sp>
        <p:nvSpPr>
          <p:cNvPr id="7" name="Text 5"/>
          <p:cNvSpPr txBox="1"/>
          <p:nvPr/>
        </p:nvSpPr>
        <p:spPr>
          <a:xfrm>
            <a:off x="960120" y="3474720"/>
            <a:ext cx="2880360" cy="1097280"/>
          </a:xfrm>
          <a:prstGeom prst="rect">
            <a:avLst/>
          </a:prstGeom>
          <a:noFill/>
          <a:ln/>
        </p:spPr>
        <p:txBody>
          <a:bodyPr wrap="square" lIns="0" tIns="0" rIns="0" bIns="0" rtlCol="0" anchor="ctr"/>
          <a:lstStyle/>
          <a:p>
            <a:pPr marL="0" indent="0" algn="l">
              <a:lnSpc>
                <a:spcPct val="110000"/>
              </a:lnSpc>
              <a:buNone/>
            </a:pPr>
            <a:r>
              <a:rPr lang="en-US" sz="1350" dirty="0">
                <a:solidFill>
                  <a:srgbClr val="7A6E74"/>
                </a:solidFill>
                <a:latin typeface="Calibri" pitchFamily="34" charset="0"/>
                <a:ea typeface="Calibri" pitchFamily="34" charset="-122"/>
                <a:cs typeface="Calibri" pitchFamily="34" charset="-120"/>
              </a:rPr>
              <a:t>Anforderungen, Datenmodell und Architektur sind ausgearbeitet.</a:t>
            </a:r>
            <a:endParaRPr lang="en-US" sz="1350" dirty="0"/>
          </a:p>
        </p:txBody>
      </p:sp>
      <p:sp>
        <p:nvSpPr>
          <p:cNvPr id="8" name="Shape 6"/>
          <p:cNvSpPr/>
          <p:nvPr/>
        </p:nvSpPr>
        <p:spPr>
          <a:xfrm>
            <a:off x="4480560" y="2011680"/>
            <a:ext cx="3520440" cy="2743200"/>
          </a:xfrm>
          <a:prstGeom prst="roundRect">
            <a:avLst>
              <a:gd name="adj" fmla="val 3333"/>
            </a:avLst>
          </a:prstGeom>
          <a:solidFill>
            <a:srgbClr val="F7F1F3"/>
          </a:solidFill>
          <a:ln/>
        </p:spPr>
        <p:txBody>
          <a:bodyPr/>
          <a:lstStyle/>
          <a:p>
            <a:endParaRPr lang="de-DE"/>
          </a:p>
        </p:txBody>
      </p:sp>
      <p:sp>
        <p:nvSpPr>
          <p:cNvPr id="9" name="Text 7"/>
          <p:cNvSpPr txBox="1"/>
          <p:nvPr/>
        </p:nvSpPr>
        <p:spPr>
          <a:xfrm>
            <a:off x="4800600" y="2331720"/>
            <a:ext cx="2880360" cy="365760"/>
          </a:xfrm>
          <a:prstGeom prst="rect">
            <a:avLst/>
          </a:prstGeom>
          <a:noFill/>
          <a:ln/>
        </p:spPr>
        <p:txBody>
          <a:bodyPr wrap="square" lIns="0" tIns="0" rIns="0" bIns="0" rtlCol="0" anchor="ctr"/>
          <a:lstStyle/>
          <a:p>
            <a:pPr marL="0" indent="0" algn="l">
              <a:buNone/>
            </a:pPr>
            <a:r>
              <a:rPr lang="en-US" sz="1200" b="1" kern="0" spc="200" dirty="0">
                <a:solidFill>
                  <a:srgbClr val="C9A227"/>
                </a:solidFill>
                <a:latin typeface="Calibri" pitchFamily="34" charset="0"/>
                <a:ea typeface="Calibri" pitchFamily="34" charset="-122"/>
                <a:cs typeface="Calibri" pitchFamily="34" charset="-120"/>
              </a:rPr>
              <a:t>ALS NÄCHSTES</a:t>
            </a:r>
            <a:endParaRPr lang="en-US" sz="1200" dirty="0"/>
          </a:p>
        </p:txBody>
      </p:sp>
      <p:sp>
        <p:nvSpPr>
          <p:cNvPr id="10" name="Text 8"/>
          <p:cNvSpPr txBox="1"/>
          <p:nvPr/>
        </p:nvSpPr>
        <p:spPr>
          <a:xfrm>
            <a:off x="4800600" y="2834640"/>
            <a:ext cx="2880360" cy="548640"/>
          </a:xfrm>
          <a:prstGeom prst="rect">
            <a:avLst/>
          </a:prstGeom>
          <a:noFill/>
          <a:ln/>
        </p:spPr>
        <p:txBody>
          <a:bodyPr wrap="square" lIns="0" tIns="0" rIns="0" bIns="0" rtlCol="0" anchor="ctr"/>
          <a:lstStyle/>
          <a:p>
            <a:pPr marL="0" indent="0" algn="l">
              <a:buNone/>
            </a:pPr>
            <a:r>
              <a:rPr lang="en-US" sz="2200" b="1" dirty="0">
                <a:solidFill>
                  <a:srgbClr val="6D2E46"/>
                </a:solidFill>
                <a:latin typeface="Cambria" pitchFamily="34" charset="0"/>
                <a:ea typeface="Cambria" pitchFamily="34" charset="-122"/>
                <a:cs typeface="Cambria" pitchFamily="34" charset="-120"/>
              </a:rPr>
              <a:t>Prototyp</a:t>
            </a:r>
            <a:endParaRPr lang="en-US" sz="2200" dirty="0"/>
          </a:p>
        </p:txBody>
      </p:sp>
      <p:sp>
        <p:nvSpPr>
          <p:cNvPr id="11" name="Text 9"/>
          <p:cNvSpPr txBox="1"/>
          <p:nvPr/>
        </p:nvSpPr>
        <p:spPr>
          <a:xfrm>
            <a:off x="4800600" y="3474720"/>
            <a:ext cx="2880360" cy="1097280"/>
          </a:xfrm>
          <a:prstGeom prst="rect">
            <a:avLst/>
          </a:prstGeom>
          <a:noFill/>
          <a:ln/>
        </p:spPr>
        <p:txBody>
          <a:bodyPr wrap="square" lIns="0" tIns="0" rIns="0" bIns="0" rtlCol="0" anchor="ctr"/>
          <a:lstStyle/>
          <a:p>
            <a:pPr marL="0" indent="0" algn="l">
              <a:lnSpc>
                <a:spcPct val="110000"/>
              </a:lnSpc>
              <a:buNone/>
            </a:pPr>
            <a:r>
              <a:rPr lang="en-US" sz="1350" dirty="0">
                <a:solidFill>
                  <a:srgbClr val="7A6E74"/>
                </a:solidFill>
                <a:latin typeface="Calibri" pitchFamily="34" charset="0"/>
                <a:ea typeface="Calibri" pitchFamily="34" charset="-122"/>
                <a:cs typeface="Calibri" pitchFamily="34" charset="-120"/>
              </a:rPr>
              <a:t>Wir bauen das lauffähige System, Schritt für Schritt.</a:t>
            </a:r>
            <a:endParaRPr lang="en-US" sz="1350" dirty="0"/>
          </a:p>
        </p:txBody>
      </p:sp>
      <p:sp>
        <p:nvSpPr>
          <p:cNvPr id="12" name="Shape 10"/>
          <p:cNvSpPr/>
          <p:nvPr/>
        </p:nvSpPr>
        <p:spPr>
          <a:xfrm>
            <a:off x="8321040" y="2011680"/>
            <a:ext cx="3520440" cy="2743200"/>
          </a:xfrm>
          <a:prstGeom prst="roundRect">
            <a:avLst>
              <a:gd name="adj" fmla="val 3333"/>
            </a:avLst>
          </a:prstGeom>
          <a:solidFill>
            <a:srgbClr val="3E1B2C"/>
          </a:solidFill>
          <a:ln/>
        </p:spPr>
        <p:txBody>
          <a:bodyPr/>
          <a:lstStyle/>
          <a:p>
            <a:endParaRPr lang="de-DE"/>
          </a:p>
        </p:txBody>
      </p:sp>
      <p:sp>
        <p:nvSpPr>
          <p:cNvPr id="13" name="Text 11"/>
          <p:cNvSpPr txBox="1"/>
          <p:nvPr/>
        </p:nvSpPr>
        <p:spPr>
          <a:xfrm>
            <a:off x="8641080" y="2331720"/>
            <a:ext cx="2880360" cy="365760"/>
          </a:xfrm>
          <a:prstGeom prst="rect">
            <a:avLst/>
          </a:prstGeom>
          <a:noFill/>
          <a:ln/>
        </p:spPr>
        <p:txBody>
          <a:bodyPr wrap="square" lIns="0" tIns="0" rIns="0" bIns="0" rtlCol="0" anchor="ctr"/>
          <a:lstStyle/>
          <a:p>
            <a:pPr marL="0" indent="0" algn="l">
              <a:buNone/>
            </a:pPr>
            <a:r>
              <a:rPr lang="en-US" sz="1200" b="1" kern="0" spc="200" dirty="0">
                <a:solidFill>
                  <a:srgbClr val="C9A227"/>
                </a:solidFill>
                <a:latin typeface="Calibri" pitchFamily="34" charset="0"/>
                <a:ea typeface="Calibri" pitchFamily="34" charset="-122"/>
                <a:cs typeface="Calibri" pitchFamily="34" charset="-120"/>
              </a:rPr>
              <a:t>ZUM SCHLUSS</a:t>
            </a:r>
            <a:endParaRPr lang="en-US" sz="1200" dirty="0"/>
          </a:p>
        </p:txBody>
      </p:sp>
      <p:sp>
        <p:nvSpPr>
          <p:cNvPr id="14" name="Text 12"/>
          <p:cNvSpPr txBox="1"/>
          <p:nvPr/>
        </p:nvSpPr>
        <p:spPr>
          <a:xfrm>
            <a:off x="8641080" y="2834640"/>
            <a:ext cx="2880360" cy="54864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Live-Demo</a:t>
            </a:r>
            <a:endParaRPr lang="en-US" sz="2200" dirty="0"/>
          </a:p>
        </p:txBody>
      </p:sp>
      <p:sp>
        <p:nvSpPr>
          <p:cNvPr id="15" name="Text 13"/>
          <p:cNvSpPr txBox="1"/>
          <p:nvPr/>
        </p:nvSpPr>
        <p:spPr>
          <a:xfrm>
            <a:off x="8641080" y="3474720"/>
            <a:ext cx="2880360" cy="1097280"/>
          </a:xfrm>
          <a:prstGeom prst="rect">
            <a:avLst/>
          </a:prstGeom>
          <a:noFill/>
          <a:ln/>
        </p:spPr>
        <p:txBody>
          <a:bodyPr wrap="square" lIns="0" tIns="0" rIns="0" bIns="0" rtlCol="0" anchor="ctr"/>
          <a:lstStyle/>
          <a:p>
            <a:pPr marL="0" indent="0" algn="l">
              <a:lnSpc>
                <a:spcPct val="110000"/>
              </a:lnSpc>
              <a:buNone/>
            </a:pPr>
            <a:r>
              <a:rPr lang="en-US" sz="1350" dirty="0">
                <a:solidFill>
                  <a:srgbClr val="EBDDE3"/>
                </a:solidFill>
                <a:latin typeface="Calibri" pitchFamily="34" charset="0"/>
                <a:ea typeface="Calibri" pitchFamily="34" charset="-122"/>
                <a:cs typeface="Calibri" pitchFamily="34" charset="-120"/>
              </a:rPr>
              <a:t>Ein funktionierender Prototyp, im Browser, ganz ohne Installation.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E1B2C"/>
        </a:solidFill>
        <a:effectLst/>
      </p:bgPr>
    </p:bg>
    <p:spTree>
      <p:nvGrpSpPr>
        <p:cNvPr id="1" name=""/>
        <p:cNvGrpSpPr/>
        <p:nvPr/>
      </p:nvGrpSpPr>
      <p:grpSpPr>
        <a:xfrm>
          <a:off x="0" y="0"/>
          <a:ext cx="0" cy="0"/>
          <a:chOff x="0" y="0"/>
          <a:chExt cx="0" cy="0"/>
        </a:xfrm>
      </p:grpSpPr>
      <p:sp>
        <p:nvSpPr>
          <p:cNvPr id="2" name="Shape 0"/>
          <p:cNvSpPr/>
          <p:nvPr/>
        </p:nvSpPr>
        <p:spPr>
          <a:xfrm>
            <a:off x="-2011680" y="3474720"/>
            <a:ext cx="5943600" cy="5943600"/>
          </a:xfrm>
          <a:prstGeom prst="ellipse">
            <a:avLst/>
          </a:prstGeom>
          <a:solidFill>
            <a:srgbClr val="6D2E46">
              <a:alpha val="55000"/>
            </a:srgbClr>
          </a:solidFill>
          <a:ln/>
        </p:spPr>
        <p:txBody>
          <a:bodyPr/>
          <a:lstStyle/>
          <a:p>
            <a:endParaRPr lang="de-DE"/>
          </a:p>
        </p:txBody>
      </p:sp>
      <p:sp>
        <p:nvSpPr>
          <p:cNvPr id="3" name="Shape 1"/>
          <p:cNvSpPr/>
          <p:nvPr/>
        </p:nvSpPr>
        <p:spPr>
          <a:xfrm>
            <a:off x="10332720" y="-1920240"/>
            <a:ext cx="4114800" cy="4114800"/>
          </a:xfrm>
          <a:prstGeom prst="ellipse">
            <a:avLst/>
          </a:prstGeom>
          <a:solidFill>
            <a:srgbClr val="C9A227">
              <a:alpha val="18000"/>
            </a:srgbClr>
          </a:solidFill>
          <a:ln/>
        </p:spPr>
        <p:txBody>
          <a:bodyPr/>
          <a:lstStyle/>
          <a:p>
            <a:endParaRPr lang="de-DE"/>
          </a:p>
        </p:txBody>
      </p:sp>
      <p:sp>
        <p:nvSpPr>
          <p:cNvPr id="4" name="Text 2"/>
          <p:cNvSpPr txBox="1"/>
          <p:nvPr/>
        </p:nvSpPr>
        <p:spPr>
          <a:xfrm>
            <a:off x="777240" y="2468880"/>
            <a:ext cx="10515600" cy="1097280"/>
          </a:xfrm>
          <a:prstGeom prst="rect">
            <a:avLst/>
          </a:prstGeom>
          <a:noFill/>
          <a:ln/>
        </p:spPr>
        <p:txBody>
          <a:bodyPr wrap="square" lIns="0" tIns="0" rIns="0" bIns="0" rtlCol="0" anchor="ctr"/>
          <a:lstStyle/>
          <a:p>
            <a:pPr marL="0" indent="0" algn="l">
              <a:buNone/>
            </a:pPr>
            <a:r>
              <a:rPr lang="en-US" sz="5200" b="1" dirty="0">
                <a:solidFill>
                  <a:srgbClr val="FFFFFF"/>
                </a:solidFill>
                <a:latin typeface="Cambria" pitchFamily="34" charset="0"/>
                <a:ea typeface="Cambria" pitchFamily="34" charset="-122"/>
                <a:cs typeface="Cambria" pitchFamily="34" charset="-120"/>
              </a:rPr>
              <a:t>Bleibt neugierig.</a:t>
            </a:r>
            <a:endParaRPr lang="en-US" sz="5200" dirty="0"/>
          </a:p>
        </p:txBody>
      </p:sp>
      <p:sp>
        <p:nvSpPr>
          <p:cNvPr id="5" name="Text 3"/>
          <p:cNvSpPr txBox="1"/>
          <p:nvPr/>
        </p:nvSpPr>
        <p:spPr>
          <a:xfrm>
            <a:off x="822960" y="3611880"/>
            <a:ext cx="10058400" cy="548640"/>
          </a:xfrm>
          <a:prstGeom prst="rect">
            <a:avLst/>
          </a:prstGeom>
          <a:noFill/>
          <a:ln/>
        </p:spPr>
        <p:txBody>
          <a:bodyPr wrap="square" lIns="0" tIns="0" rIns="0" bIns="0" rtlCol="0" anchor="ctr"/>
          <a:lstStyle/>
          <a:p>
            <a:pPr marL="0" indent="0" algn="l">
              <a:buNone/>
            </a:pPr>
            <a:r>
              <a:rPr lang="en-US" sz="2000" i="1" dirty="0">
                <a:solidFill>
                  <a:srgbClr val="C9A227"/>
                </a:solidFill>
                <a:latin typeface="Calibri" pitchFamily="34" charset="0"/>
                <a:ea typeface="Calibri" pitchFamily="34" charset="-122"/>
                <a:cs typeface="Calibri" pitchFamily="34" charset="-120"/>
              </a:rPr>
              <a:t>Das Ergebnis zeigen wir euch in der Ergebnispräsentation.</a:t>
            </a:r>
            <a:endParaRPr lang="en-US" sz="2000" dirty="0"/>
          </a:p>
        </p:txBody>
      </p:sp>
      <p:sp>
        <p:nvSpPr>
          <p:cNvPr id="6" name="Text 4"/>
          <p:cNvSpPr txBox="1"/>
          <p:nvPr/>
        </p:nvSpPr>
        <p:spPr>
          <a:xfrm>
            <a:off x="822960" y="6126480"/>
            <a:ext cx="10515600" cy="365760"/>
          </a:xfrm>
          <a:prstGeom prst="rect">
            <a:avLst/>
          </a:prstGeom>
          <a:noFill/>
          <a:ln/>
        </p:spPr>
        <p:txBody>
          <a:bodyPr wrap="square" lIns="0" tIns="0" rIns="0" bIns="0" rtlCol="0" anchor="ctr"/>
          <a:lstStyle/>
          <a:p>
            <a:pPr marL="0" indent="0" algn="l">
              <a:buNone/>
            </a:pPr>
            <a:r>
              <a:rPr lang="en-US" sz="1300" dirty="0" err="1">
                <a:solidFill>
                  <a:srgbClr val="A26769"/>
                </a:solidFill>
                <a:latin typeface="Calibri" pitchFamily="34" charset="0"/>
                <a:ea typeface="Calibri" pitchFamily="34" charset="-122"/>
                <a:cs typeface="Calibri" pitchFamily="34" charset="-120"/>
              </a:rPr>
              <a:t>Vielen</a:t>
            </a:r>
            <a:r>
              <a:rPr lang="en-US" sz="1300" dirty="0">
                <a:solidFill>
                  <a:srgbClr val="A26769"/>
                </a:solidFill>
                <a:latin typeface="Calibri" pitchFamily="34" charset="0"/>
                <a:ea typeface="Calibri" pitchFamily="34" charset="-122"/>
                <a:cs typeface="Calibri" pitchFamily="34" charset="-120"/>
              </a:rPr>
              <a:t> Dank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1097</Words>
  <Application>Microsoft Office PowerPoint</Application>
  <PresentationFormat>Widescreen</PresentationFormat>
  <Paragraphs>105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Geschenke-Manager – Projektvorstellung MS2</dc:title>
  <dc:subject>PptxGenJS Presentation</dc:subject>
  <dc:creator>Team ISEF01</dc:creator>
  <cp:lastModifiedBy>IRNTAG TenSurf2</cp:lastModifiedBy>
  <cp:revision>2</cp:revision>
  <dcterms:created xsi:type="dcterms:W3CDTF">2026-09-11T09:58:02Z</dcterms:created>
  <dcterms:modified xsi:type="dcterms:W3CDTF">2026-09-11T10:12:40Z</dcterms:modified>
</cp:coreProperties>
</file>